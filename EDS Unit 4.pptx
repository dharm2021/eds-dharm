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72"/>
  </p:notesMasterIdLst>
  <p:sldIdLst>
    <p:sldId id="257" r:id="rId2"/>
    <p:sldId id="444" r:id="rId3"/>
    <p:sldId id="445" r:id="rId4"/>
    <p:sldId id="446" r:id="rId5"/>
    <p:sldId id="447" r:id="rId6"/>
    <p:sldId id="473" r:id="rId7"/>
    <p:sldId id="448" r:id="rId8"/>
    <p:sldId id="449" r:id="rId9"/>
    <p:sldId id="450" r:id="rId10"/>
    <p:sldId id="468" r:id="rId11"/>
    <p:sldId id="469" r:id="rId12"/>
    <p:sldId id="451" r:id="rId13"/>
    <p:sldId id="474" r:id="rId14"/>
    <p:sldId id="452" r:id="rId15"/>
    <p:sldId id="453" r:id="rId16"/>
    <p:sldId id="470" r:id="rId17"/>
    <p:sldId id="471" r:id="rId18"/>
    <p:sldId id="472" r:id="rId19"/>
    <p:sldId id="454" r:id="rId20"/>
    <p:sldId id="475" r:id="rId21"/>
    <p:sldId id="455" r:id="rId22"/>
    <p:sldId id="456" r:id="rId23"/>
    <p:sldId id="457" r:id="rId24"/>
    <p:sldId id="459" r:id="rId25"/>
    <p:sldId id="460" r:id="rId26"/>
    <p:sldId id="461" r:id="rId27"/>
    <p:sldId id="462" r:id="rId28"/>
    <p:sldId id="463" r:id="rId29"/>
    <p:sldId id="464" r:id="rId30"/>
    <p:sldId id="465" r:id="rId31"/>
    <p:sldId id="466" r:id="rId32"/>
    <p:sldId id="467" r:id="rId33"/>
    <p:sldId id="476" r:id="rId34"/>
    <p:sldId id="477" r:id="rId35"/>
    <p:sldId id="478" r:id="rId36"/>
    <p:sldId id="479" r:id="rId37"/>
    <p:sldId id="480" r:id="rId38"/>
    <p:sldId id="481" r:id="rId39"/>
    <p:sldId id="482" r:id="rId40"/>
    <p:sldId id="483" r:id="rId41"/>
    <p:sldId id="484" r:id="rId42"/>
    <p:sldId id="485" r:id="rId43"/>
    <p:sldId id="486" r:id="rId44"/>
    <p:sldId id="487" r:id="rId45"/>
    <p:sldId id="488" r:id="rId46"/>
    <p:sldId id="489" r:id="rId47"/>
    <p:sldId id="490" r:id="rId48"/>
    <p:sldId id="491" r:id="rId49"/>
    <p:sldId id="492" r:id="rId50"/>
    <p:sldId id="493" r:id="rId51"/>
    <p:sldId id="499" r:id="rId52"/>
    <p:sldId id="500" r:id="rId53"/>
    <p:sldId id="498" r:id="rId54"/>
    <p:sldId id="494" r:id="rId55"/>
    <p:sldId id="501" r:id="rId56"/>
    <p:sldId id="504" r:id="rId57"/>
    <p:sldId id="502" r:id="rId58"/>
    <p:sldId id="505" r:id="rId59"/>
    <p:sldId id="506" r:id="rId60"/>
    <p:sldId id="503" r:id="rId61"/>
    <p:sldId id="507" r:id="rId62"/>
    <p:sldId id="511" r:id="rId63"/>
    <p:sldId id="508" r:id="rId64"/>
    <p:sldId id="509" r:id="rId65"/>
    <p:sldId id="512" r:id="rId66"/>
    <p:sldId id="513" r:id="rId67"/>
    <p:sldId id="514" r:id="rId68"/>
    <p:sldId id="515" r:id="rId69"/>
    <p:sldId id="516" r:id="rId70"/>
    <p:sldId id="517" r:id="rId71"/>
  </p:sldIdLst>
  <p:sldSz cx="9144000" cy="5143500" type="screen16x9"/>
  <p:notesSz cx="6858000" cy="9144000"/>
  <p:embeddedFontLst>
    <p:embeddedFont>
      <p:font typeface="Economica" panose="020B0604020202020204" charset="0"/>
      <p:regular r:id="rId73"/>
      <p:bold r:id="rId74"/>
      <p:italic r:id="rId75"/>
      <p:boldItalic r:id="rId76"/>
    </p:embeddedFont>
    <p:embeddedFont>
      <p:font typeface="Consolas" panose="020B0609020204030204" pitchFamily="49" charset="0"/>
      <p:regular r:id="rId77"/>
      <p:bold r:id="rId78"/>
      <p:italic r:id="rId79"/>
      <p:boldItalic r:id="rId80"/>
    </p:embeddedFont>
    <p:embeddedFont>
      <p:font typeface="Open Sans" panose="020B0604020202020204" charset="0"/>
      <p:regular r:id="rId81"/>
      <p:bold r:id="rId82"/>
      <p:italic r:id="rId83"/>
      <p:boldItalic r:id="rId84"/>
    </p:embeddedFont>
    <p:embeddedFont>
      <p:font typeface="Calibri" panose="020F0502020204030204" pitchFamily="34" charset="0"/>
      <p:regular r:id="rId85"/>
      <p:bold r:id="rId86"/>
      <p:italic r:id="rId87"/>
      <p:boldItalic r:id="rId8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ECFF"/>
    <a:srgbClr val="66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2011395-BAA1-40A3-ABEA-0E591074688D}">
  <a:tblStyle styleId="{B2011395-BAA1-40A3-ABEA-0E591074688D}"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94660"/>
  </p:normalViewPr>
  <p:slideViewPr>
    <p:cSldViewPr snapToGrid="0">
      <p:cViewPr varScale="1">
        <p:scale>
          <a:sx n="115" d="100"/>
          <a:sy n="115" d="100"/>
        </p:scale>
        <p:origin x="702"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4.fntdata"/><Relationship Id="rId84" Type="http://schemas.openxmlformats.org/officeDocument/2006/relationships/font" Target="fonts/font12.fntdata"/><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2.fntdata"/><Relationship Id="rId79" Type="http://schemas.openxmlformats.org/officeDocument/2006/relationships/font" Target="fonts/font7.fntdata"/><Relationship Id="rId87"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10.fntdata"/><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80" Type="http://schemas.openxmlformats.org/officeDocument/2006/relationships/font" Target="fonts/font8.fntdata"/><Relationship Id="rId85"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3.fntdata"/><Relationship Id="rId83" Type="http://schemas.openxmlformats.org/officeDocument/2006/relationships/font" Target="fonts/font11.fntdata"/><Relationship Id="rId88" Type="http://schemas.openxmlformats.org/officeDocument/2006/relationships/font" Target="fonts/font16.fntdata"/><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font" Target="fonts/font1.fntdata"/><Relationship Id="rId78" Type="http://schemas.openxmlformats.org/officeDocument/2006/relationships/font" Target="fonts/font6.fntdata"/><Relationship Id="rId81" Type="http://schemas.openxmlformats.org/officeDocument/2006/relationships/font" Target="fonts/font9.fntdata"/><Relationship Id="rId86"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893209924"/>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dcf12051dc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dcf12051dc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5205728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4767263"/>
            <a:ext cx="2133600" cy="273844"/>
          </a:xfrm>
          <a:prstGeom prst="rect">
            <a:avLst/>
          </a:prstGeom>
        </p:spPr>
        <p:txBody>
          <a:bodyPr/>
          <a:lstStyle/>
          <a:p>
            <a:endParaRPr lang="en-US"/>
          </a:p>
        </p:txBody>
      </p:sp>
      <p:sp>
        <p:nvSpPr>
          <p:cNvPr id="5" name="Footer Placeholder 4"/>
          <p:cNvSpPr>
            <a:spLocks noGrp="1"/>
          </p:cNvSpPr>
          <p:nvPr>
            <p:ph type="ftr" sz="quarter" idx="11"/>
          </p:nvPr>
        </p:nvSpPr>
        <p:spPr>
          <a:xfrm>
            <a:off x="3124200" y="4767263"/>
            <a:ext cx="2895600" cy="273844"/>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47E00FE5-2F44-4954-9A16-64FE40E650AB}" type="slidenum">
              <a:rPr lang="en-US" smtClean="0"/>
              <a:pPr/>
              <a:t>‹#›</a:t>
            </a:fld>
            <a:endParaRPr lang="en-US"/>
          </a:p>
        </p:txBody>
      </p:sp>
    </p:spTree>
    <p:extLst>
      <p:ext uri="{BB962C8B-B14F-4D97-AF65-F5344CB8AC3E}">
        <p14:creationId xmlns:p14="http://schemas.microsoft.com/office/powerpoint/2010/main" val="37328362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bg1">
            <a:lumMod val="95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 id="2147483654" r:id="rId5"/>
    <p:sldLayoutId id="2147483656" r:id="rId6"/>
    <p:sldLayoutId id="2147483657" r:id="rId7"/>
    <p:sldLayoutId id="2147483661" r:id="rId8"/>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a:off x="667168" y="767762"/>
            <a:ext cx="7596600" cy="1530600"/>
          </a:xfrm>
          <a:prstGeom prst="rect">
            <a:avLst/>
          </a:prstGeom>
        </p:spPr>
        <p:txBody>
          <a:bodyPr spcFirstLastPara="1" wrap="square" lIns="91425" tIns="91425" rIns="91425" bIns="91425" anchor="ctr" anchorCtr="0">
            <a:noAutofit/>
          </a:bodyPr>
          <a:lstStyle/>
          <a:p>
            <a:pPr marL="0" lvl="0" indent="0" algn="ctr" rtl="0">
              <a:lnSpc>
                <a:spcPct val="150000"/>
              </a:lnSpc>
              <a:spcBef>
                <a:spcPts val="0"/>
              </a:spcBef>
              <a:spcAft>
                <a:spcPts val="0"/>
              </a:spcAft>
              <a:buNone/>
            </a:pPr>
            <a:r>
              <a:rPr lang="en-US" sz="3700" b="1" dirty="0"/>
              <a:t/>
            </a:r>
            <a:br>
              <a:rPr lang="en-US" sz="3700" b="1" dirty="0"/>
            </a:br>
            <a:r>
              <a:rPr lang="en-US" sz="3700" b="1" dirty="0"/>
              <a:t/>
            </a:r>
            <a:br>
              <a:rPr lang="en-US" sz="3700" b="1" dirty="0"/>
            </a:br>
            <a:r>
              <a:rPr lang="en-US" sz="4400" b="1" dirty="0"/>
              <a:t>Unit </a:t>
            </a:r>
            <a:r>
              <a:rPr lang="en-US" sz="4400" b="1" dirty="0" smtClean="0"/>
              <a:t>IV</a:t>
            </a:r>
            <a:r>
              <a:rPr lang="en-US" sz="4400" b="1" dirty="0"/>
              <a:t/>
            </a:r>
            <a:br>
              <a:rPr lang="en-US" sz="4400" b="1" dirty="0"/>
            </a:br>
            <a:r>
              <a:rPr lang="en-US" sz="4400" b="1" dirty="0" smtClean="0"/>
              <a:t>Data Manipulations</a:t>
            </a:r>
            <a:r>
              <a:rPr lang="en-US" sz="4400" b="1" dirty="0"/>
              <a:t/>
            </a:r>
            <a:br>
              <a:rPr lang="en-US" sz="4400" b="1" dirty="0"/>
            </a:br>
            <a:r>
              <a:rPr lang="en-US" sz="3000" dirty="0"/>
              <a:t>By</a:t>
            </a:r>
            <a:br>
              <a:rPr lang="en-US" sz="3000" dirty="0"/>
            </a:br>
            <a:r>
              <a:rPr lang="en-US" sz="3000" dirty="0"/>
              <a:t>Team – Essentials of Data Science</a:t>
            </a:r>
            <a:endParaRPr sz="3000" dirty="0"/>
          </a:p>
          <a:p>
            <a:pPr marL="0" lvl="0" indent="0" algn="ctr" rtl="0">
              <a:lnSpc>
                <a:spcPct val="100000"/>
              </a:lnSpc>
              <a:spcBef>
                <a:spcPts val="1600"/>
              </a:spcBef>
              <a:spcAft>
                <a:spcPts val="1600"/>
              </a:spcAft>
              <a:buNone/>
            </a:pPr>
            <a:r>
              <a:rPr lang="en" sz="3000" dirty="0"/>
              <a:t>School of Computer Engineering,</a:t>
            </a:r>
            <a:br>
              <a:rPr lang="en" sz="3000" dirty="0"/>
            </a:br>
            <a:r>
              <a:rPr lang="en" sz="3000" dirty="0"/>
              <a:t>MIT Academy of Engineering, Alandi(D.) </a:t>
            </a:r>
            <a:endParaRPr sz="2700" dirty="0"/>
          </a:p>
        </p:txBody>
      </p:sp>
      <p:sp>
        <p:nvSpPr>
          <p:cNvPr id="10" name="Rectangle 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11" name="Rectangle 10"/>
          <p:cNvSpPr/>
          <p:nvPr/>
        </p:nvSpPr>
        <p:spPr bwMode="auto">
          <a:xfrm>
            <a:off x="5836746" y="0"/>
            <a:ext cx="3307253" cy="26600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12" name="Rectangle 11"/>
          <p:cNvSpPr/>
          <p:nvPr/>
        </p:nvSpPr>
        <p:spPr bwMode="auto">
          <a:xfrm>
            <a:off x="5836744" y="4838005"/>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r>
              <a:rPr lang="en-US" sz="1000" b="1" cap="small" dirty="0">
                <a:solidFill>
                  <a:schemeClr val="tx1"/>
                </a:solidFill>
              </a:rPr>
              <a:t>1</a:t>
            </a:r>
          </a:p>
        </p:txBody>
      </p:sp>
      <p:sp>
        <p:nvSpPr>
          <p:cNvPr id="13" name="Rectangle 1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14" name="Rectangle 1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15" name="image1.png" title="Image">
            <a:extLst>
              <a:ext uri="{FF2B5EF4-FFF2-40B4-BE49-F238E27FC236}">
                <a16:creationId xmlns="" xmlns:a16="http://schemas.microsoft.com/office/drawing/2014/main" id="{0981276C-D129-4D2B-81B9-F0E4FBB8E03C}"/>
              </a:ext>
            </a:extLst>
          </p:cNvPr>
          <p:cNvPicPr/>
          <p:nvPr/>
        </p:nvPicPr>
        <p:blipFill>
          <a:blip r:embed="rId3" cstate="print"/>
          <a:stretch>
            <a:fillRect/>
          </a:stretch>
        </p:blipFill>
        <p:spPr>
          <a:xfrm>
            <a:off x="29093" y="0"/>
            <a:ext cx="3084022" cy="308956"/>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Pandas is a powerful and popular library in the field of data science. It provides easy-to-use data structures and data analysis tools for Python, making it an essential component of the data science ecosystem. Here are some key reasons for the significance of pandas in data science:</a:t>
            </a:r>
          </a:p>
          <a:p>
            <a:pPr marL="114300" indent="0">
              <a:buNone/>
            </a:pPr>
            <a:r>
              <a:rPr lang="en-US" sz="2000" dirty="0"/>
              <a:t/>
            </a:r>
            <a:br>
              <a:rPr lang="en-US" sz="2000" dirty="0"/>
            </a:br>
            <a:endParaRPr lang="en-IN" sz="2000" dirty="0">
              <a:solidFill>
                <a:schemeClr val="tx1"/>
              </a:solidFill>
              <a:latin typeface="Calibri" panose="020F0502020204030204" pitchFamily="34" charset="0"/>
            </a:endParaRP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IN" sz="4500" b="1" dirty="0" smtClean="0"/>
              <a:t>Significance of Pandas</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937653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970188"/>
          </a:xfrm>
        </p:spPr>
        <p:txBody>
          <a:bodyPr>
            <a:noAutofit/>
          </a:bodyPr>
          <a:lstStyle/>
          <a:p>
            <a:r>
              <a:rPr lang="en-US" sz="2000" dirty="0"/>
              <a:t>Data Manipulation: Pandas offers efficient data structures like </a:t>
            </a:r>
            <a:r>
              <a:rPr lang="en-US" sz="2000" dirty="0" err="1"/>
              <a:t>DataFrames</a:t>
            </a:r>
            <a:r>
              <a:rPr lang="en-US" sz="2000" dirty="0"/>
              <a:t> and Series, which allow for flexible and intuitive data manipulation. It provides a wide range of functions and methods for tasks such as filtering, selecting, transforming, and aggregating data. With pandas, data scientists can easily clean, preprocess, and reshape data to suit their analysis needs.</a:t>
            </a:r>
          </a:p>
          <a:p>
            <a:r>
              <a:rPr lang="en-US" sz="2000" dirty="0"/>
              <a:t>Data Exploration and Analysis: Pandas simplifies the process of exploring and analyzing data. It provides various functions for descriptive statistics, data summarization, and data visualization. Pandas integrates well with other libraries like </a:t>
            </a:r>
            <a:r>
              <a:rPr lang="en-US" sz="2000" dirty="0" err="1"/>
              <a:t>NumPy</a:t>
            </a:r>
            <a:r>
              <a:rPr lang="en-US" sz="2000" dirty="0"/>
              <a:t> and </a:t>
            </a:r>
            <a:r>
              <a:rPr lang="en-US" sz="2000" dirty="0" err="1"/>
              <a:t>Matplotlib</a:t>
            </a:r>
            <a:r>
              <a:rPr lang="en-US" sz="2000" dirty="0"/>
              <a:t>, enabling comprehensive data analysis workflows</a:t>
            </a:r>
            <a:r>
              <a:rPr lang="en-US" sz="2000" dirty="0" smtClean="0"/>
              <a:t>.</a:t>
            </a:r>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IN" sz="4500" b="1" dirty="0" smtClean="0"/>
              <a:t>Significance of Pandas</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7817238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smtClean="0"/>
              <a:t>Handling </a:t>
            </a:r>
            <a:r>
              <a:rPr lang="en-US" sz="2000" dirty="0"/>
              <a:t>Missing Data: Real-world datasets often contain missing or incomplete data. Pandas provides effective tools for handling missing data, allowing users to fill in missing values or drop incomplete rows or columns. This feature is crucial for ensuring the quality and reliability of data analysis.</a:t>
            </a:r>
          </a:p>
          <a:p>
            <a:r>
              <a:rPr lang="en-US" sz="2000" dirty="0"/>
              <a:t>Data Integration: Pandas facilitates the integration of data from different sources and formats. It supports reading and writing data from various file formats such as CSV, Excel, SQL databases, and more. This versatility makes it easy to import, export, and merge datasets, enabling data scientists to work with diverse data sets seamlessly</a:t>
            </a:r>
            <a:r>
              <a:rPr lang="en-US" sz="2000" dirty="0" smtClean="0"/>
              <a:t>.</a:t>
            </a:r>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IN" sz="4500" b="1" dirty="0" smtClean="0"/>
              <a:t>Significance of Pandas</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477898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Time Series Analysis: Pandas has robust support for time series data analysis. It offers specialized data structures like </a:t>
            </a:r>
            <a:r>
              <a:rPr lang="en-US" sz="2000" dirty="0" err="1"/>
              <a:t>DateTimeIndex</a:t>
            </a:r>
            <a:r>
              <a:rPr lang="en-US" sz="2000" dirty="0"/>
              <a:t> and functions for resampling, time shifting, and time-based operations. With pandas, data scientists can easily handle and analyze time-stamped data, which is commonly encountered in financial, economic, and sensor data analysis.</a:t>
            </a:r>
          </a:p>
          <a:p>
            <a:r>
              <a:rPr lang="en-US" sz="2000" dirty="0"/>
              <a:t>Data Preparation for Machine Learning: In machine learning workflows, data preparation is a crucial step. Pandas simplifies this process by providing functions for feature selection, encoding categorical variables, scaling numerical features, and more. It helps data scientists prepare their datasets in a format suitable for training machine learning models.</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IN" sz="4500" b="1" dirty="0" smtClean="0"/>
              <a:t>Significance of Pandas</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22908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Data loading is a crucial step in the data science workflow and holds significant importance in the field. Here are some key reasons why data loading is significant in data science</a:t>
            </a:r>
            <a:r>
              <a:rPr lang="en-US" dirty="0" smtClean="0"/>
              <a:t>:</a:t>
            </a:r>
          </a:p>
          <a:p>
            <a:r>
              <a:rPr lang="en-US" dirty="0"/>
              <a:t>Accessing and Preparing </a:t>
            </a:r>
            <a:r>
              <a:rPr lang="en-US" dirty="0" smtClean="0"/>
              <a:t>Data</a:t>
            </a:r>
          </a:p>
          <a:p>
            <a:r>
              <a:rPr lang="en-US" dirty="0"/>
              <a:t>Exploratory Data Analysis </a:t>
            </a:r>
            <a:endParaRPr lang="en-US" dirty="0" smtClean="0"/>
          </a:p>
          <a:p>
            <a:r>
              <a:rPr lang="en-US" dirty="0"/>
              <a:t>Feature </a:t>
            </a:r>
            <a:r>
              <a:rPr lang="en-US" dirty="0" smtClean="0"/>
              <a:t>Engineering</a:t>
            </a:r>
          </a:p>
          <a:p>
            <a:r>
              <a:rPr lang="en-US" dirty="0"/>
              <a:t>Model Training and </a:t>
            </a:r>
            <a:r>
              <a:rPr lang="en-US" dirty="0" smtClean="0"/>
              <a:t>Evaluation</a:t>
            </a:r>
          </a:p>
          <a:p>
            <a:r>
              <a:rPr lang="en-US" dirty="0"/>
              <a:t>Iterative Analysis and Model </a:t>
            </a:r>
            <a:r>
              <a:rPr lang="en-US" dirty="0" smtClean="0"/>
              <a:t>Improvement</a:t>
            </a:r>
          </a:p>
          <a:p>
            <a:r>
              <a:rPr lang="en-US" dirty="0"/>
              <a:t>Reproducibility and Collaboration</a:t>
            </a:r>
            <a:endParaRPr lang="en-US" dirty="0" smtClean="0"/>
          </a:p>
          <a:p>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smtClean="0"/>
              <a:t>Significance -- Data </a:t>
            </a:r>
            <a:r>
              <a:rPr lang="en-US" sz="4800" dirty="0"/>
              <a:t>Loading</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0175983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Pandas provides several methods for loading data from different </a:t>
            </a:r>
            <a:r>
              <a:rPr lang="en-US" sz="2000" dirty="0" smtClean="0"/>
              <a:t>sources</a:t>
            </a:r>
            <a:r>
              <a:rPr lang="en-US" sz="2000" dirty="0"/>
              <a:t>. Here are some common ways to load data using pandas</a:t>
            </a:r>
            <a:r>
              <a:rPr lang="en-US" sz="2000" dirty="0" smtClean="0"/>
              <a:t>:</a:t>
            </a:r>
          </a:p>
          <a:p>
            <a:r>
              <a:rPr lang="en-US" sz="2000" dirty="0" smtClean="0"/>
              <a:t>CSV Files:</a:t>
            </a:r>
          </a:p>
          <a:p>
            <a:r>
              <a:rPr lang="en-US" dirty="0"/>
              <a:t>import pandas as </a:t>
            </a:r>
            <a:r>
              <a:rPr lang="en-US" dirty="0" err="1"/>
              <a:t>pd</a:t>
            </a:r>
            <a:r>
              <a:rPr lang="en-US" dirty="0"/>
              <a:t> </a:t>
            </a:r>
          </a:p>
          <a:p>
            <a:r>
              <a:rPr lang="en-US" dirty="0"/>
              <a:t># Load a CSV file </a:t>
            </a:r>
            <a:endParaRPr lang="en-US" dirty="0" smtClean="0"/>
          </a:p>
          <a:p>
            <a:r>
              <a:rPr lang="en-US" dirty="0" err="1" smtClean="0"/>
              <a:t>df</a:t>
            </a:r>
            <a:r>
              <a:rPr lang="en-US" dirty="0" smtClean="0"/>
              <a:t> </a:t>
            </a:r>
            <a:r>
              <a:rPr lang="en-US" dirty="0"/>
              <a:t>= </a:t>
            </a:r>
            <a:r>
              <a:rPr lang="en-US" dirty="0" err="1"/>
              <a:t>pd.read_csv</a:t>
            </a:r>
            <a:r>
              <a:rPr lang="en-US" dirty="0"/>
              <a:t>('data.csv') </a:t>
            </a:r>
            <a:endParaRPr lang="en-US" dirty="0" smtClean="0"/>
          </a:p>
          <a:p>
            <a:endParaRPr lang="en-US" dirty="0"/>
          </a:p>
          <a:p>
            <a:r>
              <a:rPr lang="en-US" dirty="0"/>
              <a:t># Load a CSV file with custom delimiter </a:t>
            </a:r>
            <a:endParaRPr lang="en-US" dirty="0" smtClean="0"/>
          </a:p>
          <a:p>
            <a:r>
              <a:rPr lang="en-US" dirty="0" err="1" smtClean="0"/>
              <a:t>df</a:t>
            </a:r>
            <a:r>
              <a:rPr lang="en-US" dirty="0" smtClean="0"/>
              <a:t> </a:t>
            </a:r>
            <a:r>
              <a:rPr lang="en-US" dirty="0"/>
              <a:t>= </a:t>
            </a:r>
            <a:r>
              <a:rPr lang="en-US" dirty="0" err="1"/>
              <a:t>pd.read_csv</a:t>
            </a:r>
            <a:r>
              <a:rPr lang="en-US" dirty="0"/>
              <a:t>('data.csv', delimiter=';') </a:t>
            </a:r>
          </a:p>
          <a:p>
            <a:r>
              <a:rPr lang="en-US" dirty="0"/>
              <a:t># Load a CSV file with specific columns </a:t>
            </a:r>
            <a:endParaRPr lang="en-US" dirty="0" smtClean="0"/>
          </a:p>
          <a:p>
            <a:r>
              <a:rPr lang="en-US" dirty="0" err="1" smtClean="0"/>
              <a:t>df</a:t>
            </a:r>
            <a:r>
              <a:rPr lang="en-US" dirty="0" smtClean="0"/>
              <a:t> </a:t>
            </a:r>
            <a:r>
              <a:rPr lang="en-US" dirty="0"/>
              <a:t>= </a:t>
            </a:r>
            <a:r>
              <a:rPr lang="en-US" dirty="0" err="1"/>
              <a:t>pd.read_csv</a:t>
            </a:r>
            <a:r>
              <a:rPr lang="en-US" dirty="0"/>
              <a:t>('data.csv', </a:t>
            </a:r>
            <a:r>
              <a:rPr lang="en-US" dirty="0" err="1"/>
              <a:t>usecols</a:t>
            </a:r>
            <a:r>
              <a:rPr lang="en-US" dirty="0"/>
              <a:t>=['col1', 'col2'])</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Loading</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4147638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smtClean="0"/>
              <a:t>Excel File</a:t>
            </a:r>
          </a:p>
          <a:p>
            <a:endParaRPr lang="en-US" sz="2000" dirty="0" smtClean="0"/>
          </a:p>
          <a:p>
            <a:r>
              <a:rPr lang="en-US" sz="2000" dirty="0" smtClean="0"/>
              <a:t>import </a:t>
            </a:r>
            <a:r>
              <a:rPr lang="en-US" sz="2000" dirty="0"/>
              <a:t>pandas as </a:t>
            </a:r>
            <a:r>
              <a:rPr lang="en-US" sz="2000" dirty="0" err="1"/>
              <a:t>pd</a:t>
            </a:r>
            <a:endParaRPr lang="en-US" sz="2000" dirty="0"/>
          </a:p>
          <a:p>
            <a:r>
              <a:rPr lang="en-US" sz="2000" dirty="0" smtClean="0"/>
              <a:t># </a:t>
            </a:r>
            <a:r>
              <a:rPr lang="en-US" sz="2000" dirty="0"/>
              <a:t>Load an Excel file</a:t>
            </a:r>
          </a:p>
          <a:p>
            <a:r>
              <a:rPr lang="en-US" sz="2000" dirty="0" err="1"/>
              <a:t>df</a:t>
            </a:r>
            <a:r>
              <a:rPr lang="en-US" sz="2000" dirty="0"/>
              <a:t> = </a:t>
            </a:r>
            <a:r>
              <a:rPr lang="en-US" sz="2000" dirty="0" err="1"/>
              <a:t>pd.read_excel</a:t>
            </a:r>
            <a:r>
              <a:rPr lang="en-US" sz="2000" dirty="0"/>
              <a:t>('data.xlsx')</a:t>
            </a:r>
          </a:p>
          <a:p>
            <a:endParaRPr lang="en-US" sz="2000" dirty="0"/>
          </a:p>
          <a:p>
            <a:r>
              <a:rPr lang="en-US" sz="2000" dirty="0"/>
              <a:t># Load a specific sheet from an Excel file</a:t>
            </a:r>
          </a:p>
          <a:p>
            <a:r>
              <a:rPr lang="en-US" sz="2000" dirty="0" err="1"/>
              <a:t>df</a:t>
            </a:r>
            <a:r>
              <a:rPr lang="en-US" sz="2000" dirty="0"/>
              <a:t> = </a:t>
            </a:r>
            <a:r>
              <a:rPr lang="en-US" sz="2000" dirty="0" err="1"/>
              <a:t>pd.read_excel</a:t>
            </a:r>
            <a:r>
              <a:rPr lang="en-US" sz="2000" dirty="0"/>
              <a:t>('data.xlsx', </a:t>
            </a:r>
            <a:r>
              <a:rPr lang="en-US" sz="2000" dirty="0" err="1"/>
              <a:t>sheet_name</a:t>
            </a:r>
            <a:r>
              <a:rPr lang="en-US" sz="2000" dirty="0"/>
              <a:t>='Sheet1')</a:t>
            </a:r>
          </a:p>
          <a:p>
            <a:endParaRPr lang="en-US" sz="2000" dirty="0"/>
          </a:p>
          <a:p>
            <a:r>
              <a:rPr lang="en-US" sz="2000" dirty="0"/>
              <a:t># Load specific columns from an Excel file</a:t>
            </a:r>
          </a:p>
          <a:p>
            <a:r>
              <a:rPr lang="en-US" sz="2000" dirty="0" err="1"/>
              <a:t>df</a:t>
            </a:r>
            <a:r>
              <a:rPr lang="en-US" sz="2000" dirty="0"/>
              <a:t> = </a:t>
            </a:r>
            <a:r>
              <a:rPr lang="en-US" sz="2000" dirty="0" err="1"/>
              <a:t>pd.read_excel</a:t>
            </a:r>
            <a:r>
              <a:rPr lang="en-US" sz="2000" dirty="0"/>
              <a:t>('data.xlsx', </a:t>
            </a:r>
            <a:r>
              <a:rPr lang="en-US" sz="2000" dirty="0" err="1"/>
              <a:t>usecols</a:t>
            </a:r>
            <a:r>
              <a:rPr lang="en-US" sz="2000" dirty="0"/>
              <a:t>=['col1', 'col2'])</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Loading</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06150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smtClean="0"/>
              <a:t>JSON File</a:t>
            </a:r>
          </a:p>
          <a:p>
            <a:endParaRPr lang="en-US" sz="2000" dirty="0"/>
          </a:p>
          <a:p>
            <a:r>
              <a:rPr lang="en-US" sz="2000" dirty="0" smtClean="0"/>
              <a:t>import </a:t>
            </a:r>
            <a:r>
              <a:rPr lang="en-US" sz="2000" dirty="0"/>
              <a:t>pandas as </a:t>
            </a:r>
            <a:r>
              <a:rPr lang="en-US" sz="2000" dirty="0" err="1"/>
              <a:t>pd</a:t>
            </a:r>
            <a:endParaRPr lang="en-US" sz="2000" dirty="0"/>
          </a:p>
          <a:p>
            <a:endParaRPr lang="en-US" sz="2000" dirty="0"/>
          </a:p>
          <a:p>
            <a:r>
              <a:rPr lang="en-US" sz="2000" dirty="0"/>
              <a:t># Load a JSON file</a:t>
            </a:r>
          </a:p>
          <a:p>
            <a:r>
              <a:rPr lang="en-US" sz="2000" dirty="0" err="1"/>
              <a:t>df</a:t>
            </a:r>
            <a:r>
              <a:rPr lang="en-US" sz="2000" dirty="0"/>
              <a:t> = </a:t>
            </a:r>
            <a:r>
              <a:rPr lang="en-US" sz="2000" dirty="0" err="1"/>
              <a:t>pd.read_json</a:t>
            </a:r>
            <a:r>
              <a:rPr lang="en-US" sz="2000" dirty="0"/>
              <a:t>('</a:t>
            </a:r>
            <a:r>
              <a:rPr lang="en-US" sz="2000" dirty="0" err="1"/>
              <a:t>data.json</a:t>
            </a:r>
            <a:r>
              <a:rPr lang="en-US" sz="2000" dirty="0"/>
              <a:t>')</a:t>
            </a:r>
          </a:p>
          <a:p>
            <a:endParaRPr lang="en-US" sz="2000" dirty="0"/>
          </a:p>
          <a:p>
            <a:r>
              <a:rPr lang="en-US" sz="2000" dirty="0"/>
              <a:t># Load specific JSON records from a file</a:t>
            </a:r>
          </a:p>
          <a:p>
            <a:r>
              <a:rPr lang="en-US" sz="2000" dirty="0" err="1"/>
              <a:t>df</a:t>
            </a:r>
            <a:r>
              <a:rPr lang="en-US" sz="2000" dirty="0"/>
              <a:t> = </a:t>
            </a:r>
            <a:r>
              <a:rPr lang="en-US" sz="2000" dirty="0" err="1"/>
              <a:t>pd.read_json</a:t>
            </a:r>
            <a:r>
              <a:rPr lang="en-US" sz="2000" dirty="0"/>
              <a:t>('</a:t>
            </a:r>
            <a:r>
              <a:rPr lang="en-US" sz="2000" dirty="0" err="1"/>
              <a:t>data.json</a:t>
            </a:r>
            <a:r>
              <a:rPr lang="en-US" sz="2000" dirty="0"/>
              <a:t>', lines=True)</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Loading</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4210299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pPr marL="114300" indent="0">
              <a:buNone/>
            </a:pPr>
            <a:r>
              <a:rPr lang="en-US" sz="2000" dirty="0" smtClean="0"/>
              <a:t>CSV File</a:t>
            </a:r>
          </a:p>
          <a:p>
            <a:r>
              <a:rPr lang="en-US" sz="2000" dirty="0" err="1" smtClean="0"/>
              <a:t>Name,Age,Gender,Salary</a:t>
            </a:r>
            <a:endParaRPr lang="en-US" sz="2000" dirty="0"/>
          </a:p>
          <a:p>
            <a:r>
              <a:rPr lang="en-US" sz="2000" dirty="0"/>
              <a:t>Alice,25,Female,50000</a:t>
            </a:r>
          </a:p>
          <a:p>
            <a:r>
              <a:rPr lang="en-US" sz="2000" dirty="0"/>
              <a:t>Bob,30,Male,60000</a:t>
            </a:r>
          </a:p>
          <a:p>
            <a:r>
              <a:rPr lang="en-US" sz="2000" dirty="0"/>
              <a:t>Charlie,35,Male,70000</a:t>
            </a:r>
          </a:p>
          <a:p>
            <a:r>
              <a:rPr lang="en-US" sz="2000" dirty="0"/>
              <a:t>David,40,Male,80000</a:t>
            </a:r>
          </a:p>
          <a:p>
            <a:r>
              <a:rPr lang="en-US" sz="2000" dirty="0"/>
              <a:t>Eve,45,Female,90000</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Loading -- Example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983942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pPr marL="114300" indent="0">
              <a:buNone/>
            </a:pPr>
            <a:r>
              <a:rPr lang="en-US" sz="2000" dirty="0" smtClean="0"/>
              <a:t>Read CSV File</a:t>
            </a:r>
          </a:p>
          <a:p>
            <a:r>
              <a:rPr lang="en-US" sz="2000" dirty="0"/>
              <a:t>import pandas as </a:t>
            </a:r>
            <a:r>
              <a:rPr lang="en-US" sz="2000" dirty="0" err="1"/>
              <a:t>pd</a:t>
            </a:r>
            <a:endParaRPr lang="en-US" sz="2000" dirty="0"/>
          </a:p>
          <a:p>
            <a:endParaRPr lang="en-US" sz="2000" dirty="0"/>
          </a:p>
          <a:p>
            <a:r>
              <a:rPr lang="en-US" sz="2000" dirty="0"/>
              <a:t># Load the CSV file</a:t>
            </a:r>
          </a:p>
          <a:p>
            <a:r>
              <a:rPr lang="en-US" sz="2000" dirty="0" err="1"/>
              <a:t>df</a:t>
            </a:r>
            <a:r>
              <a:rPr lang="en-US" sz="2000" dirty="0"/>
              <a:t> = </a:t>
            </a:r>
            <a:r>
              <a:rPr lang="en-US" sz="2000" dirty="0" err="1"/>
              <a:t>pd.read_csv</a:t>
            </a:r>
            <a:r>
              <a:rPr lang="en-US" sz="2000" dirty="0"/>
              <a:t>('data.csv')</a:t>
            </a:r>
          </a:p>
          <a:p>
            <a:endParaRPr lang="en-US" sz="2000" dirty="0"/>
          </a:p>
          <a:p>
            <a:r>
              <a:rPr lang="en-US" sz="2000" dirty="0"/>
              <a:t># Display the </a:t>
            </a:r>
            <a:r>
              <a:rPr lang="en-US" sz="2000" dirty="0" err="1"/>
              <a:t>DataFrame</a:t>
            </a:r>
            <a:endParaRPr lang="en-US" sz="2000" dirty="0"/>
          </a:p>
          <a:p>
            <a:r>
              <a:rPr lang="en-US" sz="2000" dirty="0"/>
              <a:t>print(</a:t>
            </a:r>
            <a:r>
              <a:rPr lang="en-US" sz="2000" dirty="0" err="1"/>
              <a:t>df</a:t>
            </a:r>
            <a:r>
              <a:rPr lang="en-US" sz="2000" dirty="0"/>
              <a:t>)</a:t>
            </a:r>
            <a:endParaRPr lang="en-US" sz="2000" dirty="0" smtClean="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Loading -- Example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4771505" y="1199284"/>
            <a:ext cx="4572000" cy="1815882"/>
          </a:xfrm>
          <a:prstGeom prst="rect">
            <a:avLst/>
          </a:prstGeom>
        </p:spPr>
        <p:txBody>
          <a:bodyPr>
            <a:spAutoFit/>
          </a:bodyPr>
          <a:lstStyle/>
          <a:p>
            <a:r>
              <a:rPr lang="en-US" dirty="0" smtClean="0"/>
              <a:t>Output</a:t>
            </a:r>
          </a:p>
          <a:p>
            <a:endParaRPr lang="en-US" dirty="0"/>
          </a:p>
          <a:p>
            <a:r>
              <a:rPr lang="en-US" dirty="0" smtClean="0"/>
              <a:t> </a:t>
            </a:r>
            <a:r>
              <a:rPr lang="en-US" dirty="0"/>
              <a:t>Name  Age  Gender  Salary</a:t>
            </a:r>
          </a:p>
          <a:p>
            <a:r>
              <a:rPr lang="en-US" dirty="0"/>
              <a:t>0    Alice   25  Female   50000</a:t>
            </a:r>
          </a:p>
          <a:p>
            <a:r>
              <a:rPr lang="en-US" dirty="0"/>
              <a:t>1      Bob   30    Male   60000</a:t>
            </a:r>
          </a:p>
          <a:p>
            <a:r>
              <a:rPr lang="en-US" dirty="0"/>
              <a:t>2  Charlie   35    Male   70000</a:t>
            </a:r>
          </a:p>
          <a:p>
            <a:r>
              <a:rPr lang="en-US" dirty="0"/>
              <a:t>3    David   40    Male   80000</a:t>
            </a:r>
          </a:p>
          <a:p>
            <a:r>
              <a:rPr lang="en-US" dirty="0"/>
              <a:t>4      Eve   45  Female   90000</a:t>
            </a:r>
          </a:p>
        </p:txBody>
      </p:sp>
    </p:spTree>
    <p:extLst>
      <p:ext uri="{BB962C8B-B14F-4D97-AF65-F5344CB8AC3E}">
        <p14:creationId xmlns:p14="http://schemas.microsoft.com/office/powerpoint/2010/main" val="35413073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Data storage is a critical component in data science, playing a significant role in the entire data lifecycle. Here are some key reasons why data storage is significant in data science</a:t>
            </a:r>
            <a:r>
              <a:rPr lang="en-US" sz="2000" dirty="0" smtClean="0"/>
              <a:t>:</a:t>
            </a:r>
          </a:p>
          <a:p>
            <a:r>
              <a:rPr lang="en-US" sz="2000" dirty="0"/>
              <a:t>Data </a:t>
            </a:r>
            <a:r>
              <a:rPr lang="en-US" sz="2000" dirty="0" smtClean="0"/>
              <a:t>Preservation</a:t>
            </a:r>
          </a:p>
          <a:p>
            <a:r>
              <a:rPr lang="en-US" sz="2000" dirty="0"/>
              <a:t>Data </a:t>
            </a:r>
            <a:r>
              <a:rPr lang="en-US" sz="2000" dirty="0" smtClean="0"/>
              <a:t>Management</a:t>
            </a:r>
          </a:p>
          <a:p>
            <a:r>
              <a:rPr lang="en-US" sz="2000" dirty="0"/>
              <a:t>Data </a:t>
            </a:r>
            <a:r>
              <a:rPr lang="en-US" sz="2000" dirty="0" smtClean="0"/>
              <a:t>Integration</a:t>
            </a:r>
          </a:p>
          <a:p>
            <a:r>
              <a:rPr lang="en-US" sz="2000" dirty="0" smtClean="0"/>
              <a:t>Scalability</a:t>
            </a:r>
          </a:p>
          <a:p>
            <a:r>
              <a:rPr lang="en-US" sz="2000" dirty="0"/>
              <a:t>Data </a:t>
            </a:r>
            <a:r>
              <a:rPr lang="en-US" sz="2000" dirty="0" smtClean="0"/>
              <a:t>Security</a:t>
            </a:r>
          </a:p>
          <a:p>
            <a:r>
              <a:rPr lang="en-US" sz="2000" dirty="0"/>
              <a:t>Data Sharing and </a:t>
            </a:r>
            <a:r>
              <a:rPr lang="en-US" sz="2000" dirty="0" smtClean="0"/>
              <a:t>Collaboration</a:t>
            </a:r>
          </a:p>
          <a:p>
            <a:r>
              <a:rPr lang="en-US" sz="2000" dirty="0"/>
              <a:t>Reproducibility and </a:t>
            </a:r>
            <a:r>
              <a:rPr lang="en-US" sz="2000" dirty="0" smtClean="0"/>
              <a:t>Auditability</a:t>
            </a:r>
          </a:p>
          <a:p>
            <a:r>
              <a:rPr lang="en-US" sz="2000" dirty="0"/>
              <a:t>Disaster Recovery and Business </a:t>
            </a:r>
            <a:r>
              <a:rPr lang="en-US" sz="2000" dirty="0" smtClean="0"/>
              <a:t>Continuity</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smtClean="0"/>
              <a:t>Significance -- Data Storage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7160700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Pandas provides several methods for storing data to different formats. Here are some common ways to store data using pandas</a:t>
            </a:r>
            <a:r>
              <a:rPr lang="en-US" sz="2000" dirty="0" smtClean="0"/>
              <a:t>:</a:t>
            </a:r>
          </a:p>
          <a:p>
            <a:pPr marL="114300" indent="0">
              <a:buNone/>
            </a:pPr>
            <a:r>
              <a:rPr lang="en-US" sz="2000" b="1" dirty="0" smtClean="0"/>
              <a:t>CSV File</a:t>
            </a:r>
            <a:endParaRPr lang="en-US" sz="2000" b="1" dirty="0"/>
          </a:p>
          <a:p>
            <a:r>
              <a:rPr lang="en-US" sz="2000" dirty="0" smtClean="0"/>
              <a:t>import </a:t>
            </a:r>
            <a:r>
              <a:rPr lang="en-US" sz="2000" dirty="0"/>
              <a:t>pandas as </a:t>
            </a:r>
            <a:r>
              <a:rPr lang="en-US" sz="2000" dirty="0" err="1"/>
              <a:t>pd</a:t>
            </a:r>
            <a:endParaRPr lang="en-US" sz="2000" dirty="0"/>
          </a:p>
          <a:p>
            <a:endParaRPr lang="en-US" sz="2000" dirty="0"/>
          </a:p>
          <a:p>
            <a:r>
              <a:rPr lang="en-US" sz="2000" dirty="0"/>
              <a:t># Save </a:t>
            </a:r>
            <a:r>
              <a:rPr lang="en-US" sz="2000" dirty="0" err="1"/>
              <a:t>DataFrame</a:t>
            </a:r>
            <a:r>
              <a:rPr lang="en-US" sz="2000" dirty="0"/>
              <a:t> to a CSV file</a:t>
            </a:r>
          </a:p>
          <a:p>
            <a:r>
              <a:rPr lang="en-US" sz="2000" dirty="0" err="1"/>
              <a:t>df.to_csv</a:t>
            </a:r>
            <a:r>
              <a:rPr lang="en-US" sz="2000" dirty="0"/>
              <a:t>('data.csv', index=False)</a:t>
            </a:r>
          </a:p>
          <a:p>
            <a:endParaRPr lang="en-US" sz="2000" dirty="0"/>
          </a:p>
          <a:p>
            <a:r>
              <a:rPr lang="en-US" sz="2000" dirty="0"/>
              <a:t># Save </a:t>
            </a:r>
            <a:r>
              <a:rPr lang="en-US" sz="2000" dirty="0" err="1"/>
              <a:t>DataFrame</a:t>
            </a:r>
            <a:r>
              <a:rPr lang="en-US" sz="2000" dirty="0"/>
              <a:t> to a CSV file with custom delimiter</a:t>
            </a:r>
          </a:p>
          <a:p>
            <a:r>
              <a:rPr lang="en-US" sz="2000" dirty="0" err="1"/>
              <a:t>df.to_csv</a:t>
            </a:r>
            <a:r>
              <a:rPr lang="en-US" sz="2000" dirty="0"/>
              <a:t>('data.csv', </a:t>
            </a:r>
            <a:r>
              <a:rPr lang="en-US" sz="2000" dirty="0" err="1"/>
              <a:t>sep</a:t>
            </a:r>
            <a:r>
              <a:rPr lang="en-US" sz="2000" dirty="0"/>
              <a:t>=';')</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Storage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849620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smtClean="0"/>
              <a:t>Excel File</a:t>
            </a:r>
          </a:p>
          <a:p>
            <a:endParaRPr lang="en-US" sz="2000" dirty="0" smtClean="0"/>
          </a:p>
          <a:p>
            <a:r>
              <a:rPr lang="en-US" sz="2000" dirty="0"/>
              <a:t>import pandas as </a:t>
            </a:r>
            <a:r>
              <a:rPr lang="en-US" sz="2000" dirty="0" err="1"/>
              <a:t>pd</a:t>
            </a:r>
            <a:endParaRPr lang="en-US" sz="2000" dirty="0"/>
          </a:p>
          <a:p>
            <a:endParaRPr lang="en-US" sz="2000" dirty="0"/>
          </a:p>
          <a:p>
            <a:r>
              <a:rPr lang="en-US" sz="2000" dirty="0"/>
              <a:t># Save </a:t>
            </a:r>
            <a:r>
              <a:rPr lang="en-US" sz="2000" dirty="0" err="1"/>
              <a:t>DataFrame</a:t>
            </a:r>
            <a:r>
              <a:rPr lang="en-US" sz="2000" dirty="0"/>
              <a:t> to an Excel file</a:t>
            </a:r>
          </a:p>
          <a:p>
            <a:r>
              <a:rPr lang="en-US" sz="2000" dirty="0" err="1"/>
              <a:t>df.to_excel</a:t>
            </a:r>
            <a:r>
              <a:rPr lang="en-US" sz="2000" dirty="0"/>
              <a:t>('data.xlsx', index=False)</a:t>
            </a:r>
          </a:p>
          <a:p>
            <a:endParaRPr lang="en-US" sz="2000" dirty="0"/>
          </a:p>
          <a:p>
            <a:r>
              <a:rPr lang="en-US" sz="2000" dirty="0"/>
              <a:t># Save </a:t>
            </a:r>
            <a:r>
              <a:rPr lang="en-US" sz="2000" dirty="0" err="1"/>
              <a:t>DataFrame</a:t>
            </a:r>
            <a:r>
              <a:rPr lang="en-US" sz="2000" dirty="0"/>
              <a:t> to an Excel file with specific sheet name</a:t>
            </a:r>
          </a:p>
          <a:p>
            <a:r>
              <a:rPr lang="en-US" sz="2000" dirty="0" err="1"/>
              <a:t>df.to_excel</a:t>
            </a:r>
            <a:r>
              <a:rPr lang="en-US" sz="2000" dirty="0"/>
              <a:t>('data.xlsx', </a:t>
            </a:r>
            <a:r>
              <a:rPr lang="en-US" sz="2000" dirty="0" err="1"/>
              <a:t>sheet_name</a:t>
            </a:r>
            <a:r>
              <a:rPr lang="en-US" sz="2000" dirty="0"/>
              <a:t>='Sheet1')</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Storage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4463076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smtClean="0"/>
              <a:t>JSON File</a:t>
            </a:r>
          </a:p>
          <a:p>
            <a:endParaRPr lang="en-US" sz="2000" dirty="0"/>
          </a:p>
          <a:p>
            <a:r>
              <a:rPr lang="en-US" sz="2000" dirty="0" smtClean="0"/>
              <a:t>import </a:t>
            </a:r>
            <a:r>
              <a:rPr lang="en-US" sz="2000" dirty="0"/>
              <a:t>pandas as </a:t>
            </a:r>
            <a:r>
              <a:rPr lang="en-US" sz="2000" dirty="0" err="1"/>
              <a:t>pd</a:t>
            </a:r>
            <a:endParaRPr lang="en-US" sz="2000" dirty="0"/>
          </a:p>
          <a:p>
            <a:endParaRPr lang="en-US" sz="2000" dirty="0"/>
          </a:p>
          <a:p>
            <a:r>
              <a:rPr lang="en-US" sz="2000" dirty="0"/>
              <a:t># Save </a:t>
            </a:r>
            <a:r>
              <a:rPr lang="en-US" sz="2000" dirty="0" err="1"/>
              <a:t>DataFrame</a:t>
            </a:r>
            <a:r>
              <a:rPr lang="en-US" sz="2000" dirty="0"/>
              <a:t> to a JSON file</a:t>
            </a:r>
          </a:p>
          <a:p>
            <a:r>
              <a:rPr lang="en-US" sz="2000" dirty="0" err="1"/>
              <a:t>df.to_json</a:t>
            </a:r>
            <a:r>
              <a:rPr lang="en-US" sz="2000" dirty="0"/>
              <a:t>('</a:t>
            </a:r>
            <a:r>
              <a:rPr lang="en-US" sz="2000" dirty="0" err="1"/>
              <a:t>data.json</a:t>
            </a:r>
            <a:r>
              <a:rPr lang="en-US" sz="2000" dirty="0"/>
              <a:t>', orient='records')</a:t>
            </a:r>
          </a:p>
          <a:p>
            <a:endParaRPr lang="en-US" sz="2000" dirty="0"/>
          </a:p>
          <a:p>
            <a:r>
              <a:rPr lang="en-US" sz="2000" dirty="0"/>
              <a:t># Save </a:t>
            </a:r>
            <a:r>
              <a:rPr lang="en-US" sz="2000" dirty="0" err="1"/>
              <a:t>DataFrame</a:t>
            </a:r>
            <a:r>
              <a:rPr lang="en-US" sz="2000" dirty="0"/>
              <a:t> to a JSON file with each record on a new line</a:t>
            </a:r>
          </a:p>
          <a:p>
            <a:r>
              <a:rPr lang="en-US" sz="2000" dirty="0" err="1"/>
              <a:t>df.to_json</a:t>
            </a:r>
            <a:r>
              <a:rPr lang="en-US" sz="2000" dirty="0"/>
              <a:t>('</a:t>
            </a:r>
            <a:r>
              <a:rPr lang="en-US" sz="2000" dirty="0" err="1"/>
              <a:t>data.json</a:t>
            </a:r>
            <a:r>
              <a:rPr lang="en-US" sz="2000" dirty="0"/>
              <a:t>', orient='records', lines=True)</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Storage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363153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smtClean="0"/>
              <a:t>JSON File</a:t>
            </a:r>
          </a:p>
          <a:p>
            <a:endParaRPr lang="en-US" sz="2000" dirty="0"/>
          </a:p>
          <a:p>
            <a:r>
              <a:rPr lang="en-US" sz="2000" dirty="0" smtClean="0"/>
              <a:t>import </a:t>
            </a:r>
            <a:r>
              <a:rPr lang="en-US" sz="2000" dirty="0"/>
              <a:t>pandas as </a:t>
            </a:r>
            <a:r>
              <a:rPr lang="en-US" sz="2000" dirty="0" err="1"/>
              <a:t>pd</a:t>
            </a:r>
            <a:endParaRPr lang="en-US" sz="2000" dirty="0"/>
          </a:p>
          <a:p>
            <a:endParaRPr lang="en-US" sz="2000" dirty="0"/>
          </a:p>
          <a:p>
            <a:r>
              <a:rPr lang="en-US" sz="2000" dirty="0"/>
              <a:t># Save </a:t>
            </a:r>
            <a:r>
              <a:rPr lang="en-US" sz="2000" dirty="0" err="1"/>
              <a:t>DataFrame</a:t>
            </a:r>
            <a:r>
              <a:rPr lang="en-US" sz="2000" dirty="0"/>
              <a:t> to a JSON file</a:t>
            </a:r>
          </a:p>
          <a:p>
            <a:r>
              <a:rPr lang="en-US" sz="2000" dirty="0" err="1"/>
              <a:t>df.to_json</a:t>
            </a:r>
            <a:r>
              <a:rPr lang="en-US" sz="2000" dirty="0"/>
              <a:t>('</a:t>
            </a:r>
            <a:r>
              <a:rPr lang="en-US" sz="2000" dirty="0" err="1"/>
              <a:t>data.json</a:t>
            </a:r>
            <a:r>
              <a:rPr lang="en-US" sz="2000" dirty="0"/>
              <a:t>', orient='records')</a:t>
            </a:r>
          </a:p>
          <a:p>
            <a:endParaRPr lang="en-US" sz="2000" dirty="0"/>
          </a:p>
          <a:p>
            <a:r>
              <a:rPr lang="en-US" sz="2000" dirty="0"/>
              <a:t># Save </a:t>
            </a:r>
            <a:r>
              <a:rPr lang="en-US" sz="2000" dirty="0" err="1"/>
              <a:t>DataFrame</a:t>
            </a:r>
            <a:r>
              <a:rPr lang="en-US" sz="2000" dirty="0"/>
              <a:t> to a JSON file with each record on a new line</a:t>
            </a:r>
          </a:p>
          <a:p>
            <a:r>
              <a:rPr lang="en-US" sz="2000" dirty="0" err="1"/>
              <a:t>df.to_json</a:t>
            </a:r>
            <a:r>
              <a:rPr lang="en-US" sz="2000" dirty="0"/>
              <a:t>('</a:t>
            </a:r>
            <a:r>
              <a:rPr lang="en-US" sz="2000" dirty="0" err="1"/>
              <a:t>data.json</a:t>
            </a:r>
            <a:r>
              <a:rPr lang="en-US" sz="2000" dirty="0"/>
              <a:t>', orient='records', lines=True)</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Storage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3625610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import pandas as </a:t>
            </a:r>
            <a:r>
              <a:rPr lang="en-US" sz="2000" dirty="0" err="1"/>
              <a:t>pd</a:t>
            </a:r>
            <a:endParaRPr lang="en-US" sz="2000" dirty="0"/>
          </a:p>
          <a:p>
            <a:endParaRPr lang="en-US" sz="2000" dirty="0"/>
          </a:p>
          <a:p>
            <a:r>
              <a:rPr lang="en-US" sz="2000" dirty="0"/>
              <a:t>data = {</a:t>
            </a:r>
          </a:p>
          <a:p>
            <a:r>
              <a:rPr lang="en-US" sz="2000" dirty="0"/>
              <a:t>    'Name': ['Alice', 'Bob', 'Charlie', 'David', 'Eve'],</a:t>
            </a:r>
          </a:p>
          <a:p>
            <a:r>
              <a:rPr lang="en-US" sz="2000" dirty="0"/>
              <a:t>    'Age': [25, 30, 35, 40, 45],</a:t>
            </a:r>
          </a:p>
          <a:p>
            <a:r>
              <a:rPr lang="en-US" sz="2000" dirty="0"/>
              <a:t>    'Gender': ['Female', 'Male', 'Male', 'Male', 'Female'],</a:t>
            </a:r>
          </a:p>
          <a:p>
            <a:r>
              <a:rPr lang="en-US" sz="2000" dirty="0"/>
              <a:t>    'Salary': [50000, 60000, 70000, 80000, 90000]</a:t>
            </a:r>
          </a:p>
          <a:p>
            <a:r>
              <a:rPr lang="en-US" sz="2000" dirty="0"/>
              <a:t>}</a:t>
            </a:r>
          </a:p>
          <a:p>
            <a:endParaRPr lang="en-US" sz="2000" dirty="0"/>
          </a:p>
          <a:p>
            <a:r>
              <a:rPr lang="en-US" sz="2000" dirty="0" err="1"/>
              <a:t>df</a:t>
            </a:r>
            <a:r>
              <a:rPr lang="en-US" sz="2000" dirty="0"/>
              <a:t> = </a:t>
            </a:r>
            <a:r>
              <a:rPr lang="en-US" sz="2000" dirty="0" err="1"/>
              <a:t>pd.DataFrame</a:t>
            </a:r>
            <a:r>
              <a:rPr lang="en-US" sz="2000" dirty="0"/>
              <a:t>(data)</a:t>
            </a:r>
          </a:p>
          <a:p>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Storage --Example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020750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err="1"/>
              <a:t>df.to_csv</a:t>
            </a:r>
            <a:r>
              <a:rPr lang="en-US" sz="2000" dirty="0"/>
              <a:t>('data.csv', index=False)</a:t>
            </a:r>
          </a:p>
          <a:p>
            <a:endParaRPr lang="en-US" sz="2000" dirty="0" smtClean="0"/>
          </a:p>
          <a:p>
            <a:pPr marL="114300" indent="0">
              <a:buNone/>
            </a:pPr>
            <a:r>
              <a:rPr lang="en-US" sz="2000" dirty="0" smtClean="0"/>
              <a:t>Output</a:t>
            </a:r>
          </a:p>
          <a:p>
            <a:pPr marL="114300" indent="0">
              <a:buNone/>
            </a:pPr>
            <a:endParaRPr lang="en-US" sz="2000" dirty="0"/>
          </a:p>
          <a:p>
            <a:pPr marL="114300" indent="0">
              <a:buNone/>
            </a:pPr>
            <a:r>
              <a:rPr lang="en-US" sz="2000" dirty="0" err="1"/>
              <a:t>Name,Age,Gender,Salary</a:t>
            </a:r>
            <a:endParaRPr lang="en-US" sz="2000" dirty="0"/>
          </a:p>
          <a:p>
            <a:pPr marL="114300" indent="0">
              <a:buNone/>
            </a:pPr>
            <a:r>
              <a:rPr lang="en-US" sz="2000" dirty="0"/>
              <a:t>Alice,25,Female,50000</a:t>
            </a:r>
          </a:p>
          <a:p>
            <a:pPr marL="114300" indent="0">
              <a:buNone/>
            </a:pPr>
            <a:r>
              <a:rPr lang="en-US" sz="2000" dirty="0"/>
              <a:t>Bob,30,Male,60000</a:t>
            </a:r>
          </a:p>
          <a:p>
            <a:pPr marL="114300" indent="0">
              <a:buNone/>
            </a:pPr>
            <a:r>
              <a:rPr lang="en-US" sz="2000" dirty="0"/>
              <a:t>Charlie,35,Male,70000</a:t>
            </a:r>
          </a:p>
          <a:p>
            <a:pPr marL="114300" indent="0">
              <a:buNone/>
            </a:pPr>
            <a:r>
              <a:rPr lang="en-US" sz="2000" dirty="0"/>
              <a:t>David,40,Male,80000</a:t>
            </a:r>
          </a:p>
          <a:p>
            <a:pPr marL="114300" indent="0">
              <a:buNone/>
            </a:pPr>
            <a:r>
              <a:rPr lang="en-US" sz="2000" dirty="0"/>
              <a:t>Eve,45,Female,90000</a:t>
            </a:r>
          </a:p>
          <a:p>
            <a:pPr marL="114300" indent="0">
              <a:buNone/>
            </a:pPr>
            <a:endParaRPr lang="en-US" sz="20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4800" dirty="0"/>
              <a:t>Data </a:t>
            </a:r>
            <a:r>
              <a:rPr lang="en-US" sz="4800" dirty="0" smtClean="0"/>
              <a:t>Storage --Example</a:t>
            </a:r>
            <a:endParaRPr lang="en-IN" sz="45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2540726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Summarizing and computing descriptive statistics are essential tasks in data science that hold significant importance. Here are some key reasons why summarizing and computing descriptive statistics are significant in data science</a:t>
            </a:r>
            <a:r>
              <a:rPr lang="en-US" dirty="0" smtClean="0"/>
              <a:t>:</a:t>
            </a:r>
          </a:p>
          <a:p>
            <a:r>
              <a:rPr lang="en-US" dirty="0"/>
              <a:t>Data Exploration and </a:t>
            </a:r>
            <a:r>
              <a:rPr lang="en-US" dirty="0" smtClean="0"/>
              <a:t>Understanding</a:t>
            </a:r>
          </a:p>
          <a:p>
            <a:r>
              <a:rPr lang="en-US" dirty="0"/>
              <a:t>Data Cleaning and </a:t>
            </a:r>
            <a:r>
              <a:rPr lang="en-US" dirty="0" smtClean="0"/>
              <a:t>Preprocessing</a:t>
            </a:r>
          </a:p>
          <a:p>
            <a:r>
              <a:rPr lang="en-US" dirty="0"/>
              <a:t>Data </a:t>
            </a:r>
            <a:r>
              <a:rPr lang="en-US" dirty="0" smtClean="0"/>
              <a:t>Visualization</a:t>
            </a:r>
          </a:p>
          <a:p>
            <a:r>
              <a:rPr lang="en-US" dirty="0"/>
              <a:t>Data Comparison and </a:t>
            </a:r>
            <a:r>
              <a:rPr lang="en-US" dirty="0" smtClean="0"/>
              <a:t>Benchmarking</a:t>
            </a:r>
          </a:p>
          <a:p>
            <a:r>
              <a:rPr lang="en-US" dirty="0"/>
              <a:t>Feature Selection and Dimensionality </a:t>
            </a:r>
            <a:r>
              <a:rPr lang="en-US" dirty="0" smtClean="0"/>
              <a:t>Reduction</a:t>
            </a:r>
          </a:p>
          <a:p>
            <a:r>
              <a:rPr lang="en-US" dirty="0"/>
              <a:t>Model Input </a:t>
            </a:r>
            <a:r>
              <a:rPr lang="en-US" dirty="0" smtClean="0"/>
              <a:t>Preparation</a:t>
            </a:r>
          </a:p>
          <a:p>
            <a:r>
              <a:rPr lang="en-US" dirty="0"/>
              <a:t>Data-driven Decision </a:t>
            </a:r>
            <a:r>
              <a:rPr lang="en-US" dirty="0" smtClean="0"/>
              <a:t>Making</a:t>
            </a:r>
          </a:p>
          <a:p>
            <a:r>
              <a:rPr lang="en-US" dirty="0"/>
              <a:t>Communication and Reporting</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Significance -- Summarizing </a:t>
            </a:r>
            <a:r>
              <a:rPr lang="en-US" sz="3200" dirty="0"/>
              <a:t>and Computing Descriptive Statistics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5793458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2000" dirty="0"/>
              <a:t>Pandas provides a wide range of functions and methods for summarizing and computing descriptive statistics on data. Here are some commonly used techniques in pandas:</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Summarizing and Computing Descriptive Statistics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822102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Compute basic summary statistics</a:t>
            </a:r>
          </a:p>
          <a:p>
            <a:r>
              <a:rPr lang="en-US" sz="1400" dirty="0" err="1"/>
              <a:t>df.describe</a:t>
            </a:r>
            <a:r>
              <a:rPr lang="en-US" sz="1400" dirty="0"/>
              <a:t>()</a:t>
            </a:r>
          </a:p>
          <a:p>
            <a:endParaRPr lang="en-US" sz="1400" dirty="0"/>
          </a:p>
          <a:p>
            <a:r>
              <a:rPr lang="en-US" sz="1400" dirty="0"/>
              <a:t># Compute the mean of each column</a:t>
            </a:r>
          </a:p>
          <a:p>
            <a:r>
              <a:rPr lang="en-US" sz="1400" dirty="0" err="1"/>
              <a:t>df.mean</a:t>
            </a:r>
            <a:r>
              <a:rPr lang="en-US" sz="1400" dirty="0"/>
              <a:t>()</a:t>
            </a:r>
          </a:p>
          <a:p>
            <a:endParaRPr lang="en-US" sz="1400" dirty="0"/>
          </a:p>
          <a:p>
            <a:r>
              <a:rPr lang="en-US" sz="1400" dirty="0"/>
              <a:t># Compute the median of each column</a:t>
            </a:r>
          </a:p>
          <a:p>
            <a:r>
              <a:rPr lang="en-US" sz="1400" dirty="0" err="1"/>
              <a:t>df.median</a:t>
            </a:r>
            <a:r>
              <a:rPr lang="en-US" sz="1400" dirty="0"/>
              <a:t>()</a:t>
            </a:r>
          </a:p>
          <a:p>
            <a:endParaRPr lang="en-US" sz="1400" dirty="0"/>
          </a:p>
          <a:p>
            <a:r>
              <a:rPr lang="en-US" sz="1400" dirty="0"/>
              <a:t># Compute the maximum value of each column</a:t>
            </a:r>
          </a:p>
          <a:p>
            <a:r>
              <a:rPr lang="en-US" sz="1400" dirty="0" err="1"/>
              <a:t>df.max</a:t>
            </a:r>
            <a:r>
              <a:rPr lang="en-US" sz="1400" dirty="0"/>
              <a:t>()</a:t>
            </a:r>
          </a:p>
          <a:p>
            <a:endParaRPr lang="en-US" sz="1400" dirty="0"/>
          </a:p>
          <a:p>
            <a:r>
              <a:rPr lang="en-US" sz="1400" dirty="0"/>
              <a:t># Compute the minimum value of each column</a:t>
            </a:r>
          </a:p>
          <a:p>
            <a:r>
              <a:rPr lang="en-US" sz="1400" dirty="0" err="1"/>
              <a:t>df.min</a:t>
            </a:r>
            <a:r>
              <a:rPr lang="en-US" sz="1400" dirty="0"/>
              <a:t>()</a:t>
            </a:r>
          </a:p>
          <a:p>
            <a:endParaRPr lang="en-US" sz="14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Summary Statistics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8055427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Count the occurrences of each unique value in a column</a:t>
            </a:r>
          </a:p>
          <a:p>
            <a:r>
              <a:rPr lang="en-US" sz="1400" dirty="0" err="1"/>
              <a:t>df</a:t>
            </a:r>
            <a:r>
              <a:rPr lang="en-US" sz="1400" dirty="0"/>
              <a:t>['</a:t>
            </a:r>
            <a:r>
              <a:rPr lang="en-US" sz="1400" dirty="0" err="1"/>
              <a:t>column_name</a:t>
            </a:r>
            <a:r>
              <a:rPr lang="en-US" sz="1400" dirty="0"/>
              <a:t>'].</a:t>
            </a:r>
            <a:r>
              <a:rPr lang="en-US" sz="1400" dirty="0" err="1"/>
              <a:t>value_counts</a:t>
            </a:r>
            <a:r>
              <a:rPr lang="en-US" sz="1400" dirty="0"/>
              <a:t>()</a:t>
            </a:r>
          </a:p>
          <a:p>
            <a:endParaRPr lang="en-US" sz="1400" dirty="0"/>
          </a:p>
          <a:p>
            <a:r>
              <a:rPr lang="en-US" sz="1400" dirty="0"/>
              <a:t># Count the total number of non-missing values in each column</a:t>
            </a:r>
          </a:p>
          <a:p>
            <a:r>
              <a:rPr lang="en-US" sz="1400" dirty="0" err="1"/>
              <a:t>df.count</a:t>
            </a:r>
            <a:r>
              <a:rPr lang="en-US" sz="1400" dirty="0"/>
              <a:t>()</a:t>
            </a:r>
          </a:p>
          <a:p>
            <a:endParaRPr lang="en-US" sz="14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Counting Values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307478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Compute the sum of values in each column</a:t>
            </a:r>
          </a:p>
          <a:p>
            <a:r>
              <a:rPr lang="en-US" sz="1400" dirty="0" err="1"/>
              <a:t>df.sum</a:t>
            </a:r>
            <a:r>
              <a:rPr lang="en-US" sz="1400" dirty="0"/>
              <a:t>()</a:t>
            </a:r>
          </a:p>
          <a:p>
            <a:endParaRPr lang="en-US" sz="1400" dirty="0"/>
          </a:p>
          <a:p>
            <a:r>
              <a:rPr lang="en-US" sz="1400" dirty="0"/>
              <a:t># Compute the maximum value in each column</a:t>
            </a:r>
          </a:p>
          <a:p>
            <a:r>
              <a:rPr lang="en-US" sz="1400" dirty="0" err="1"/>
              <a:t>df.max</a:t>
            </a:r>
            <a:r>
              <a:rPr lang="en-US" sz="1400" dirty="0"/>
              <a:t>()</a:t>
            </a:r>
          </a:p>
          <a:p>
            <a:endParaRPr lang="en-US" sz="1400" dirty="0"/>
          </a:p>
          <a:p>
            <a:r>
              <a:rPr lang="en-US" sz="1400" dirty="0"/>
              <a:t># Compute the minimum value in each column</a:t>
            </a:r>
          </a:p>
          <a:p>
            <a:r>
              <a:rPr lang="en-US" sz="1400" dirty="0" err="1"/>
              <a:t>df.min</a:t>
            </a:r>
            <a:r>
              <a:rPr lang="en-US" sz="1400" dirty="0"/>
              <a:t>()</a:t>
            </a:r>
          </a:p>
          <a:p>
            <a:endParaRPr lang="en-US" sz="1400" dirty="0"/>
          </a:p>
          <a:p>
            <a:r>
              <a:rPr lang="en-US" sz="1400" dirty="0"/>
              <a:t># Compute the average value in each column</a:t>
            </a:r>
          </a:p>
          <a:p>
            <a:r>
              <a:rPr lang="en-US" sz="1400" dirty="0" err="1"/>
              <a:t>df.mean</a:t>
            </a:r>
            <a:r>
              <a:rPr lang="en-US" sz="1400" dirty="0"/>
              <a:t>()</a:t>
            </a:r>
          </a:p>
          <a:p>
            <a:endParaRPr lang="en-US" sz="1400" dirty="0"/>
          </a:p>
          <a:p>
            <a:r>
              <a:rPr lang="en-US" sz="1400" dirty="0"/>
              <a:t># Compute the median value in each column</a:t>
            </a:r>
          </a:p>
          <a:p>
            <a:r>
              <a:rPr lang="en-US" sz="1400" dirty="0" err="1"/>
              <a:t>df.median</a:t>
            </a:r>
            <a:r>
              <a:rPr lang="en-US" sz="1400" dirty="0"/>
              <a:t>()</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Aggregation</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3261183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Group by a column and compute the sum for each group</a:t>
            </a:r>
          </a:p>
          <a:p>
            <a:r>
              <a:rPr lang="en-US" sz="1400" dirty="0" err="1"/>
              <a:t>df.groupby</a:t>
            </a:r>
            <a:r>
              <a:rPr lang="en-US" sz="1400" dirty="0"/>
              <a:t>('</a:t>
            </a:r>
            <a:r>
              <a:rPr lang="en-US" sz="1400" dirty="0" err="1"/>
              <a:t>column_name</a:t>
            </a:r>
            <a:r>
              <a:rPr lang="en-US" sz="1400" dirty="0"/>
              <a:t>').sum()</a:t>
            </a:r>
          </a:p>
          <a:p>
            <a:endParaRPr lang="en-US" sz="1400" dirty="0"/>
          </a:p>
          <a:p>
            <a:r>
              <a:rPr lang="en-US" sz="1400" dirty="0"/>
              <a:t># Group by multiple columns and compute the mean for each group</a:t>
            </a:r>
          </a:p>
          <a:p>
            <a:r>
              <a:rPr lang="en-US" sz="1400" dirty="0" err="1"/>
              <a:t>df.groupby</a:t>
            </a:r>
            <a:r>
              <a:rPr lang="en-US" sz="1400" dirty="0"/>
              <a:t>(['column1', 'column2']).mean()</a:t>
            </a:r>
          </a:p>
          <a:p>
            <a:endParaRPr lang="en-US" sz="1400" dirty="0"/>
          </a:p>
          <a:p>
            <a:r>
              <a:rPr lang="en-US" sz="1400" dirty="0"/>
              <a:t># Apply multiple aggregation functions to each group</a:t>
            </a:r>
          </a:p>
          <a:p>
            <a:r>
              <a:rPr lang="en-US" sz="1400" dirty="0" err="1"/>
              <a:t>df.groupby</a:t>
            </a:r>
            <a:r>
              <a:rPr lang="en-US" sz="1400" dirty="0"/>
              <a:t>('</a:t>
            </a:r>
            <a:r>
              <a:rPr lang="en-US" sz="1400" dirty="0" err="1"/>
              <a:t>column_name</a:t>
            </a:r>
            <a:r>
              <a:rPr lang="en-US" sz="1400" dirty="0"/>
              <a:t>').</a:t>
            </a:r>
            <a:r>
              <a:rPr lang="en-US" sz="1400" dirty="0" err="1"/>
              <a:t>agg</a:t>
            </a:r>
            <a:r>
              <a:rPr lang="en-US" sz="1400" dirty="0"/>
              <a:t>(['mean', 'max', 'min'])</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By Operations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417550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Compute the correlation between columns</a:t>
            </a:r>
          </a:p>
          <a:p>
            <a:r>
              <a:rPr lang="en-US" sz="1400" dirty="0" err="1"/>
              <a:t>df.corr</a:t>
            </a:r>
            <a:r>
              <a:rPr lang="en-US" sz="1400" dirty="0"/>
              <a:t>()</a:t>
            </a:r>
          </a:p>
          <a:p>
            <a:endParaRPr lang="en-US" sz="1400" dirty="0"/>
          </a:p>
          <a:p>
            <a:r>
              <a:rPr lang="en-US" sz="1400" dirty="0"/>
              <a:t># Compute the covariance between columns</a:t>
            </a:r>
          </a:p>
          <a:p>
            <a:r>
              <a:rPr lang="en-US" sz="1400" dirty="0" err="1"/>
              <a:t>df.cov</a:t>
            </a:r>
            <a:r>
              <a:rPr lang="en-US" sz="1400" dirty="0"/>
              <a:t>()</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smtClean="0"/>
              <a:t>Corelation</a:t>
            </a:r>
            <a:r>
              <a:rPr lang="en-US" sz="3200" dirty="0" smtClean="0"/>
              <a:t> and Covariance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5821509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Compute the </a:t>
            </a:r>
            <a:r>
              <a:rPr lang="en-US" sz="1400" dirty="0" err="1"/>
              <a:t>quantiles</a:t>
            </a:r>
            <a:r>
              <a:rPr lang="en-US" sz="1400" dirty="0"/>
              <a:t> of a column</a:t>
            </a:r>
          </a:p>
          <a:p>
            <a:r>
              <a:rPr lang="en-US" sz="1400" dirty="0" err="1"/>
              <a:t>df</a:t>
            </a:r>
            <a:r>
              <a:rPr lang="en-US" sz="1400" dirty="0"/>
              <a:t>['</a:t>
            </a:r>
            <a:r>
              <a:rPr lang="en-US" sz="1400" dirty="0" err="1"/>
              <a:t>column_name</a:t>
            </a:r>
            <a:r>
              <a:rPr lang="en-US" sz="1400" dirty="0"/>
              <a:t>'].</a:t>
            </a:r>
            <a:r>
              <a:rPr lang="en-US" sz="1400" dirty="0" err="1"/>
              <a:t>quantile</a:t>
            </a:r>
            <a:r>
              <a:rPr lang="en-US" sz="1400" dirty="0"/>
              <a:t>([0.25, 0.5, 0.75])</a:t>
            </a:r>
          </a:p>
          <a:p>
            <a:endParaRPr lang="en-US" sz="1400" dirty="0"/>
          </a:p>
          <a:p>
            <a:r>
              <a:rPr lang="en-US" sz="1400" dirty="0"/>
              <a:t># Compute the </a:t>
            </a:r>
            <a:r>
              <a:rPr lang="en-US" sz="1400" dirty="0" err="1"/>
              <a:t>quantiles</a:t>
            </a:r>
            <a:r>
              <a:rPr lang="en-US" sz="1400" dirty="0"/>
              <a:t> of multiple columns</a:t>
            </a:r>
          </a:p>
          <a:p>
            <a:r>
              <a:rPr lang="en-US" sz="1400" dirty="0" err="1"/>
              <a:t>df</a:t>
            </a:r>
            <a:r>
              <a:rPr lang="en-US" sz="1400" dirty="0"/>
              <a:t>[['column1', 'column2']].</a:t>
            </a:r>
            <a:r>
              <a:rPr lang="en-US" sz="1400" dirty="0" err="1"/>
              <a:t>quantile</a:t>
            </a:r>
            <a:r>
              <a:rPr lang="en-US" sz="1400" dirty="0"/>
              <a:t>([0.25, 0.5, 0.75])</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smtClean="0"/>
              <a:t>Quantile</a:t>
            </a:r>
            <a:r>
              <a:rPr lang="en-US" sz="3200" dirty="0" err="1"/>
              <a:t>s</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7569764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import pandas as </a:t>
            </a:r>
            <a:r>
              <a:rPr lang="en-US" sz="1400" dirty="0" err="1"/>
              <a:t>pd</a:t>
            </a:r>
            <a:endParaRPr lang="en-US" sz="1400" dirty="0"/>
          </a:p>
          <a:p>
            <a:endParaRPr lang="en-US" sz="1400" dirty="0"/>
          </a:p>
          <a:p>
            <a:r>
              <a:rPr lang="en-US" sz="1400" dirty="0"/>
              <a:t># Create a sample </a:t>
            </a:r>
            <a:r>
              <a:rPr lang="en-US" sz="1400" dirty="0" err="1"/>
              <a:t>DataFrame</a:t>
            </a:r>
            <a:endParaRPr lang="en-US" sz="1400" dirty="0"/>
          </a:p>
          <a:p>
            <a:r>
              <a:rPr lang="en-US" sz="1400" dirty="0"/>
              <a:t>data = {'Name': ['Alice', 'Bob', 'Charlie', 'David', 'Eve</a:t>
            </a:r>
            <a:r>
              <a:rPr lang="en-US" sz="1400" dirty="0" smtClean="0"/>
              <a:t>'], 'Math</a:t>
            </a:r>
            <a:r>
              <a:rPr lang="en-US" sz="1400" dirty="0"/>
              <a:t>': [90, 82, 95, 78, 88</a:t>
            </a:r>
            <a:r>
              <a:rPr lang="en-US" sz="1400" dirty="0" smtClean="0"/>
              <a:t>], </a:t>
            </a:r>
            <a:r>
              <a:rPr lang="en-US" sz="1400" dirty="0"/>
              <a:t>'Science': [85, 79, 92, 75, 90</a:t>
            </a:r>
            <a:r>
              <a:rPr lang="en-US" sz="1400" dirty="0" smtClean="0"/>
              <a:t>],   </a:t>
            </a:r>
            <a:r>
              <a:rPr lang="en-US" sz="1400" dirty="0"/>
              <a:t>'English': [88, 85, 90, 80, 92]}</a:t>
            </a:r>
          </a:p>
          <a:p>
            <a:r>
              <a:rPr lang="en-US" sz="1400" dirty="0" err="1"/>
              <a:t>df</a:t>
            </a:r>
            <a:r>
              <a:rPr lang="en-US" sz="1400" dirty="0"/>
              <a:t> = </a:t>
            </a:r>
            <a:r>
              <a:rPr lang="en-US" sz="1400" dirty="0" err="1"/>
              <a:t>pd.DataFrame</a:t>
            </a:r>
            <a:r>
              <a:rPr lang="en-US" sz="1400" dirty="0"/>
              <a:t>(data)</a:t>
            </a:r>
          </a:p>
          <a:p>
            <a:endParaRPr lang="en-US" sz="1400" dirty="0"/>
          </a:p>
          <a:p>
            <a:r>
              <a:rPr lang="en-US" sz="1400" dirty="0"/>
              <a:t># Display the </a:t>
            </a:r>
            <a:r>
              <a:rPr lang="en-US" sz="1400" dirty="0" err="1"/>
              <a:t>DataFrame</a:t>
            </a:r>
            <a:endParaRPr lang="en-US" sz="1400" dirty="0"/>
          </a:p>
          <a:p>
            <a:r>
              <a:rPr lang="en-US" sz="1400" dirty="0"/>
              <a:t>print(</a:t>
            </a:r>
            <a:r>
              <a:rPr lang="en-US" sz="1400" dirty="0" err="1"/>
              <a:t>df</a:t>
            </a:r>
            <a:r>
              <a:rPr lang="en-US" sz="1400" dirty="0" smtClean="0"/>
              <a:t>)</a:t>
            </a:r>
          </a:p>
          <a:p>
            <a:pPr marL="114300" indent="0">
              <a:buNone/>
            </a:pPr>
            <a:r>
              <a:rPr lang="en-US" sz="1400" dirty="0" smtClean="0"/>
              <a:t>Output:</a:t>
            </a:r>
          </a:p>
          <a:p>
            <a:pPr marL="114300" indent="0">
              <a:buNone/>
            </a:pPr>
            <a:r>
              <a:rPr lang="en-US" sz="1400" dirty="0" smtClean="0"/>
              <a:t> </a:t>
            </a:r>
            <a:r>
              <a:rPr lang="en-US" sz="1400" dirty="0"/>
              <a:t>Name  Math  Science  English</a:t>
            </a:r>
          </a:p>
          <a:p>
            <a:pPr marL="114300" indent="0">
              <a:buNone/>
            </a:pPr>
            <a:r>
              <a:rPr lang="en-US" sz="1400" dirty="0"/>
              <a:t>0    Alice    90       85       88</a:t>
            </a:r>
          </a:p>
          <a:p>
            <a:pPr marL="114300" indent="0">
              <a:buNone/>
            </a:pPr>
            <a:r>
              <a:rPr lang="en-US" sz="1400" dirty="0"/>
              <a:t>1      Bob    82       79       85</a:t>
            </a:r>
          </a:p>
          <a:p>
            <a:pPr marL="114300" indent="0">
              <a:buNone/>
            </a:pPr>
            <a:r>
              <a:rPr lang="en-US" sz="1400" dirty="0"/>
              <a:t>2  Charlie    95       92       90</a:t>
            </a:r>
          </a:p>
          <a:p>
            <a:pPr marL="114300" indent="0">
              <a:buNone/>
            </a:pPr>
            <a:r>
              <a:rPr lang="en-US" sz="1400" dirty="0"/>
              <a:t>3    David    78       75       80</a:t>
            </a:r>
          </a:p>
          <a:p>
            <a:pPr marL="114300" indent="0">
              <a:buNone/>
            </a:pPr>
            <a:r>
              <a:rPr lang="en-US" sz="1400" dirty="0"/>
              <a:t>4      Eve    88       90       92</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Example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5520697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print(</a:t>
            </a:r>
            <a:r>
              <a:rPr lang="en-US" sz="1400" dirty="0" err="1"/>
              <a:t>df.describe</a:t>
            </a:r>
            <a:r>
              <a:rPr lang="en-US" sz="1400" dirty="0" smtClean="0"/>
              <a:t>())</a:t>
            </a:r>
          </a:p>
          <a:p>
            <a:pPr marL="114300" indent="0">
              <a:buNone/>
            </a:pPr>
            <a:r>
              <a:rPr lang="en-US" sz="1400" dirty="0" smtClean="0"/>
              <a:t>Output:</a:t>
            </a:r>
          </a:p>
          <a:p>
            <a:pPr marL="114300" indent="0">
              <a:buNone/>
            </a:pPr>
            <a:r>
              <a:rPr lang="en-US" sz="1400" dirty="0"/>
              <a:t> Math    Science    English</a:t>
            </a:r>
          </a:p>
          <a:p>
            <a:pPr marL="114300" indent="0">
              <a:buNone/>
            </a:pPr>
            <a:r>
              <a:rPr lang="en-US" sz="1400" dirty="0"/>
              <a:t>count   5.000000   5.000000   5.000000</a:t>
            </a:r>
          </a:p>
          <a:p>
            <a:pPr marL="114300" indent="0">
              <a:buNone/>
            </a:pPr>
            <a:r>
              <a:rPr lang="en-US" sz="1400" dirty="0"/>
              <a:t>mean   86.600000  84.200000  87.000000</a:t>
            </a:r>
          </a:p>
          <a:p>
            <a:pPr marL="114300" indent="0">
              <a:buNone/>
            </a:pPr>
            <a:r>
              <a:rPr lang="en-US" sz="1400" dirty="0" err="1"/>
              <a:t>std</a:t>
            </a:r>
            <a:r>
              <a:rPr lang="en-US" sz="1400" dirty="0"/>
              <a:t>     6.454972   6.719478   4.924429</a:t>
            </a:r>
          </a:p>
          <a:p>
            <a:pPr marL="114300" indent="0">
              <a:buNone/>
            </a:pPr>
            <a:r>
              <a:rPr lang="en-US" sz="1400" dirty="0"/>
              <a:t>min    78.000000  75.000000  80.000000</a:t>
            </a:r>
          </a:p>
          <a:p>
            <a:pPr marL="114300" indent="0">
              <a:buNone/>
            </a:pPr>
            <a:r>
              <a:rPr lang="en-US" sz="1400" dirty="0"/>
              <a:t>25%    82.000000  79.000000  85.000000</a:t>
            </a:r>
          </a:p>
          <a:p>
            <a:pPr marL="114300" indent="0">
              <a:buNone/>
            </a:pPr>
            <a:r>
              <a:rPr lang="en-US" sz="1400" dirty="0"/>
              <a:t>50%    88.000000  85.000000  88.000000</a:t>
            </a:r>
          </a:p>
          <a:p>
            <a:pPr marL="114300" indent="0">
              <a:buNone/>
            </a:pPr>
            <a:r>
              <a:rPr lang="en-US" sz="1400" dirty="0"/>
              <a:t>75%    90.000000  90.000000  90.000000</a:t>
            </a:r>
          </a:p>
          <a:p>
            <a:pPr marL="114300" indent="0">
              <a:buNone/>
            </a:pPr>
            <a:r>
              <a:rPr lang="en-US" sz="1400" dirty="0"/>
              <a:t>max    95.000000  92.000000  92.000000</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Example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970011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print(</a:t>
            </a:r>
            <a:r>
              <a:rPr lang="en-US" sz="1400" dirty="0" err="1"/>
              <a:t>df</a:t>
            </a:r>
            <a:r>
              <a:rPr lang="en-US" sz="1400" dirty="0"/>
              <a:t>['Math'].</a:t>
            </a:r>
            <a:r>
              <a:rPr lang="en-US" sz="1400" dirty="0" err="1"/>
              <a:t>value_counts</a:t>
            </a:r>
            <a:r>
              <a:rPr lang="en-US" sz="1400" dirty="0" smtClean="0"/>
              <a:t>())</a:t>
            </a:r>
          </a:p>
          <a:p>
            <a:pPr marL="114300" indent="0">
              <a:buNone/>
            </a:pPr>
            <a:endParaRPr lang="en-US" sz="1400" dirty="0" smtClean="0"/>
          </a:p>
          <a:p>
            <a:pPr marL="114300" indent="0">
              <a:buNone/>
            </a:pPr>
            <a:r>
              <a:rPr lang="en-US" sz="1400" dirty="0" smtClean="0"/>
              <a:t>Output:</a:t>
            </a:r>
            <a:endParaRPr lang="en-US" sz="1400" dirty="0"/>
          </a:p>
          <a:p>
            <a:pPr marL="114300" indent="0">
              <a:buNone/>
            </a:pPr>
            <a:endParaRPr lang="en-US" sz="1400" dirty="0" smtClean="0"/>
          </a:p>
          <a:p>
            <a:pPr marL="114300" indent="0">
              <a:buNone/>
            </a:pPr>
            <a:r>
              <a:rPr lang="en-US" sz="1400" dirty="0" smtClean="0"/>
              <a:t>88    </a:t>
            </a:r>
            <a:r>
              <a:rPr lang="en-US" sz="1400" dirty="0"/>
              <a:t>1</a:t>
            </a:r>
          </a:p>
          <a:p>
            <a:pPr marL="114300" indent="0">
              <a:buNone/>
            </a:pPr>
            <a:r>
              <a:rPr lang="en-US" sz="1400" dirty="0"/>
              <a:t>78    1</a:t>
            </a:r>
          </a:p>
          <a:p>
            <a:pPr marL="114300" indent="0">
              <a:buNone/>
            </a:pPr>
            <a:r>
              <a:rPr lang="en-US" sz="1400" dirty="0"/>
              <a:t>82    1</a:t>
            </a:r>
          </a:p>
          <a:p>
            <a:pPr marL="114300" indent="0">
              <a:buNone/>
            </a:pPr>
            <a:r>
              <a:rPr lang="en-US" sz="1400" dirty="0"/>
              <a:t>90    1</a:t>
            </a:r>
          </a:p>
          <a:p>
            <a:pPr marL="114300" indent="0">
              <a:buNone/>
            </a:pPr>
            <a:r>
              <a:rPr lang="en-US" sz="1400" dirty="0"/>
              <a:t>95    1</a:t>
            </a:r>
          </a:p>
          <a:p>
            <a:pPr marL="114300" indent="0">
              <a:buNone/>
            </a:pPr>
            <a:r>
              <a:rPr lang="en-US" sz="1400" dirty="0"/>
              <a:t>Name: Math, </a:t>
            </a:r>
            <a:r>
              <a:rPr lang="en-US" sz="1400" dirty="0" err="1"/>
              <a:t>dtype</a:t>
            </a:r>
            <a:r>
              <a:rPr lang="en-US" sz="1400" dirty="0"/>
              <a:t>: int64</a:t>
            </a:r>
          </a:p>
          <a:p>
            <a:pPr marL="114300" indent="0">
              <a:buNone/>
            </a:pPr>
            <a:endParaRPr lang="en-US" sz="14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Example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22599221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print(</a:t>
            </a:r>
            <a:r>
              <a:rPr lang="en-US" sz="1400" dirty="0" err="1"/>
              <a:t>df.sum</a:t>
            </a:r>
            <a:r>
              <a:rPr lang="en-US" sz="1400" dirty="0"/>
              <a:t>())</a:t>
            </a:r>
          </a:p>
          <a:p>
            <a:r>
              <a:rPr lang="en-US" sz="1400" dirty="0"/>
              <a:t>print(</a:t>
            </a:r>
            <a:r>
              <a:rPr lang="en-US" sz="1400" dirty="0" err="1"/>
              <a:t>df.mean</a:t>
            </a:r>
            <a:r>
              <a:rPr lang="en-US" sz="1400" dirty="0"/>
              <a:t>())</a:t>
            </a:r>
          </a:p>
          <a:p>
            <a:pPr marL="114300" indent="0">
              <a:buNone/>
            </a:pPr>
            <a:endParaRPr lang="en-US" sz="1400" dirty="0" smtClean="0"/>
          </a:p>
          <a:p>
            <a:pPr marL="114300" indent="0">
              <a:buNone/>
            </a:pPr>
            <a:r>
              <a:rPr lang="en-US" sz="1400" dirty="0" smtClean="0"/>
              <a:t>Output:</a:t>
            </a:r>
            <a:endParaRPr lang="en-US" sz="1400" dirty="0"/>
          </a:p>
          <a:p>
            <a:pPr marL="114300" indent="0">
              <a:buNone/>
            </a:pPr>
            <a:endParaRPr lang="en-US" sz="1400" dirty="0" smtClean="0"/>
          </a:p>
          <a:p>
            <a:pPr marL="114300" indent="0">
              <a:buNone/>
            </a:pPr>
            <a:r>
              <a:rPr lang="en-US" sz="1400" dirty="0"/>
              <a:t>Math       433</a:t>
            </a:r>
          </a:p>
          <a:p>
            <a:pPr marL="114300" indent="0">
              <a:buNone/>
            </a:pPr>
            <a:r>
              <a:rPr lang="en-US" sz="1400" dirty="0"/>
              <a:t>Science    421</a:t>
            </a:r>
          </a:p>
          <a:p>
            <a:pPr marL="114300" indent="0">
              <a:buNone/>
            </a:pPr>
            <a:r>
              <a:rPr lang="en-US" sz="1400" dirty="0"/>
              <a:t>English    435</a:t>
            </a:r>
          </a:p>
          <a:p>
            <a:pPr marL="114300" indent="0">
              <a:buNone/>
            </a:pPr>
            <a:r>
              <a:rPr lang="en-US" sz="1400" dirty="0" err="1"/>
              <a:t>dtype</a:t>
            </a:r>
            <a:r>
              <a:rPr lang="en-US" sz="1400" dirty="0"/>
              <a:t>: int64</a:t>
            </a:r>
          </a:p>
          <a:p>
            <a:pPr marL="114300" indent="0">
              <a:buNone/>
            </a:pPr>
            <a:r>
              <a:rPr lang="en-US" sz="1400" dirty="0"/>
              <a:t>Math       86.6</a:t>
            </a:r>
          </a:p>
          <a:p>
            <a:pPr marL="114300" indent="0">
              <a:buNone/>
            </a:pPr>
            <a:r>
              <a:rPr lang="en-US" sz="1400" dirty="0"/>
              <a:t>Science    84.2</a:t>
            </a:r>
          </a:p>
          <a:p>
            <a:pPr marL="114300" indent="0">
              <a:buNone/>
            </a:pPr>
            <a:r>
              <a:rPr lang="en-US" sz="1400" dirty="0"/>
              <a:t>English    87.0</a:t>
            </a:r>
          </a:p>
          <a:p>
            <a:pPr marL="114300" indent="0">
              <a:buNone/>
            </a:pPr>
            <a:r>
              <a:rPr lang="en-US" sz="1400" dirty="0" err="1"/>
              <a:t>dtype</a:t>
            </a:r>
            <a:r>
              <a:rPr lang="en-US" sz="1400" dirty="0"/>
              <a:t>: float64</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Example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1584101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print(</a:t>
            </a:r>
            <a:r>
              <a:rPr lang="en-US" sz="1400" dirty="0" err="1"/>
              <a:t>df.groupby</a:t>
            </a:r>
            <a:r>
              <a:rPr lang="en-US" sz="1400" dirty="0"/>
              <a:t>('Name').mean())</a:t>
            </a:r>
          </a:p>
          <a:p>
            <a:pPr marL="114300" indent="0">
              <a:buNone/>
            </a:pPr>
            <a:endParaRPr lang="en-US" sz="1400" dirty="0" smtClean="0"/>
          </a:p>
          <a:p>
            <a:pPr marL="114300" indent="0">
              <a:buNone/>
            </a:pPr>
            <a:r>
              <a:rPr lang="en-US" sz="1400" dirty="0" smtClean="0"/>
              <a:t>Output:</a:t>
            </a:r>
            <a:endParaRPr lang="en-US" sz="1400" dirty="0"/>
          </a:p>
          <a:p>
            <a:pPr marL="114300" indent="0">
              <a:buNone/>
            </a:pPr>
            <a:endParaRPr lang="en-US" sz="1400" dirty="0" smtClean="0"/>
          </a:p>
          <a:p>
            <a:pPr marL="114300" indent="0">
              <a:buNone/>
            </a:pPr>
            <a:r>
              <a:rPr lang="en-US" sz="1400" dirty="0"/>
              <a:t> Math  Science  English</a:t>
            </a:r>
          </a:p>
          <a:p>
            <a:pPr marL="114300" indent="0">
              <a:buNone/>
            </a:pPr>
            <a:r>
              <a:rPr lang="en-US" sz="1400" dirty="0"/>
              <a:t>Name                           </a:t>
            </a:r>
          </a:p>
          <a:p>
            <a:pPr marL="114300" indent="0">
              <a:buNone/>
            </a:pPr>
            <a:r>
              <a:rPr lang="en-US" sz="1400" dirty="0"/>
              <a:t>Alice      90       85       88</a:t>
            </a:r>
          </a:p>
          <a:p>
            <a:pPr marL="114300" indent="0">
              <a:buNone/>
            </a:pPr>
            <a:r>
              <a:rPr lang="en-US" sz="1400" dirty="0"/>
              <a:t>Bob        82       79       85</a:t>
            </a:r>
          </a:p>
          <a:p>
            <a:pPr marL="114300" indent="0">
              <a:buNone/>
            </a:pPr>
            <a:r>
              <a:rPr lang="en-US" sz="1400" dirty="0"/>
              <a:t>Charlie    95       92       90</a:t>
            </a:r>
          </a:p>
          <a:p>
            <a:pPr marL="114300" indent="0">
              <a:buNone/>
            </a:pPr>
            <a:r>
              <a:rPr lang="en-US" sz="1400" dirty="0"/>
              <a:t>David      78       75       80</a:t>
            </a:r>
          </a:p>
          <a:p>
            <a:pPr marL="114300" indent="0">
              <a:buNone/>
            </a:pPr>
            <a:r>
              <a:rPr lang="en-US" sz="1400" dirty="0"/>
              <a:t>Eve        88       90       92</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Example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2283449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print(</a:t>
            </a:r>
            <a:r>
              <a:rPr lang="en-US" sz="1400" dirty="0" err="1"/>
              <a:t>df.corr</a:t>
            </a:r>
            <a:r>
              <a:rPr lang="en-US" sz="1400" dirty="0"/>
              <a:t>())</a:t>
            </a:r>
          </a:p>
          <a:p>
            <a:r>
              <a:rPr lang="en-US" sz="1400" dirty="0"/>
              <a:t>print(</a:t>
            </a:r>
            <a:r>
              <a:rPr lang="en-US" sz="1400" dirty="0" err="1"/>
              <a:t>df.cov</a:t>
            </a:r>
            <a:r>
              <a:rPr lang="en-US" sz="1400" dirty="0"/>
              <a:t>())</a:t>
            </a:r>
          </a:p>
          <a:p>
            <a:pPr marL="114300" indent="0">
              <a:buNone/>
            </a:pPr>
            <a:endParaRPr lang="en-US" sz="1400" dirty="0" smtClean="0"/>
          </a:p>
          <a:p>
            <a:pPr marL="114300" indent="0">
              <a:buNone/>
            </a:pPr>
            <a:r>
              <a:rPr lang="en-US" sz="1400" dirty="0" smtClean="0"/>
              <a:t>Output:</a:t>
            </a:r>
            <a:endParaRPr lang="en-US" sz="1400" dirty="0"/>
          </a:p>
          <a:p>
            <a:pPr marL="114300" indent="0">
              <a:buNone/>
            </a:pPr>
            <a:endParaRPr lang="en-US" sz="1400" dirty="0" smtClean="0"/>
          </a:p>
          <a:p>
            <a:pPr marL="114300" indent="0">
              <a:buNone/>
            </a:pPr>
            <a:r>
              <a:rPr lang="en-US" sz="1400" dirty="0"/>
              <a:t> Math   Science   English</a:t>
            </a:r>
          </a:p>
          <a:p>
            <a:pPr marL="114300" indent="0">
              <a:buNone/>
            </a:pPr>
            <a:r>
              <a:rPr lang="en-US" sz="1400" dirty="0"/>
              <a:t>Math     1.000000  0.950251  0.976981</a:t>
            </a:r>
          </a:p>
          <a:p>
            <a:pPr marL="114300" indent="0">
              <a:buNone/>
            </a:pPr>
            <a:r>
              <a:rPr lang="en-US" sz="1400" dirty="0"/>
              <a:t>Science  0.950251  1.000000  0.944911</a:t>
            </a:r>
          </a:p>
          <a:p>
            <a:pPr marL="114300" indent="0">
              <a:buNone/>
            </a:pPr>
            <a:r>
              <a:rPr lang="en-US" sz="1400" dirty="0"/>
              <a:t>English  0.976981  0.944911  1.000000</a:t>
            </a:r>
          </a:p>
          <a:p>
            <a:pPr marL="114300" indent="0">
              <a:buNone/>
            </a:pPr>
            <a:endParaRPr lang="en-US" sz="1400" dirty="0"/>
          </a:p>
          <a:p>
            <a:pPr marL="114300" indent="0">
              <a:buNone/>
            </a:pPr>
            <a:r>
              <a:rPr lang="en-US" sz="1400" dirty="0"/>
              <a:t>            Math    Science    English</a:t>
            </a:r>
          </a:p>
          <a:p>
            <a:pPr marL="114300" indent="0">
              <a:buNone/>
            </a:pPr>
            <a:r>
              <a:rPr lang="en-US" sz="1400" dirty="0"/>
              <a:t>Math     41.700   35.50000   43.50000</a:t>
            </a:r>
          </a:p>
          <a:p>
            <a:pPr marL="114300" indent="0">
              <a:buNone/>
            </a:pPr>
            <a:r>
              <a:rPr lang="en-US" sz="1400" dirty="0"/>
              <a:t>Science  35.500   45.70000   42.90000</a:t>
            </a:r>
          </a:p>
          <a:p>
            <a:pPr marL="114300" indent="0">
              <a:buNone/>
            </a:pPr>
            <a:r>
              <a:rPr lang="en-US" sz="1400" dirty="0"/>
              <a:t>English  43.500   42.90000   24.25000</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Example</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384571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Data cleaning, also known as data cleansing or data scrubbing, is a critical step in the data science workflow. It involves identifying and correcting or removing errors, inconsistencies, and inaccuracies in the data. Here are some key reasons why data cleaning is significant in data science</a:t>
            </a:r>
            <a:r>
              <a:rPr lang="en-US" dirty="0" smtClean="0"/>
              <a:t>:</a:t>
            </a:r>
          </a:p>
          <a:p>
            <a:r>
              <a:rPr lang="en-US" dirty="0"/>
              <a:t>Data Quality </a:t>
            </a:r>
            <a:r>
              <a:rPr lang="en-US" dirty="0" smtClean="0"/>
              <a:t>Assurance</a:t>
            </a:r>
          </a:p>
          <a:p>
            <a:r>
              <a:rPr lang="en-US" dirty="0" smtClean="0"/>
              <a:t>Accurate </a:t>
            </a:r>
            <a:r>
              <a:rPr lang="en-US" dirty="0"/>
              <a:t>Analysis and </a:t>
            </a:r>
            <a:r>
              <a:rPr lang="en-US" dirty="0" smtClean="0"/>
              <a:t>Modeling</a:t>
            </a:r>
          </a:p>
          <a:p>
            <a:r>
              <a:rPr lang="en-US" dirty="0"/>
              <a:t>Consistent Data </a:t>
            </a:r>
            <a:r>
              <a:rPr lang="en-US" dirty="0" smtClean="0"/>
              <a:t>Structure</a:t>
            </a:r>
          </a:p>
          <a:p>
            <a:r>
              <a:rPr lang="en-US" dirty="0"/>
              <a:t>Handling Missing </a:t>
            </a:r>
            <a:r>
              <a:rPr lang="en-US" dirty="0" smtClean="0"/>
              <a:t>Data</a:t>
            </a:r>
          </a:p>
          <a:p>
            <a:r>
              <a:rPr lang="en-US" dirty="0"/>
              <a:t>Outlier Detection and </a:t>
            </a:r>
            <a:r>
              <a:rPr lang="en-US" dirty="0" smtClean="0"/>
              <a:t>Treatment</a:t>
            </a:r>
          </a:p>
          <a:p>
            <a:r>
              <a:rPr lang="en-US" dirty="0"/>
              <a:t>Data Security and </a:t>
            </a:r>
            <a:r>
              <a:rPr lang="en-US" dirty="0" smtClean="0"/>
              <a:t>Privacy</a:t>
            </a:r>
          </a:p>
          <a:p>
            <a:r>
              <a:rPr lang="en-US" dirty="0"/>
              <a:t>Reproducibility and </a:t>
            </a:r>
            <a:r>
              <a:rPr lang="en-US" dirty="0" smtClean="0"/>
              <a:t>Collaboration</a:t>
            </a:r>
          </a:p>
          <a:p>
            <a:r>
              <a:rPr lang="en-US" dirty="0"/>
              <a:t>Data Integration and Compatibility</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Significance – Data Cleaning</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3097178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Data cleaning using pandas involves using the various functions and methods provided by the pandas library to identify and handle common data cleaning tasks. Here are some examples of data cleaning tasks and how they can be performed using pandas</a:t>
            </a:r>
            <a:r>
              <a:rPr lang="en-US" dirty="0" smtClean="0"/>
              <a:t>:</a:t>
            </a:r>
          </a:p>
          <a:p>
            <a:pPr marL="114300" indent="0">
              <a:buNone/>
            </a:pPr>
            <a:endParaRPr lang="en-US" dirty="0" smtClean="0"/>
          </a:p>
          <a:p>
            <a:pPr marL="114300" indent="0">
              <a:buNone/>
            </a:pPr>
            <a:r>
              <a:rPr lang="en-US" dirty="0" smtClean="0"/>
              <a:t>Handling </a:t>
            </a:r>
            <a:r>
              <a:rPr lang="en-US" dirty="0"/>
              <a:t>Missing Values:</a:t>
            </a:r>
          </a:p>
          <a:p>
            <a:r>
              <a:rPr lang="en-US" dirty="0"/>
              <a:t>To check for missing values in a </a:t>
            </a:r>
            <a:r>
              <a:rPr lang="en-US" dirty="0" err="1"/>
              <a:t>DataFrame</a:t>
            </a:r>
            <a:r>
              <a:rPr lang="en-US" dirty="0" smtClean="0"/>
              <a:t>:</a:t>
            </a:r>
          </a:p>
          <a:p>
            <a:pPr marL="114300" indent="0">
              <a:buNone/>
            </a:pPr>
            <a:r>
              <a:rPr lang="en-US" dirty="0" err="1"/>
              <a:t>df.isnull</a:t>
            </a:r>
            <a:r>
              <a:rPr lang="en-US" dirty="0" smtClean="0"/>
              <a:t>()</a:t>
            </a:r>
          </a:p>
          <a:p>
            <a:pPr marL="114300" indent="0">
              <a:buNone/>
            </a:pPr>
            <a:endParaRPr lang="en-US" dirty="0" smtClean="0"/>
          </a:p>
          <a:p>
            <a:pPr marL="114300" indent="0">
              <a:buNone/>
            </a:pPr>
            <a:r>
              <a:rPr lang="en-US" dirty="0"/>
              <a:t>To drop rows or columns with missing values</a:t>
            </a:r>
            <a:r>
              <a:rPr lang="en-US" dirty="0" smtClean="0"/>
              <a:t>:</a:t>
            </a:r>
          </a:p>
          <a:p>
            <a:pPr marL="114300" indent="0">
              <a:buNone/>
            </a:pPr>
            <a:r>
              <a:rPr lang="en-US" dirty="0" err="1"/>
              <a:t>df.dropna</a:t>
            </a:r>
            <a:r>
              <a:rPr lang="en-US" dirty="0"/>
              <a:t>()  # Drops rows with any missing value</a:t>
            </a:r>
          </a:p>
          <a:p>
            <a:pPr marL="114300" indent="0">
              <a:buNone/>
            </a:pPr>
            <a:r>
              <a:rPr lang="en-US" dirty="0" err="1"/>
              <a:t>df.dropna</a:t>
            </a:r>
            <a:r>
              <a:rPr lang="en-US" dirty="0"/>
              <a:t>(axis=1)  # Drops columns with any missing value</a:t>
            </a:r>
          </a:p>
          <a:p>
            <a:pPr marL="114300" indent="0">
              <a:buNone/>
            </a:pPr>
            <a:endParaRPr lang="en-US" dirty="0"/>
          </a:p>
          <a:p>
            <a:pPr marL="114300" indent="0">
              <a:buNone/>
            </a:pPr>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Cleaning</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6994491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Data cleaning using pandas involves using the various functions and methods provided by the pandas library to identify and handle common data cleaning tasks. Here are some examples of data cleaning tasks and how they can be performed using pandas</a:t>
            </a:r>
            <a:r>
              <a:rPr lang="en-US" dirty="0" smtClean="0"/>
              <a:t>:</a:t>
            </a:r>
          </a:p>
          <a:p>
            <a:pPr marL="114300" indent="0">
              <a:buNone/>
            </a:pPr>
            <a:endParaRPr lang="en-US" dirty="0" smtClean="0"/>
          </a:p>
          <a:p>
            <a:pPr marL="114300" indent="0">
              <a:buNone/>
            </a:pPr>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Cleaning</a:t>
            </a:r>
            <a:endParaRPr lang="en-IN" sz="3200" b="1"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6105911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smtClean="0"/>
              <a:t>To </a:t>
            </a:r>
            <a:r>
              <a:rPr lang="en-US" dirty="0"/>
              <a:t>check for missing values in a </a:t>
            </a:r>
            <a:r>
              <a:rPr lang="en-US" dirty="0" err="1"/>
              <a:t>DataFrame</a:t>
            </a:r>
            <a:r>
              <a:rPr lang="en-US" dirty="0" smtClean="0"/>
              <a:t>:</a:t>
            </a:r>
          </a:p>
          <a:p>
            <a:pPr marL="114300" indent="0">
              <a:buNone/>
            </a:pPr>
            <a:r>
              <a:rPr lang="en-US" dirty="0" err="1"/>
              <a:t>df.isnull</a:t>
            </a:r>
            <a:r>
              <a:rPr lang="en-US" dirty="0" smtClean="0"/>
              <a:t>()</a:t>
            </a:r>
          </a:p>
          <a:p>
            <a:pPr marL="114300" indent="0">
              <a:buNone/>
            </a:pPr>
            <a:endParaRPr lang="en-US" dirty="0" smtClean="0"/>
          </a:p>
          <a:p>
            <a:r>
              <a:rPr lang="en-US" dirty="0"/>
              <a:t>To drop rows or columns with missing values</a:t>
            </a:r>
            <a:r>
              <a:rPr lang="en-US" dirty="0" smtClean="0"/>
              <a:t>:</a:t>
            </a:r>
          </a:p>
          <a:p>
            <a:pPr marL="114300" indent="0">
              <a:buNone/>
            </a:pPr>
            <a:r>
              <a:rPr lang="en-US" dirty="0" err="1"/>
              <a:t>df.dropna</a:t>
            </a:r>
            <a:r>
              <a:rPr lang="en-US" dirty="0"/>
              <a:t>()  # Drops rows with any missing value</a:t>
            </a:r>
          </a:p>
          <a:p>
            <a:pPr marL="114300" indent="0">
              <a:buNone/>
            </a:pPr>
            <a:r>
              <a:rPr lang="en-US" dirty="0" err="1"/>
              <a:t>df.dropna</a:t>
            </a:r>
            <a:r>
              <a:rPr lang="en-US" dirty="0"/>
              <a:t>(axis=1)  # Drops columns with any missing </a:t>
            </a:r>
            <a:r>
              <a:rPr lang="en-US" dirty="0" smtClean="0"/>
              <a:t>value</a:t>
            </a:r>
          </a:p>
          <a:p>
            <a:pPr marL="114300" indent="0">
              <a:buNone/>
            </a:pPr>
            <a:endParaRPr lang="en-US" dirty="0"/>
          </a:p>
          <a:p>
            <a:pPr marL="114300" indent="0">
              <a:buNone/>
            </a:pPr>
            <a:r>
              <a:rPr lang="en-US" dirty="0"/>
              <a:t>To fill missing values with a specific value or strategy:</a:t>
            </a:r>
          </a:p>
          <a:p>
            <a:pPr marL="114300" indent="0">
              <a:buNone/>
            </a:pPr>
            <a:r>
              <a:rPr lang="en-US" dirty="0" err="1"/>
              <a:t>df.fillna</a:t>
            </a:r>
            <a:r>
              <a:rPr lang="en-US" dirty="0"/>
              <a:t>(value)  # Fill missing values with a specific value</a:t>
            </a:r>
          </a:p>
          <a:p>
            <a:pPr marL="114300" indent="0">
              <a:buNone/>
            </a:pPr>
            <a:r>
              <a:rPr lang="en-US" dirty="0" err="1"/>
              <a:t>df.fillna</a:t>
            </a:r>
            <a:r>
              <a:rPr lang="en-US" dirty="0"/>
              <a:t>(</a:t>
            </a:r>
            <a:r>
              <a:rPr lang="en-US" dirty="0" err="1"/>
              <a:t>df.mean</a:t>
            </a:r>
            <a:r>
              <a:rPr lang="en-US" dirty="0"/>
              <a:t>())  # Fill missing values with the column mean</a:t>
            </a:r>
          </a:p>
          <a:p>
            <a:pPr marL="114300" indent="0">
              <a:buNone/>
            </a:pPr>
            <a:endParaRPr lang="en-US" dirty="0"/>
          </a:p>
          <a:p>
            <a:pPr marL="114300" indent="0">
              <a:buNone/>
            </a:pPr>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Handling </a:t>
            </a:r>
            <a:r>
              <a:rPr lang="en-US" sz="3200" dirty="0"/>
              <a:t>Missing Values</a:t>
            </a:r>
            <a:r>
              <a:rPr lang="en-US" sz="3200" dirty="0" smtClean="0"/>
              <a:t>:</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27387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To check for duplicate rows in a </a:t>
            </a:r>
            <a:r>
              <a:rPr lang="en-US" dirty="0" err="1"/>
              <a:t>DataFrame</a:t>
            </a:r>
            <a:r>
              <a:rPr lang="en-US" dirty="0" smtClean="0"/>
              <a:t>:</a:t>
            </a:r>
          </a:p>
          <a:p>
            <a:pPr marL="114300" indent="0">
              <a:buNone/>
            </a:pPr>
            <a:r>
              <a:rPr lang="en-US" dirty="0" err="1"/>
              <a:t>df.duplicated</a:t>
            </a:r>
            <a:r>
              <a:rPr lang="en-US" dirty="0" smtClean="0"/>
              <a:t>()</a:t>
            </a:r>
          </a:p>
          <a:p>
            <a:pPr marL="114300" indent="0">
              <a:buNone/>
            </a:pPr>
            <a:endParaRPr lang="en-US" dirty="0"/>
          </a:p>
          <a:p>
            <a:r>
              <a:rPr lang="en-US" dirty="0"/>
              <a:t>To drop duplicate rows</a:t>
            </a:r>
            <a:r>
              <a:rPr lang="en-US" dirty="0" smtClean="0"/>
              <a:t>:</a:t>
            </a:r>
          </a:p>
          <a:p>
            <a:pPr marL="114300" indent="0">
              <a:buNone/>
            </a:pPr>
            <a:r>
              <a:rPr lang="en-US" dirty="0" err="1"/>
              <a:t>df.drop_duplicates</a:t>
            </a:r>
            <a:r>
              <a:rPr lang="en-US" dirty="0"/>
              <a:t>()</a:t>
            </a:r>
          </a:p>
          <a:p>
            <a:pPr marL="114300" indent="0">
              <a:buNone/>
            </a:pPr>
            <a:endParaRPr lang="en-US" dirty="0" smtClean="0"/>
          </a:p>
          <a:p>
            <a:endParaRPr lang="en-US" dirty="0"/>
          </a:p>
          <a:p>
            <a:pPr marL="114300" indent="0">
              <a:buNone/>
            </a:pPr>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a:t>
            </a:r>
            <a:r>
              <a:rPr lang="en-US" sz="3200" dirty="0"/>
              <a:t>Handling Duplicate Values:</a:t>
            </a:r>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0060235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smtClean="0"/>
              <a:t>To </a:t>
            </a:r>
            <a:r>
              <a:rPr lang="en-US" dirty="0"/>
              <a:t>identify and remove outliers using z-score:</a:t>
            </a:r>
          </a:p>
          <a:p>
            <a:pPr marL="114300" indent="0">
              <a:buNone/>
            </a:pPr>
            <a:r>
              <a:rPr lang="en-US" dirty="0"/>
              <a:t>from </a:t>
            </a:r>
            <a:r>
              <a:rPr lang="en-US" dirty="0" err="1"/>
              <a:t>scipy</a:t>
            </a:r>
            <a:r>
              <a:rPr lang="en-US" dirty="0"/>
              <a:t> import stats</a:t>
            </a:r>
          </a:p>
          <a:p>
            <a:pPr marL="114300" indent="0">
              <a:buNone/>
            </a:pPr>
            <a:r>
              <a:rPr lang="en-US" dirty="0" err="1" smtClean="0"/>
              <a:t>z_scores</a:t>
            </a:r>
            <a:r>
              <a:rPr lang="en-US" dirty="0" smtClean="0"/>
              <a:t> </a:t>
            </a:r>
            <a:r>
              <a:rPr lang="en-US" dirty="0"/>
              <a:t>= </a:t>
            </a:r>
            <a:r>
              <a:rPr lang="en-US" dirty="0" err="1"/>
              <a:t>stats.zscore</a:t>
            </a:r>
            <a:r>
              <a:rPr lang="en-US" dirty="0"/>
              <a:t>(</a:t>
            </a:r>
            <a:r>
              <a:rPr lang="en-US" dirty="0" err="1"/>
              <a:t>df</a:t>
            </a:r>
            <a:r>
              <a:rPr lang="en-US" dirty="0"/>
              <a:t>['column'])</a:t>
            </a:r>
          </a:p>
          <a:p>
            <a:pPr marL="114300" indent="0">
              <a:buNone/>
            </a:pPr>
            <a:r>
              <a:rPr lang="en-US" dirty="0"/>
              <a:t>threshold = 3</a:t>
            </a:r>
          </a:p>
          <a:p>
            <a:pPr marL="114300" indent="0">
              <a:buNone/>
            </a:pPr>
            <a:r>
              <a:rPr lang="en-US" dirty="0" err="1"/>
              <a:t>df</a:t>
            </a:r>
            <a:r>
              <a:rPr lang="en-US" dirty="0"/>
              <a:t> = </a:t>
            </a:r>
            <a:r>
              <a:rPr lang="en-US" dirty="0" err="1"/>
              <a:t>df</a:t>
            </a:r>
            <a:r>
              <a:rPr lang="en-US" dirty="0"/>
              <a:t>[(</a:t>
            </a:r>
            <a:r>
              <a:rPr lang="en-US" dirty="0" err="1"/>
              <a:t>z_scores</a:t>
            </a:r>
            <a:r>
              <a:rPr lang="en-US" dirty="0"/>
              <a:t> &lt; threshold)]</a:t>
            </a:r>
          </a:p>
          <a:p>
            <a:pPr marL="114300" indent="0">
              <a:buNone/>
            </a:pPr>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a:t>
            </a:r>
            <a:r>
              <a:rPr lang="en-US" sz="3200" dirty="0"/>
              <a:t>Handling Outliers:</a:t>
            </a:r>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3863572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smtClean="0"/>
              <a:t>To </a:t>
            </a:r>
            <a:r>
              <a:rPr lang="en-US" dirty="0"/>
              <a:t>convert a column to a specific data type</a:t>
            </a:r>
            <a:r>
              <a:rPr lang="en-US" dirty="0" smtClean="0"/>
              <a:t>:</a:t>
            </a:r>
          </a:p>
          <a:p>
            <a:endParaRPr lang="en-US" dirty="0"/>
          </a:p>
          <a:p>
            <a:pPr marL="114300" indent="0">
              <a:buNone/>
            </a:pPr>
            <a:r>
              <a:rPr lang="en-US" dirty="0" err="1"/>
              <a:t>df</a:t>
            </a:r>
            <a:r>
              <a:rPr lang="en-US" dirty="0"/>
              <a:t>['column'] = </a:t>
            </a:r>
            <a:r>
              <a:rPr lang="en-US" dirty="0" err="1"/>
              <a:t>df</a:t>
            </a:r>
            <a:r>
              <a:rPr lang="en-US" dirty="0"/>
              <a:t>['column'].</a:t>
            </a:r>
            <a:r>
              <a:rPr lang="en-US" dirty="0" err="1"/>
              <a:t>astype</a:t>
            </a:r>
            <a:r>
              <a:rPr lang="en-US" dirty="0"/>
              <a:t>('</a:t>
            </a:r>
            <a:r>
              <a:rPr lang="en-US" dirty="0" err="1"/>
              <a:t>int</a:t>
            </a:r>
            <a:r>
              <a:rPr lang="en-US" dirty="0"/>
              <a:t>')  # Convert to integer type</a:t>
            </a:r>
          </a:p>
          <a:p>
            <a:pPr marL="114300" indent="0">
              <a:buNone/>
            </a:pPr>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a:t>
            </a:r>
            <a:r>
              <a:rPr lang="en-US" sz="3200" dirty="0" err="1" smtClean="0"/>
              <a:t>Datatype</a:t>
            </a:r>
            <a:r>
              <a:rPr lang="en-US" sz="3200" dirty="0" smtClean="0"/>
              <a:t> Conversion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17064140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To replace values based on a condition</a:t>
            </a:r>
            <a:r>
              <a:rPr lang="en-US" dirty="0" smtClean="0"/>
              <a:t>:</a:t>
            </a:r>
          </a:p>
          <a:p>
            <a:pPr marL="114300" indent="0">
              <a:buNone/>
            </a:pPr>
            <a:r>
              <a:rPr lang="en-US" dirty="0" err="1"/>
              <a:t>df.loc</a:t>
            </a:r>
            <a:r>
              <a:rPr lang="en-US" dirty="0"/>
              <a:t>[</a:t>
            </a:r>
            <a:r>
              <a:rPr lang="en-US" dirty="0" err="1"/>
              <a:t>df</a:t>
            </a:r>
            <a:r>
              <a:rPr lang="en-US" dirty="0"/>
              <a:t>['column'] == '</a:t>
            </a:r>
            <a:r>
              <a:rPr lang="en-US" dirty="0" err="1"/>
              <a:t>old_value</a:t>
            </a:r>
            <a:r>
              <a:rPr lang="en-US" dirty="0"/>
              <a:t>', 'column'] = '</a:t>
            </a:r>
            <a:r>
              <a:rPr lang="en-US" dirty="0" err="1"/>
              <a:t>new_value</a:t>
            </a:r>
            <a:r>
              <a:rPr lang="en-US" dirty="0"/>
              <a:t>'</a:t>
            </a:r>
          </a:p>
          <a:p>
            <a:pPr marL="114300" indent="0">
              <a:buNone/>
            </a:pPr>
            <a:endParaRPr lang="en-US" dirty="0" smtClean="0"/>
          </a:p>
          <a:p>
            <a:r>
              <a:rPr lang="en-US" dirty="0"/>
              <a:t>To standardize text data by converting to lowercase</a:t>
            </a:r>
            <a:r>
              <a:rPr lang="en-US" dirty="0" smtClean="0"/>
              <a:t>:</a:t>
            </a:r>
          </a:p>
          <a:p>
            <a:pPr marL="114300" indent="0">
              <a:buNone/>
            </a:pPr>
            <a:r>
              <a:rPr lang="en-US" dirty="0" err="1"/>
              <a:t>df</a:t>
            </a:r>
            <a:r>
              <a:rPr lang="en-US" dirty="0"/>
              <a:t>['column'] = </a:t>
            </a:r>
            <a:r>
              <a:rPr lang="en-US" dirty="0" err="1"/>
              <a:t>df</a:t>
            </a:r>
            <a:r>
              <a:rPr lang="en-US" dirty="0"/>
              <a:t>['column'].</a:t>
            </a:r>
            <a:r>
              <a:rPr lang="en-US" dirty="0" err="1"/>
              <a:t>str.lower</a:t>
            </a:r>
            <a:r>
              <a:rPr lang="en-US" dirty="0" smtClean="0"/>
              <a:t>()</a:t>
            </a:r>
          </a:p>
          <a:p>
            <a:pPr marL="114300" indent="0">
              <a:buNone/>
            </a:pPr>
            <a:endParaRPr lang="en-US" dirty="0"/>
          </a:p>
          <a:p>
            <a:pPr marL="114300" indent="0">
              <a:buNone/>
            </a:pPr>
            <a:endParaRPr lang="en-US" dirty="0"/>
          </a:p>
          <a:p>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a:t>
            </a:r>
            <a:r>
              <a:rPr lang="en-US" sz="3200" dirty="0"/>
              <a:t>Handling Inconsistent Data:</a:t>
            </a:r>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2002613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dirty="0"/>
              <a:t>To remove leading or trailing whitespace from string columns</a:t>
            </a:r>
            <a:r>
              <a:rPr lang="en-US" dirty="0" smtClean="0"/>
              <a:t>:</a:t>
            </a:r>
          </a:p>
          <a:p>
            <a:pPr marL="114300" indent="0">
              <a:buNone/>
            </a:pPr>
            <a:r>
              <a:rPr lang="en-US" dirty="0" err="1"/>
              <a:t>df</a:t>
            </a:r>
            <a:r>
              <a:rPr lang="en-US" dirty="0"/>
              <a:t>['column'] = </a:t>
            </a:r>
            <a:r>
              <a:rPr lang="en-US" dirty="0" err="1"/>
              <a:t>df</a:t>
            </a:r>
            <a:r>
              <a:rPr lang="en-US" dirty="0"/>
              <a:t>['column'].</a:t>
            </a:r>
            <a:r>
              <a:rPr lang="en-US" dirty="0" err="1"/>
              <a:t>str.strip</a:t>
            </a:r>
            <a:r>
              <a:rPr lang="en-US" dirty="0" smtClean="0"/>
              <a:t>()</a:t>
            </a:r>
          </a:p>
          <a:p>
            <a:pPr marL="114300" indent="0">
              <a:buNone/>
            </a:pPr>
            <a:endParaRPr lang="en-US" dirty="0"/>
          </a:p>
          <a:p>
            <a:r>
              <a:rPr lang="en-US" dirty="0"/>
              <a:t>To remove special characters or specific patterns from string columns using regular expressions</a:t>
            </a:r>
            <a:r>
              <a:rPr lang="en-US" dirty="0" smtClean="0"/>
              <a:t>:</a:t>
            </a:r>
          </a:p>
          <a:p>
            <a:pPr marL="114300" indent="0">
              <a:buNone/>
            </a:pPr>
            <a:r>
              <a:rPr lang="en-US" dirty="0"/>
              <a:t>import re</a:t>
            </a:r>
          </a:p>
          <a:p>
            <a:pPr marL="114300" indent="0">
              <a:buNone/>
            </a:pPr>
            <a:endParaRPr lang="en-US" dirty="0"/>
          </a:p>
          <a:p>
            <a:pPr marL="114300" indent="0">
              <a:buNone/>
            </a:pPr>
            <a:r>
              <a:rPr lang="en-US" dirty="0" err="1"/>
              <a:t>df</a:t>
            </a:r>
            <a:r>
              <a:rPr lang="en-US" dirty="0"/>
              <a:t>['column'] = </a:t>
            </a:r>
            <a:r>
              <a:rPr lang="en-US" dirty="0" err="1"/>
              <a:t>df</a:t>
            </a:r>
            <a:r>
              <a:rPr lang="en-US" dirty="0"/>
              <a:t>['column'].</a:t>
            </a:r>
            <a:r>
              <a:rPr lang="en-US" dirty="0" err="1"/>
              <a:t>str.replace</a:t>
            </a:r>
            <a:r>
              <a:rPr lang="en-US" dirty="0" smtClean="0">
                <a:latin typeface="Times New Roman" panose="02020603050405020304" pitchFamily="18" charset="0"/>
                <a:cs typeface="Times New Roman" panose="02020603050405020304" pitchFamily="18" charset="0"/>
              </a:rPr>
              <a:t>('[^\w\s</a:t>
            </a:r>
            <a:r>
              <a:rPr lang="en-US" dirty="0"/>
              <a:t>]', '')</a:t>
            </a:r>
          </a:p>
          <a:p>
            <a:pPr marL="114300" indent="0">
              <a:buNone/>
            </a:pPr>
            <a:endParaRPr lang="en-US" dirty="0"/>
          </a:p>
          <a:p>
            <a:endParaRPr lang="en-US"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a:t>
            </a:r>
            <a:r>
              <a:rPr lang="en-US" sz="3200" dirty="0"/>
              <a:t>Handling Text Cleaning</a:t>
            </a:r>
            <a:r>
              <a:rPr lang="en-US" sz="3200" dirty="0" smtClean="0"/>
              <a:t>:</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28711984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300" dirty="0"/>
              <a:t>import pandas as </a:t>
            </a:r>
            <a:r>
              <a:rPr lang="en-US" sz="1300" dirty="0" err="1"/>
              <a:t>pd</a:t>
            </a:r>
            <a:endParaRPr lang="en-US" sz="1300" dirty="0"/>
          </a:p>
          <a:p>
            <a:r>
              <a:rPr lang="en-US" sz="1300" dirty="0" smtClean="0"/>
              <a:t># </a:t>
            </a:r>
            <a:r>
              <a:rPr lang="en-US" sz="1300" dirty="0"/>
              <a:t>Create a sample </a:t>
            </a:r>
            <a:r>
              <a:rPr lang="en-US" sz="1300" dirty="0" err="1"/>
              <a:t>DataFrame</a:t>
            </a:r>
            <a:endParaRPr lang="en-US" sz="1300" dirty="0"/>
          </a:p>
          <a:p>
            <a:r>
              <a:rPr lang="en-US" sz="1300" dirty="0"/>
              <a:t>data = </a:t>
            </a:r>
            <a:r>
              <a:rPr lang="en-US" sz="1300" dirty="0" smtClean="0"/>
              <a:t>{    </a:t>
            </a:r>
            <a:r>
              <a:rPr lang="en-US" sz="1300" dirty="0"/>
              <a:t>'Name': ['John', 'Alice', 'Bob', 'Jane', 'Mike</a:t>
            </a:r>
            <a:r>
              <a:rPr lang="en-US" sz="1300" dirty="0" smtClean="0"/>
              <a:t>'],   </a:t>
            </a:r>
            <a:r>
              <a:rPr lang="en-US" sz="1300" dirty="0"/>
              <a:t>'Age': [25, 28, None, 32, 40</a:t>
            </a:r>
            <a:r>
              <a:rPr lang="en-US" sz="1300" dirty="0" smtClean="0"/>
              <a:t>],   </a:t>
            </a:r>
            <a:r>
              <a:rPr lang="en-US" sz="1300" dirty="0"/>
              <a:t>'Salary': [50000, 60000, 20000, 80000, 120000</a:t>
            </a:r>
            <a:r>
              <a:rPr lang="en-US" sz="1300" dirty="0" smtClean="0"/>
              <a:t>]}</a:t>
            </a:r>
            <a:endParaRPr lang="en-US" sz="1300" dirty="0"/>
          </a:p>
          <a:p>
            <a:r>
              <a:rPr lang="en-US" sz="1300" dirty="0" err="1" smtClean="0"/>
              <a:t>df</a:t>
            </a:r>
            <a:r>
              <a:rPr lang="en-US" sz="1300" dirty="0" smtClean="0"/>
              <a:t> </a:t>
            </a:r>
            <a:r>
              <a:rPr lang="en-US" sz="1300" dirty="0"/>
              <a:t>= </a:t>
            </a:r>
            <a:r>
              <a:rPr lang="en-US" sz="1300" dirty="0" err="1"/>
              <a:t>pd.DataFrame</a:t>
            </a:r>
            <a:r>
              <a:rPr lang="en-US" sz="1300" dirty="0"/>
              <a:t>(data)</a:t>
            </a:r>
          </a:p>
          <a:p>
            <a:r>
              <a:rPr lang="en-US" sz="1300" dirty="0" smtClean="0"/>
              <a:t># </a:t>
            </a:r>
            <a:r>
              <a:rPr lang="en-US" sz="1300" dirty="0"/>
              <a:t>Check for missing values</a:t>
            </a:r>
          </a:p>
          <a:p>
            <a:r>
              <a:rPr lang="en-US" sz="1300" dirty="0"/>
              <a:t>print(</a:t>
            </a:r>
            <a:r>
              <a:rPr lang="en-US" sz="1300" dirty="0" err="1"/>
              <a:t>df.isnull</a:t>
            </a:r>
            <a:r>
              <a:rPr lang="en-US" sz="1300" dirty="0"/>
              <a:t>())</a:t>
            </a:r>
          </a:p>
          <a:p>
            <a:r>
              <a:rPr lang="en-US" sz="1300" dirty="0" smtClean="0"/>
              <a:t># </a:t>
            </a:r>
            <a:r>
              <a:rPr lang="en-US" sz="1300" dirty="0"/>
              <a:t>Drop rows with missing values</a:t>
            </a:r>
          </a:p>
          <a:p>
            <a:r>
              <a:rPr lang="en-US" sz="1300" dirty="0" err="1"/>
              <a:t>df.dropna</a:t>
            </a:r>
            <a:r>
              <a:rPr lang="en-US" sz="1300" dirty="0"/>
              <a:t>(</a:t>
            </a:r>
            <a:r>
              <a:rPr lang="en-US" sz="1300" dirty="0" err="1"/>
              <a:t>inplace</a:t>
            </a:r>
            <a:r>
              <a:rPr lang="en-US" sz="1300" dirty="0"/>
              <a:t>=True)</a:t>
            </a:r>
          </a:p>
          <a:p>
            <a:r>
              <a:rPr lang="en-US" sz="1300" dirty="0" smtClean="0"/>
              <a:t># </a:t>
            </a:r>
            <a:r>
              <a:rPr lang="en-US" sz="1300" dirty="0"/>
              <a:t>Identify and remove outliers in the 'Salary' column using z-score</a:t>
            </a:r>
          </a:p>
          <a:p>
            <a:r>
              <a:rPr lang="en-US" sz="1300" dirty="0"/>
              <a:t>from </a:t>
            </a:r>
            <a:r>
              <a:rPr lang="en-US" sz="1300" dirty="0" err="1"/>
              <a:t>scipy</a:t>
            </a:r>
            <a:r>
              <a:rPr lang="en-US" sz="1300" dirty="0"/>
              <a:t> import stats</a:t>
            </a:r>
          </a:p>
          <a:p>
            <a:r>
              <a:rPr lang="en-US" sz="1300" dirty="0" err="1"/>
              <a:t>df</a:t>
            </a:r>
            <a:r>
              <a:rPr lang="en-US" sz="1300" dirty="0"/>
              <a:t> = </a:t>
            </a:r>
            <a:r>
              <a:rPr lang="en-US" sz="1300" dirty="0" err="1"/>
              <a:t>df</a:t>
            </a:r>
            <a:r>
              <a:rPr lang="en-US" sz="1300" dirty="0"/>
              <a:t>[(</a:t>
            </a:r>
            <a:r>
              <a:rPr lang="en-US" sz="1300" dirty="0" err="1"/>
              <a:t>np.abs</a:t>
            </a:r>
            <a:r>
              <a:rPr lang="en-US" sz="1300" dirty="0"/>
              <a:t>(</a:t>
            </a:r>
            <a:r>
              <a:rPr lang="en-US" sz="1300" dirty="0" err="1"/>
              <a:t>stats.zscore</a:t>
            </a:r>
            <a:r>
              <a:rPr lang="en-US" sz="1300" dirty="0"/>
              <a:t>(</a:t>
            </a:r>
            <a:r>
              <a:rPr lang="en-US" sz="1300" dirty="0" err="1"/>
              <a:t>df</a:t>
            </a:r>
            <a:r>
              <a:rPr lang="en-US" sz="1300" dirty="0"/>
              <a:t>['Salary'])) &lt; 3)]</a:t>
            </a:r>
          </a:p>
          <a:p>
            <a:r>
              <a:rPr lang="en-US" sz="1300" dirty="0" smtClean="0"/>
              <a:t># </a:t>
            </a:r>
            <a:r>
              <a:rPr lang="en-US" sz="1300" dirty="0"/>
              <a:t>Convert 'Age' column to integer type</a:t>
            </a:r>
          </a:p>
          <a:p>
            <a:r>
              <a:rPr lang="en-US" sz="1300" dirty="0" err="1"/>
              <a:t>df</a:t>
            </a:r>
            <a:r>
              <a:rPr lang="en-US" sz="1300" dirty="0"/>
              <a:t>['Age'] = </a:t>
            </a:r>
            <a:r>
              <a:rPr lang="en-US" sz="1300" dirty="0" err="1"/>
              <a:t>df</a:t>
            </a:r>
            <a:r>
              <a:rPr lang="en-US" sz="1300" dirty="0"/>
              <a:t>['Age'].</a:t>
            </a:r>
            <a:r>
              <a:rPr lang="en-US" sz="1300" dirty="0" err="1"/>
              <a:t>astype</a:t>
            </a:r>
            <a:r>
              <a:rPr lang="en-US" sz="1300" dirty="0"/>
              <a:t>(</a:t>
            </a:r>
            <a:r>
              <a:rPr lang="en-US" sz="1300" dirty="0" err="1"/>
              <a:t>int</a:t>
            </a:r>
            <a:r>
              <a:rPr lang="en-US" sz="1300" dirty="0"/>
              <a:t>)</a:t>
            </a:r>
          </a:p>
          <a:p>
            <a:r>
              <a:rPr lang="en-US" sz="1300" dirty="0" smtClean="0"/>
              <a:t> # </a:t>
            </a:r>
            <a:r>
              <a:rPr lang="en-US" sz="1300" dirty="0"/>
              <a:t>Print the cleaned </a:t>
            </a:r>
            <a:r>
              <a:rPr lang="en-US" sz="1300" dirty="0" err="1"/>
              <a:t>DataFrame</a:t>
            </a:r>
            <a:endParaRPr lang="en-US" sz="1300" dirty="0"/>
          </a:p>
          <a:p>
            <a:r>
              <a:rPr lang="en-US" sz="1300" dirty="0"/>
              <a:t>print(</a:t>
            </a:r>
            <a:r>
              <a:rPr lang="en-US" sz="1300" dirty="0" err="1"/>
              <a:t>df</a:t>
            </a:r>
            <a:r>
              <a:rPr lang="en-US" sz="1300" dirty="0"/>
              <a:t>)</a:t>
            </a:r>
          </a:p>
          <a:p>
            <a:pPr marL="114300" indent="0">
              <a:buNone/>
            </a:pPr>
            <a:endParaRPr lang="en-US" sz="1300" dirty="0"/>
          </a:p>
          <a:p>
            <a:endParaRPr lang="en-US" sz="13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Example</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7380839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300" dirty="0" smtClean="0"/>
              <a:t>Output </a:t>
            </a:r>
          </a:p>
          <a:p>
            <a:endParaRPr lang="en-US" sz="1300" dirty="0"/>
          </a:p>
          <a:p>
            <a:r>
              <a:rPr lang="en-US" sz="1300" dirty="0"/>
              <a:t> Name  Age  Salary</a:t>
            </a:r>
          </a:p>
          <a:p>
            <a:r>
              <a:rPr lang="en-US" sz="1300" dirty="0"/>
              <a:t>0   John   25   50000</a:t>
            </a:r>
          </a:p>
          <a:p>
            <a:r>
              <a:rPr lang="en-US" sz="1300" dirty="0"/>
              <a:t>1  Alice   28   60000</a:t>
            </a:r>
          </a:p>
          <a:p>
            <a:r>
              <a:rPr lang="en-US" sz="1300" dirty="0"/>
              <a:t>3   Jane   32   80000</a:t>
            </a:r>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Cleaning -- Example</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42488978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725" y="734816"/>
            <a:ext cx="9143999" cy="3354000"/>
          </a:xfrm>
        </p:spPr>
        <p:txBody>
          <a:bodyPr>
            <a:noAutofit/>
          </a:bodyPr>
          <a:lstStyle/>
          <a:p>
            <a:r>
              <a:rPr lang="en-US" sz="1400" dirty="0"/>
              <a:t>Data preparation is a crucial step in the data science workflow, and its significance cannot be overstated. It involves transforming raw data into a clean, organized, and suitable format that can be used for analysis and modeling. Here are some key reasons why data preparation is essential in data science</a:t>
            </a:r>
            <a:r>
              <a:rPr lang="en-US" sz="1400" dirty="0" smtClean="0"/>
              <a:t>:</a:t>
            </a:r>
          </a:p>
          <a:p>
            <a:r>
              <a:rPr lang="en-US" sz="1400" dirty="0"/>
              <a:t>Data </a:t>
            </a:r>
            <a:r>
              <a:rPr lang="en-US" sz="1400" dirty="0" smtClean="0"/>
              <a:t>Quality</a:t>
            </a:r>
          </a:p>
          <a:p>
            <a:r>
              <a:rPr lang="en-US" sz="1400" dirty="0"/>
              <a:t>Feature </a:t>
            </a:r>
            <a:r>
              <a:rPr lang="en-US" sz="1400" dirty="0" smtClean="0"/>
              <a:t>Engineering</a:t>
            </a:r>
          </a:p>
          <a:p>
            <a:r>
              <a:rPr lang="en-US" sz="1400" dirty="0"/>
              <a:t>Data </a:t>
            </a:r>
            <a:r>
              <a:rPr lang="en-US" sz="1400" dirty="0" smtClean="0"/>
              <a:t>Integration</a:t>
            </a:r>
          </a:p>
          <a:p>
            <a:r>
              <a:rPr lang="en-US" sz="1400" dirty="0"/>
              <a:t>Data Normalization and </a:t>
            </a:r>
            <a:r>
              <a:rPr lang="en-US" sz="1400" dirty="0" smtClean="0"/>
              <a:t>Scaling</a:t>
            </a:r>
          </a:p>
          <a:p>
            <a:r>
              <a:rPr lang="en-US" sz="1400" dirty="0"/>
              <a:t>Handling Categorical </a:t>
            </a:r>
            <a:r>
              <a:rPr lang="en-US" sz="1400" dirty="0" smtClean="0"/>
              <a:t>Variables</a:t>
            </a:r>
          </a:p>
          <a:p>
            <a:r>
              <a:rPr lang="en-US" sz="1400" dirty="0"/>
              <a:t>Data </a:t>
            </a:r>
            <a:r>
              <a:rPr lang="en-US" sz="1400" dirty="0" smtClean="0"/>
              <a:t>Reduction</a:t>
            </a:r>
          </a:p>
          <a:p>
            <a:r>
              <a:rPr lang="en-US" sz="1400" dirty="0"/>
              <a:t>Outlier Detection and </a:t>
            </a:r>
            <a:r>
              <a:rPr lang="en-US" sz="1400" dirty="0" smtClean="0"/>
              <a:t>Treatment</a:t>
            </a:r>
            <a:endParaRPr lang="en-US" sz="1400" dirty="0"/>
          </a:p>
          <a:p>
            <a:r>
              <a:rPr lang="en-US" sz="1400" dirty="0"/>
              <a:t>Reproducibility and Documentation</a:t>
            </a:r>
            <a:endParaRPr lang="en-US" sz="1300" dirty="0"/>
          </a:p>
        </p:txBody>
      </p:sp>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Significance -- Data Preparation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Tree>
    <p:extLst>
      <p:ext uri="{BB962C8B-B14F-4D97-AF65-F5344CB8AC3E}">
        <p14:creationId xmlns:p14="http://schemas.microsoft.com/office/powerpoint/2010/main" val="327749282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05765"/>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Preparation</a:t>
            </a:r>
            <a:endParaRPr lang="en-US" sz="3200" dirty="0"/>
          </a:p>
        </p:txBody>
      </p:sp>
      <p:sp>
        <p:nvSpPr>
          <p:cNvPr id="40" name="Rectangle 39"/>
          <p:cNvSpPr/>
          <p:nvPr/>
        </p:nvSpPr>
        <p:spPr bwMode="auto">
          <a:xfrm>
            <a:off x="3084022" y="42949"/>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2"/>
          <p:cNvSpPr>
            <a:spLocks noGrp="1" noChangeArrowheads="1"/>
          </p:cNvSpPr>
          <p:nvPr>
            <p:ph idx="1"/>
          </p:nvPr>
        </p:nvSpPr>
        <p:spPr bwMode="auto">
          <a:xfrm>
            <a:off x="17725" y="685431"/>
            <a:ext cx="7788804" cy="1785619"/>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200" b="0" i="0" u="none" strike="noStrike" cap="none" normalizeH="0" baseline="0" dirty="0" smtClean="0">
                <a:ln>
                  <a:noFill/>
                </a:ln>
                <a:solidFill>
                  <a:srgbClr val="374151"/>
                </a:solidFill>
                <a:effectLst/>
                <a:latin typeface="Söhne"/>
              </a:rPr>
              <a:t>Importing Data: Pandas allows you to read data from various file formats such as CSV, Excel, SQL databases, and more. You can use the </a:t>
            </a:r>
            <a:r>
              <a:rPr kumimoji="0" lang="en-US" b="1" i="0" u="none" strike="noStrike" cap="none" normalizeH="0" baseline="0" dirty="0" err="1" smtClean="0">
                <a:ln>
                  <a:noFill/>
                </a:ln>
                <a:solidFill>
                  <a:srgbClr val="374151"/>
                </a:solidFill>
                <a:effectLst/>
                <a:latin typeface="Söhne Mono"/>
              </a:rPr>
              <a:t>read_csv</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err="1" smtClean="0">
                <a:ln>
                  <a:noFill/>
                </a:ln>
                <a:solidFill>
                  <a:srgbClr val="374151"/>
                </a:solidFill>
                <a:effectLst/>
                <a:latin typeface="Söhne Mono"/>
              </a:rPr>
              <a:t>read_excel</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err="1" smtClean="0">
                <a:ln>
                  <a:noFill/>
                </a:ln>
                <a:solidFill>
                  <a:srgbClr val="374151"/>
                </a:solidFill>
                <a:effectLst/>
                <a:latin typeface="Söhne Mono"/>
              </a:rPr>
              <a:t>read_sql</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functions to import data into a Pandas </a:t>
            </a:r>
            <a:r>
              <a:rPr kumimoji="0" lang="en-US" sz="1200" b="0" i="0" u="none" strike="noStrike" cap="none" normalizeH="0" baseline="0" dirty="0" err="1" smtClean="0">
                <a:ln>
                  <a:noFill/>
                </a:ln>
                <a:solidFill>
                  <a:srgbClr val="374151"/>
                </a:solidFill>
                <a:effectLst/>
                <a:latin typeface="Söhne"/>
              </a:rPr>
              <a:t>DataFrame</a:t>
            </a:r>
            <a:r>
              <a:rPr kumimoji="0" lang="en-U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AutoNum type="arabicPeriod"/>
              <a:tabLst/>
            </a:pPr>
            <a:endParaRPr kumimoji="0" lang="en-US" sz="1200" b="0" i="0" u="none" strike="noStrike" cap="none" normalizeH="0" baseline="0" dirty="0" smtClean="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4" name="Rectangle 8"/>
          <p:cNvSpPr>
            <a:spLocks noChangeArrowheads="1"/>
          </p:cNvSpPr>
          <p:nvPr/>
        </p:nvSpPr>
        <p:spPr bwMode="auto">
          <a:xfrm>
            <a:off x="17725" y="1902667"/>
            <a:ext cx="7806529" cy="1539398"/>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200" b="0" i="0" u="none" strike="noStrike" cap="none" normalizeH="0" baseline="0" dirty="0" smtClean="0">
                <a:ln>
                  <a:noFill/>
                </a:ln>
                <a:solidFill>
                  <a:srgbClr val="374151"/>
                </a:solidFill>
                <a:effectLst/>
                <a:latin typeface="Söhne"/>
              </a:rPr>
              <a:t>Handling Missing Values: Missing values are a common issue in datasets. Pandas provides methods to handle missing data, such as </a:t>
            </a:r>
            <a:r>
              <a:rPr kumimoji="0" lang="en-US" b="1" i="0" u="none" strike="noStrike" cap="none" normalizeH="0" baseline="0" dirty="0" err="1" smtClean="0">
                <a:ln>
                  <a:noFill/>
                </a:ln>
                <a:solidFill>
                  <a:srgbClr val="374151"/>
                </a:solidFill>
                <a:effectLst/>
                <a:latin typeface="Söhne Mono"/>
              </a:rPr>
              <a:t>isna</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err="1" smtClean="0">
                <a:ln>
                  <a:noFill/>
                </a:ln>
                <a:solidFill>
                  <a:srgbClr val="374151"/>
                </a:solidFill>
                <a:effectLst/>
                <a:latin typeface="Söhne Mono"/>
              </a:rPr>
              <a:t>fillna</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and </a:t>
            </a:r>
            <a:r>
              <a:rPr kumimoji="0" lang="en-US" b="1" i="0" u="none" strike="noStrike" cap="none" normalizeH="0" baseline="0" dirty="0" err="1" smtClean="0">
                <a:ln>
                  <a:noFill/>
                </a:ln>
                <a:solidFill>
                  <a:srgbClr val="374151"/>
                </a:solidFill>
                <a:effectLst/>
                <a:latin typeface="Söhne Mono"/>
              </a:rPr>
              <a:t>dropna</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You can use these methods to identify missing values, fill them with appropriate values, or drop rows or columns with missing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5" name="Rectangle 14"/>
          <p:cNvSpPr/>
          <p:nvPr/>
        </p:nvSpPr>
        <p:spPr>
          <a:xfrm>
            <a:off x="0" y="3015034"/>
            <a:ext cx="4572000" cy="1815882"/>
          </a:xfrm>
          <a:prstGeom prst="rect">
            <a:avLst/>
          </a:prstGeom>
        </p:spPr>
        <p:txBody>
          <a:bodyPr>
            <a:spAutoFit/>
          </a:bodyPr>
          <a:lstStyle/>
          <a:p>
            <a:r>
              <a:rPr lang="en-US" dirty="0"/>
              <a:t># Check for missing values</a:t>
            </a:r>
          </a:p>
          <a:p>
            <a:r>
              <a:rPr lang="en-US" dirty="0" err="1"/>
              <a:t>df.isna</a:t>
            </a:r>
            <a:r>
              <a:rPr lang="en-US" dirty="0"/>
              <a:t>()</a:t>
            </a:r>
          </a:p>
          <a:p>
            <a:endParaRPr lang="en-US" dirty="0"/>
          </a:p>
          <a:p>
            <a:r>
              <a:rPr lang="en-US" dirty="0"/>
              <a:t># Fill missing values with a specific value</a:t>
            </a:r>
          </a:p>
          <a:p>
            <a:r>
              <a:rPr lang="en-US" dirty="0" err="1"/>
              <a:t>df.fillna</a:t>
            </a:r>
            <a:r>
              <a:rPr lang="en-US" dirty="0"/>
              <a:t>(0)</a:t>
            </a:r>
          </a:p>
          <a:p>
            <a:endParaRPr lang="en-US" dirty="0"/>
          </a:p>
          <a:p>
            <a:r>
              <a:rPr lang="en-US" dirty="0"/>
              <a:t># Drop rows with missing values</a:t>
            </a:r>
          </a:p>
          <a:p>
            <a:r>
              <a:rPr lang="en-US" dirty="0" err="1"/>
              <a:t>df.dropna</a:t>
            </a:r>
            <a:r>
              <a:rPr lang="en-US" dirty="0"/>
              <a:t>()</a:t>
            </a:r>
          </a:p>
        </p:txBody>
      </p:sp>
    </p:spTree>
    <p:extLst>
      <p:ext uri="{BB962C8B-B14F-4D97-AF65-F5344CB8AC3E}">
        <p14:creationId xmlns:p14="http://schemas.microsoft.com/office/powerpoint/2010/main" val="32772205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Preparation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9" name="Rectangle 3"/>
          <p:cNvSpPr>
            <a:spLocks noGrp="1" noChangeArrowheads="1"/>
          </p:cNvSpPr>
          <p:nvPr>
            <p:ph idx="1"/>
          </p:nvPr>
        </p:nvSpPr>
        <p:spPr bwMode="auto">
          <a:xfrm>
            <a:off x="17725" y="777764"/>
            <a:ext cx="7924008" cy="1600953"/>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200" b="0" i="0" u="none" strike="noStrike" cap="none" normalizeH="0" baseline="0" dirty="0" smtClean="0">
                <a:ln>
                  <a:noFill/>
                </a:ln>
                <a:solidFill>
                  <a:srgbClr val="374151"/>
                </a:solidFill>
                <a:effectLst/>
                <a:latin typeface="Söhne"/>
              </a:rPr>
              <a:t>Data Cleaning: Pandas offers powerful functions for cleaning and transforming data. You can use methods like </a:t>
            </a:r>
            <a:r>
              <a:rPr kumimoji="0" lang="en-US" b="1" i="0" u="none" strike="noStrike" cap="none" normalizeH="0" baseline="0" dirty="0" smtClean="0">
                <a:ln>
                  <a:noFill/>
                </a:ln>
                <a:solidFill>
                  <a:srgbClr val="374151"/>
                </a:solidFill>
                <a:effectLst/>
                <a:latin typeface="Söhne Mono"/>
              </a:rPr>
              <a:t>replace()</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smtClean="0">
                <a:ln>
                  <a:noFill/>
                </a:ln>
                <a:solidFill>
                  <a:srgbClr val="374151"/>
                </a:solidFill>
                <a:effectLst/>
                <a:latin typeface="Söhne Mono"/>
              </a:rPr>
              <a:t>strip()</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smtClean="0">
                <a:ln>
                  <a:noFill/>
                </a:ln>
                <a:solidFill>
                  <a:srgbClr val="374151"/>
                </a:solidFill>
                <a:effectLst/>
                <a:latin typeface="Söhne Mono"/>
              </a:rPr>
              <a:t>lower()</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smtClean="0">
                <a:ln>
                  <a:noFill/>
                </a:ln>
                <a:solidFill>
                  <a:srgbClr val="374151"/>
                </a:solidFill>
                <a:effectLst/>
                <a:latin typeface="Söhne Mono"/>
              </a:rPr>
              <a:t>upper()</a:t>
            </a:r>
            <a:r>
              <a:rPr kumimoji="0" lang="en-US" sz="1200" b="0" i="0" u="none" strike="noStrike" cap="none" normalizeH="0" baseline="0" dirty="0" smtClean="0">
                <a:ln>
                  <a:noFill/>
                </a:ln>
                <a:solidFill>
                  <a:srgbClr val="374151"/>
                </a:solidFill>
                <a:effectLst/>
                <a:latin typeface="Söhne"/>
              </a:rPr>
              <a:t>, and regular expressions (</a:t>
            </a:r>
            <a:r>
              <a:rPr kumimoji="0" lang="en-US" b="1" i="0" u="none" strike="noStrike" cap="none" normalizeH="0" baseline="0" dirty="0" err="1" smtClean="0">
                <a:ln>
                  <a:noFill/>
                </a:ln>
                <a:solidFill>
                  <a:srgbClr val="374151"/>
                </a:solidFill>
                <a:effectLst/>
                <a:latin typeface="Söhne Mono"/>
              </a:rPr>
              <a:t>str.replace</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to clean and standardize the data.</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13" name="Rectangle 12"/>
          <p:cNvSpPr/>
          <p:nvPr/>
        </p:nvSpPr>
        <p:spPr>
          <a:xfrm>
            <a:off x="-1" y="2020322"/>
            <a:ext cx="4572000" cy="2677656"/>
          </a:xfrm>
          <a:prstGeom prst="rect">
            <a:avLst/>
          </a:prstGeom>
        </p:spPr>
        <p:txBody>
          <a:bodyPr>
            <a:spAutoFit/>
          </a:bodyPr>
          <a:lstStyle/>
          <a:p>
            <a:r>
              <a:rPr lang="en-US" dirty="0"/>
              <a:t># Replace values</a:t>
            </a:r>
          </a:p>
          <a:p>
            <a:r>
              <a:rPr lang="en-US" dirty="0" err="1"/>
              <a:t>df.replace</a:t>
            </a:r>
            <a:r>
              <a:rPr lang="en-US" dirty="0"/>
              <a:t>('</a:t>
            </a:r>
            <a:r>
              <a:rPr lang="en-US" dirty="0" err="1"/>
              <a:t>old_value</a:t>
            </a:r>
            <a:r>
              <a:rPr lang="en-US" dirty="0"/>
              <a:t>', '</a:t>
            </a:r>
            <a:r>
              <a:rPr lang="en-US" dirty="0" err="1"/>
              <a:t>new_value</a:t>
            </a:r>
            <a:r>
              <a:rPr lang="en-US" dirty="0"/>
              <a:t>')</a:t>
            </a:r>
          </a:p>
          <a:p>
            <a:endParaRPr lang="en-US" dirty="0"/>
          </a:p>
          <a:p>
            <a:r>
              <a:rPr lang="en-US" dirty="0"/>
              <a:t># Strip leading and trailing whitespace</a:t>
            </a:r>
          </a:p>
          <a:p>
            <a:r>
              <a:rPr lang="en-US" dirty="0" err="1"/>
              <a:t>df</a:t>
            </a:r>
            <a:r>
              <a:rPr lang="en-US" dirty="0"/>
              <a:t>['</a:t>
            </a:r>
            <a:r>
              <a:rPr lang="en-US" dirty="0" err="1"/>
              <a:t>column_name</a:t>
            </a:r>
            <a:r>
              <a:rPr lang="en-US" dirty="0"/>
              <a:t>'].</a:t>
            </a:r>
            <a:r>
              <a:rPr lang="en-US" dirty="0" err="1"/>
              <a:t>str.strip</a:t>
            </a:r>
            <a:r>
              <a:rPr lang="en-US" dirty="0"/>
              <a:t>()</a:t>
            </a:r>
          </a:p>
          <a:p>
            <a:endParaRPr lang="en-US" dirty="0"/>
          </a:p>
          <a:p>
            <a:r>
              <a:rPr lang="en-US" dirty="0"/>
              <a:t># Convert string to lowercase</a:t>
            </a:r>
          </a:p>
          <a:p>
            <a:r>
              <a:rPr lang="en-US" dirty="0" err="1"/>
              <a:t>df</a:t>
            </a:r>
            <a:r>
              <a:rPr lang="en-US" dirty="0"/>
              <a:t>['</a:t>
            </a:r>
            <a:r>
              <a:rPr lang="en-US" dirty="0" err="1"/>
              <a:t>column_name</a:t>
            </a:r>
            <a:r>
              <a:rPr lang="en-US" dirty="0"/>
              <a:t>'].</a:t>
            </a:r>
            <a:r>
              <a:rPr lang="en-US" dirty="0" err="1"/>
              <a:t>str.lower</a:t>
            </a:r>
            <a:r>
              <a:rPr lang="en-US" dirty="0"/>
              <a:t>()</a:t>
            </a:r>
          </a:p>
          <a:p>
            <a:endParaRPr lang="en-US" dirty="0"/>
          </a:p>
          <a:p>
            <a:r>
              <a:rPr lang="en-US" dirty="0"/>
              <a:t># Apply regular expression to replace values</a:t>
            </a:r>
          </a:p>
          <a:p>
            <a:r>
              <a:rPr lang="en-US" dirty="0" err="1"/>
              <a:t>df</a:t>
            </a:r>
            <a:r>
              <a:rPr lang="en-US" dirty="0"/>
              <a:t>['</a:t>
            </a:r>
            <a:r>
              <a:rPr lang="en-US" dirty="0" err="1"/>
              <a:t>column_name</a:t>
            </a:r>
            <a:r>
              <a:rPr lang="en-US" dirty="0"/>
              <a:t>'] = </a:t>
            </a:r>
            <a:r>
              <a:rPr lang="en-US" dirty="0" err="1"/>
              <a:t>df</a:t>
            </a:r>
            <a:r>
              <a:rPr lang="en-US" dirty="0"/>
              <a:t>['</a:t>
            </a:r>
            <a:r>
              <a:rPr lang="en-US" dirty="0" err="1"/>
              <a:t>column_name</a:t>
            </a:r>
            <a:r>
              <a:rPr lang="en-US" dirty="0"/>
              <a:t>'].</a:t>
            </a:r>
            <a:r>
              <a:rPr lang="en-US" dirty="0" err="1"/>
              <a:t>str.replace</a:t>
            </a:r>
            <a:r>
              <a:rPr lang="en-US" dirty="0"/>
              <a:t>(r'\D', '')</a:t>
            </a:r>
          </a:p>
        </p:txBody>
      </p:sp>
    </p:spTree>
    <p:extLst>
      <p:ext uri="{BB962C8B-B14F-4D97-AF65-F5344CB8AC3E}">
        <p14:creationId xmlns:p14="http://schemas.microsoft.com/office/powerpoint/2010/main" val="34136667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Preparation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2"/>
          <p:cNvSpPr>
            <a:spLocks noChangeArrowheads="1"/>
          </p:cNvSpPr>
          <p:nvPr/>
        </p:nvSpPr>
        <p:spPr bwMode="auto">
          <a:xfrm>
            <a:off x="17725" y="797906"/>
            <a:ext cx="6891075" cy="1539398"/>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200" b="0" i="0" u="none" strike="noStrike" cap="none" normalizeH="0" baseline="0" dirty="0" smtClean="0">
                <a:ln>
                  <a:noFill/>
                </a:ln>
                <a:solidFill>
                  <a:srgbClr val="374151"/>
                </a:solidFill>
                <a:effectLst/>
                <a:latin typeface="Söhne"/>
              </a:rPr>
              <a:t>Data Filtering and Selection: Pandas provides flexible methods to filter and select data based on specific conditions. You can use </a:t>
            </a:r>
            <a:r>
              <a:rPr kumimoji="0" lang="en-US" sz="1200" b="0" i="0" u="none" strike="noStrike" cap="none" normalizeH="0" baseline="0" dirty="0" err="1" smtClean="0">
                <a:ln>
                  <a:noFill/>
                </a:ln>
                <a:solidFill>
                  <a:srgbClr val="374151"/>
                </a:solidFill>
                <a:effectLst/>
                <a:latin typeface="Söhne"/>
              </a:rPr>
              <a:t>boolean</a:t>
            </a:r>
            <a:r>
              <a:rPr kumimoji="0" lang="en-US" sz="1200" b="0" i="0" u="none" strike="noStrike" cap="none" normalizeH="0" baseline="0" dirty="0" smtClean="0">
                <a:ln>
                  <a:noFill/>
                </a:ln>
                <a:solidFill>
                  <a:srgbClr val="374151"/>
                </a:solidFill>
                <a:effectLst/>
                <a:latin typeface="Söhne"/>
              </a:rPr>
              <a:t> indexing or the </a:t>
            </a:r>
            <a:r>
              <a:rPr kumimoji="0" lang="en-US" b="1" i="0" u="none" strike="noStrike" cap="none" normalizeH="0" baseline="0" dirty="0" smtClean="0">
                <a:ln>
                  <a:noFill/>
                </a:ln>
                <a:solidFill>
                  <a:srgbClr val="374151"/>
                </a:solidFill>
                <a:effectLst/>
                <a:latin typeface="Söhne Mono"/>
              </a:rPr>
              <a:t>query()</a:t>
            </a:r>
            <a:r>
              <a:rPr kumimoji="0" lang="en-US" sz="1200" b="0" i="0" u="none" strike="noStrike" cap="none" normalizeH="0" baseline="0" dirty="0" smtClean="0">
                <a:ln>
                  <a:noFill/>
                </a:ln>
                <a:solidFill>
                  <a:srgbClr val="374151"/>
                </a:solidFill>
                <a:effectLst/>
                <a:latin typeface="Söhne"/>
              </a:rPr>
              <a:t> method to filter rows based on column values.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p:nvPr/>
        </p:nvSpPr>
        <p:spPr>
          <a:xfrm>
            <a:off x="287865" y="2294924"/>
            <a:ext cx="6223001" cy="1815882"/>
          </a:xfrm>
          <a:prstGeom prst="rect">
            <a:avLst/>
          </a:prstGeom>
        </p:spPr>
        <p:txBody>
          <a:bodyPr wrap="square">
            <a:spAutoFit/>
          </a:bodyPr>
          <a:lstStyle/>
          <a:p>
            <a:r>
              <a:rPr lang="en-US" dirty="0"/>
              <a:t># Filter rows based on a condition</a:t>
            </a:r>
          </a:p>
          <a:p>
            <a:r>
              <a:rPr lang="en-US" dirty="0" err="1"/>
              <a:t>filtered_df</a:t>
            </a:r>
            <a:r>
              <a:rPr lang="en-US" dirty="0"/>
              <a:t> = </a:t>
            </a:r>
            <a:r>
              <a:rPr lang="en-US" dirty="0" err="1"/>
              <a:t>df</a:t>
            </a:r>
            <a:r>
              <a:rPr lang="en-US" dirty="0"/>
              <a:t>[</a:t>
            </a:r>
            <a:r>
              <a:rPr lang="en-US" dirty="0" err="1"/>
              <a:t>df</a:t>
            </a:r>
            <a:r>
              <a:rPr lang="en-US" dirty="0"/>
              <a:t>['</a:t>
            </a:r>
            <a:r>
              <a:rPr lang="en-US" dirty="0" err="1"/>
              <a:t>column_name</a:t>
            </a:r>
            <a:r>
              <a:rPr lang="en-US" dirty="0"/>
              <a:t>'] &gt; 10]</a:t>
            </a:r>
          </a:p>
          <a:p>
            <a:endParaRPr lang="en-US" dirty="0"/>
          </a:p>
          <a:p>
            <a:r>
              <a:rPr lang="en-US" dirty="0"/>
              <a:t># Filter rows using query method</a:t>
            </a:r>
          </a:p>
          <a:p>
            <a:r>
              <a:rPr lang="en-US" dirty="0" err="1"/>
              <a:t>filtered_df</a:t>
            </a:r>
            <a:r>
              <a:rPr lang="en-US" dirty="0"/>
              <a:t> = </a:t>
            </a:r>
            <a:r>
              <a:rPr lang="en-US" dirty="0" err="1"/>
              <a:t>df.query</a:t>
            </a:r>
            <a:r>
              <a:rPr lang="en-US" dirty="0"/>
              <a:t>('</a:t>
            </a:r>
            <a:r>
              <a:rPr lang="en-US" dirty="0" err="1"/>
              <a:t>column_name</a:t>
            </a:r>
            <a:r>
              <a:rPr lang="en-US" dirty="0"/>
              <a:t> &gt; 10')</a:t>
            </a:r>
          </a:p>
          <a:p>
            <a:endParaRPr lang="en-US" dirty="0"/>
          </a:p>
          <a:p>
            <a:r>
              <a:rPr lang="en-US" dirty="0"/>
              <a:t># Select specific columns</a:t>
            </a:r>
          </a:p>
          <a:p>
            <a:r>
              <a:rPr lang="en-US" dirty="0" err="1"/>
              <a:t>selected_columns</a:t>
            </a:r>
            <a:r>
              <a:rPr lang="en-US" dirty="0"/>
              <a:t> = </a:t>
            </a:r>
            <a:r>
              <a:rPr lang="en-US" dirty="0" err="1"/>
              <a:t>df</a:t>
            </a:r>
            <a:r>
              <a:rPr lang="en-US" dirty="0"/>
              <a:t>[['column_name1', 'column_name2']]</a:t>
            </a:r>
          </a:p>
        </p:txBody>
      </p:sp>
    </p:spTree>
    <p:extLst>
      <p:ext uri="{BB962C8B-B14F-4D97-AF65-F5344CB8AC3E}">
        <p14:creationId xmlns:p14="http://schemas.microsoft.com/office/powerpoint/2010/main" val="407550323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Preparation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a:spLocks noChangeArrowheads="1"/>
          </p:cNvSpPr>
          <p:nvPr/>
        </p:nvSpPr>
        <p:spPr bwMode="auto">
          <a:xfrm>
            <a:off x="153191" y="854708"/>
            <a:ext cx="7407541" cy="1570175"/>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1200" b="0" i="0" u="none" strike="noStrike" cap="none" normalizeH="0" baseline="0" dirty="0" smtClean="0">
                <a:ln>
                  <a:noFill/>
                </a:ln>
                <a:solidFill>
                  <a:srgbClr val="374151"/>
                </a:solidFill>
                <a:effectLst/>
                <a:latin typeface="Söhne"/>
              </a:rPr>
              <a:t>Data Transformation: Pandas allows you to transform data by adding new columns, applying mathematical operations, or grouping data. You can use the </a:t>
            </a:r>
            <a:r>
              <a:rPr kumimoji="0" lang="en-US" b="1" i="0" u="none" strike="noStrike" cap="none" normalizeH="0" baseline="0" dirty="0" smtClean="0">
                <a:ln>
                  <a:noFill/>
                </a:ln>
                <a:solidFill>
                  <a:srgbClr val="374151"/>
                </a:solidFill>
                <a:effectLst/>
                <a:latin typeface="Söhne Mono"/>
              </a:rPr>
              <a:t>assign()</a:t>
            </a:r>
            <a:r>
              <a:rPr kumimoji="0" lang="en-US" sz="1200" b="0" i="0" u="none" strike="noStrike" cap="none" normalizeH="0" baseline="0" dirty="0" smtClean="0">
                <a:ln>
                  <a:noFill/>
                </a:ln>
                <a:solidFill>
                  <a:srgbClr val="374151"/>
                </a:solidFill>
                <a:effectLst/>
                <a:latin typeface="Söhne"/>
              </a:rPr>
              <a:t> method, mathematical operations (</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or </a:t>
            </a:r>
            <a:r>
              <a:rPr kumimoji="0" lang="en-US" b="1" i="0" u="none" strike="noStrike" cap="none" normalizeH="0" baseline="0" dirty="0" err="1" smtClean="0">
                <a:ln>
                  <a:noFill/>
                </a:ln>
                <a:solidFill>
                  <a:srgbClr val="374151"/>
                </a:solidFill>
                <a:effectLst/>
                <a:latin typeface="Söhne Mono"/>
              </a:rPr>
              <a:t>groupby</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 to perform transformations.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2"/>
          <p:cNvSpPr/>
          <p:nvPr/>
        </p:nvSpPr>
        <p:spPr>
          <a:xfrm>
            <a:off x="153191" y="2424883"/>
            <a:ext cx="4572000" cy="2031325"/>
          </a:xfrm>
          <a:prstGeom prst="rect">
            <a:avLst/>
          </a:prstGeom>
        </p:spPr>
        <p:txBody>
          <a:bodyPr>
            <a:spAutoFit/>
          </a:bodyPr>
          <a:lstStyle/>
          <a:p>
            <a:r>
              <a:rPr lang="en-US" dirty="0"/>
              <a:t># Add a new column</a:t>
            </a:r>
          </a:p>
          <a:p>
            <a:r>
              <a:rPr lang="en-US" dirty="0" err="1"/>
              <a:t>df</a:t>
            </a:r>
            <a:r>
              <a:rPr lang="en-US" dirty="0"/>
              <a:t>['</a:t>
            </a:r>
            <a:r>
              <a:rPr lang="en-US" dirty="0" err="1"/>
              <a:t>new_column</a:t>
            </a:r>
            <a:r>
              <a:rPr lang="en-US" dirty="0"/>
              <a:t>'] = </a:t>
            </a:r>
            <a:r>
              <a:rPr lang="en-US" dirty="0" err="1"/>
              <a:t>df</a:t>
            </a:r>
            <a:r>
              <a:rPr lang="en-US" dirty="0"/>
              <a:t>['column1'] + </a:t>
            </a:r>
            <a:r>
              <a:rPr lang="en-US" dirty="0" err="1"/>
              <a:t>df</a:t>
            </a:r>
            <a:r>
              <a:rPr lang="en-US" dirty="0"/>
              <a:t>['column2']</a:t>
            </a:r>
          </a:p>
          <a:p>
            <a:endParaRPr lang="en-US" dirty="0"/>
          </a:p>
          <a:p>
            <a:r>
              <a:rPr lang="en-US" dirty="0"/>
              <a:t># Apply a mathematical operation to a column</a:t>
            </a:r>
          </a:p>
          <a:p>
            <a:r>
              <a:rPr lang="en-US" dirty="0" err="1"/>
              <a:t>df</a:t>
            </a:r>
            <a:r>
              <a:rPr lang="en-US" dirty="0"/>
              <a:t>['column'] = </a:t>
            </a:r>
            <a:r>
              <a:rPr lang="en-US" dirty="0" err="1"/>
              <a:t>df</a:t>
            </a:r>
            <a:r>
              <a:rPr lang="en-US" dirty="0"/>
              <a:t>['column'] * 2</a:t>
            </a:r>
          </a:p>
          <a:p>
            <a:endParaRPr lang="en-US" dirty="0"/>
          </a:p>
          <a:p>
            <a:r>
              <a:rPr lang="en-US" dirty="0"/>
              <a:t># Group data by a column and calculate aggregate statistics</a:t>
            </a:r>
          </a:p>
          <a:p>
            <a:r>
              <a:rPr lang="en-US" dirty="0" err="1"/>
              <a:t>grouped_df</a:t>
            </a:r>
            <a:r>
              <a:rPr lang="en-US" dirty="0"/>
              <a:t> = </a:t>
            </a:r>
            <a:r>
              <a:rPr lang="en-US" dirty="0" err="1"/>
              <a:t>df.groupby</a:t>
            </a:r>
            <a:r>
              <a:rPr lang="en-US" dirty="0"/>
              <a:t>('</a:t>
            </a:r>
            <a:r>
              <a:rPr lang="en-US" dirty="0" err="1"/>
              <a:t>column_name</a:t>
            </a:r>
            <a:r>
              <a:rPr lang="en-US" dirty="0"/>
              <a:t>').mean()</a:t>
            </a:r>
          </a:p>
        </p:txBody>
      </p:sp>
    </p:spTree>
    <p:extLst>
      <p:ext uri="{BB962C8B-B14F-4D97-AF65-F5344CB8AC3E}">
        <p14:creationId xmlns:p14="http://schemas.microsoft.com/office/powerpoint/2010/main" val="19167060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Preparation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1"/>
          <p:cNvSpPr>
            <a:spLocks noChangeArrowheads="1"/>
          </p:cNvSpPr>
          <p:nvPr/>
        </p:nvSpPr>
        <p:spPr bwMode="auto">
          <a:xfrm>
            <a:off x="17725" y="766830"/>
            <a:ext cx="6493142" cy="1539398"/>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sz="1200" b="0" i="0" u="none" strike="noStrike" cap="none" normalizeH="0" baseline="0" smtClean="0">
                <a:ln>
                  <a:noFill/>
                </a:ln>
                <a:solidFill>
                  <a:srgbClr val="374151"/>
                </a:solidFill>
                <a:effectLst/>
                <a:latin typeface="Söhne"/>
              </a:rPr>
              <a:t>Handling Categorical Data: Pandas provides methods to handle categorical variables. You can use </a:t>
            </a:r>
            <a:r>
              <a:rPr kumimoji="0" lang="en-US" b="1" i="0" u="none" strike="noStrike" cap="none" normalizeH="0" baseline="0" smtClean="0">
                <a:ln>
                  <a:noFill/>
                </a:ln>
                <a:solidFill>
                  <a:srgbClr val="374151"/>
                </a:solidFill>
                <a:effectLst/>
                <a:latin typeface="Söhne Mono"/>
              </a:rPr>
              <a:t>get_dummies()</a:t>
            </a:r>
            <a:r>
              <a:rPr kumimoji="0" lang="en-US" sz="1200" b="0" i="0" u="none" strike="noStrike" cap="none" normalizeH="0" baseline="0" smtClean="0">
                <a:ln>
                  <a:noFill/>
                </a:ln>
                <a:solidFill>
                  <a:srgbClr val="374151"/>
                </a:solidFill>
                <a:effectLst/>
                <a:latin typeface="Söhne"/>
              </a:rPr>
              <a:t> for one-hot encoding or </a:t>
            </a:r>
            <a:r>
              <a:rPr kumimoji="0" lang="en-US" b="1" i="0" u="none" strike="noStrike" cap="none" normalizeH="0" baseline="0" smtClean="0">
                <a:ln>
                  <a:noFill/>
                </a:ln>
                <a:solidFill>
                  <a:srgbClr val="374151"/>
                </a:solidFill>
                <a:effectLst/>
                <a:latin typeface="Söhne Mono"/>
              </a:rPr>
              <a:t>astype()</a:t>
            </a:r>
            <a:r>
              <a:rPr kumimoji="0" lang="en-US" sz="1200" b="0" i="0" u="none" strike="noStrike" cap="none" normalizeH="0" baseline="0" smtClean="0">
                <a:ln>
                  <a:noFill/>
                </a:ln>
                <a:solidFill>
                  <a:srgbClr val="374151"/>
                </a:solidFill>
                <a:effectLst/>
                <a:latin typeface="Söhne"/>
              </a:rPr>
              <a:t> to convert categorical variables to the appropriate data type.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
        <p:nvSpPr>
          <p:cNvPr id="8" name="Rectangle 7"/>
          <p:cNvSpPr/>
          <p:nvPr/>
        </p:nvSpPr>
        <p:spPr>
          <a:xfrm>
            <a:off x="17725" y="2432032"/>
            <a:ext cx="4572000" cy="1600438"/>
          </a:xfrm>
          <a:prstGeom prst="rect">
            <a:avLst/>
          </a:prstGeom>
        </p:spPr>
        <p:txBody>
          <a:bodyPr>
            <a:spAutoFit/>
          </a:bodyPr>
          <a:lstStyle/>
          <a:p>
            <a:r>
              <a:rPr lang="en-US" dirty="0"/>
              <a:t># Perform one-hot encoding</a:t>
            </a:r>
          </a:p>
          <a:p>
            <a:r>
              <a:rPr lang="en-US" dirty="0" err="1"/>
              <a:t>encoded_df</a:t>
            </a:r>
            <a:r>
              <a:rPr lang="en-US" dirty="0"/>
              <a:t> = </a:t>
            </a:r>
            <a:r>
              <a:rPr lang="en-US" dirty="0" err="1"/>
              <a:t>pd.get_dummies</a:t>
            </a:r>
            <a:r>
              <a:rPr lang="en-US" dirty="0"/>
              <a:t>(</a:t>
            </a:r>
            <a:r>
              <a:rPr lang="en-US" dirty="0" err="1"/>
              <a:t>df</a:t>
            </a:r>
            <a:r>
              <a:rPr lang="en-US" dirty="0"/>
              <a:t>['</a:t>
            </a:r>
            <a:r>
              <a:rPr lang="en-US" dirty="0" err="1"/>
              <a:t>categorical_column</a:t>
            </a:r>
            <a:r>
              <a:rPr lang="en-US" dirty="0"/>
              <a:t>'])</a:t>
            </a:r>
          </a:p>
          <a:p>
            <a:endParaRPr lang="en-US" dirty="0"/>
          </a:p>
          <a:p>
            <a:r>
              <a:rPr lang="en-US" dirty="0"/>
              <a:t># Convert a column to categorical type</a:t>
            </a:r>
          </a:p>
          <a:p>
            <a:r>
              <a:rPr lang="en-US" dirty="0" err="1"/>
              <a:t>df</a:t>
            </a:r>
            <a:r>
              <a:rPr lang="en-US" dirty="0"/>
              <a:t>['</a:t>
            </a:r>
            <a:r>
              <a:rPr lang="en-US" dirty="0" err="1"/>
              <a:t>categorical_column</a:t>
            </a:r>
            <a:r>
              <a:rPr lang="en-US" dirty="0"/>
              <a:t>'] = </a:t>
            </a:r>
            <a:r>
              <a:rPr lang="en-US" dirty="0" err="1"/>
              <a:t>df</a:t>
            </a:r>
            <a:r>
              <a:rPr lang="en-US" dirty="0"/>
              <a:t>['</a:t>
            </a:r>
            <a:r>
              <a:rPr lang="en-US" dirty="0" err="1"/>
              <a:t>categorical_column</a:t>
            </a:r>
            <a:r>
              <a:rPr lang="en-US" dirty="0"/>
              <a:t>'].</a:t>
            </a:r>
            <a:r>
              <a:rPr lang="en-US" dirty="0" err="1"/>
              <a:t>astype</a:t>
            </a:r>
            <a:r>
              <a:rPr lang="en-US" dirty="0"/>
              <a:t>('category')</a:t>
            </a:r>
          </a:p>
        </p:txBody>
      </p:sp>
    </p:spTree>
    <p:extLst>
      <p:ext uri="{BB962C8B-B14F-4D97-AF65-F5344CB8AC3E}">
        <p14:creationId xmlns:p14="http://schemas.microsoft.com/office/powerpoint/2010/main" val="50073867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a:t>
            </a:r>
            <a:r>
              <a:rPr lang="en-US" sz="3200" dirty="0" smtClean="0"/>
              <a:t>Wrangling-</a:t>
            </a:r>
            <a:r>
              <a:rPr lang="en-US" sz="3200" dirty="0" err="1" smtClean="0"/>
              <a:t>joini</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7725" y="829822"/>
            <a:ext cx="8976646" cy="1384995"/>
          </a:xfrm>
          <a:prstGeom prst="rect">
            <a:avLst/>
          </a:prstGeom>
        </p:spPr>
        <p:txBody>
          <a:bodyPr wrap="square">
            <a:spAutoFit/>
          </a:bodyPr>
          <a:lstStyle/>
          <a:p>
            <a:r>
              <a:rPr lang="en-US" dirty="0"/>
              <a:t>Data wrangling involves manipulating and reshaping data to transform it into a suitable format for analysis. Pandas provides several functions and methods for joining, combining, and reshaping data. Here are some common operations for data wrangling using pandas:</a:t>
            </a:r>
          </a:p>
          <a:p>
            <a:r>
              <a:rPr lang="en-US" dirty="0"/>
              <a:t/>
            </a:r>
            <a:br>
              <a:rPr lang="en-US" dirty="0"/>
            </a:br>
            <a:r>
              <a:rPr lang="en-US" dirty="0">
                <a:solidFill>
                  <a:srgbClr val="374151"/>
                </a:solidFill>
                <a:latin typeface="Söhne"/>
              </a:rPr>
              <a:t/>
            </a:r>
            <a:br>
              <a:rPr lang="en-US" dirty="0">
                <a:solidFill>
                  <a:srgbClr val="374151"/>
                </a:solidFill>
                <a:latin typeface="Söhne"/>
              </a:rPr>
            </a:br>
            <a:endParaRPr lang="en-US" dirty="0"/>
          </a:p>
        </p:txBody>
      </p:sp>
      <p:sp>
        <p:nvSpPr>
          <p:cNvPr id="11" name="Rectangle 4"/>
          <p:cNvSpPr>
            <a:spLocks noChangeArrowheads="1"/>
          </p:cNvSpPr>
          <p:nvPr/>
        </p:nvSpPr>
        <p:spPr bwMode="auto">
          <a:xfrm>
            <a:off x="681643" y="1168376"/>
            <a:ext cx="7780713" cy="3631763"/>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200" b="0" i="0" u="none" strike="noStrike" cap="none" normalizeH="0" baseline="0" dirty="0" smtClean="0">
                <a:ln>
                  <a:noFill/>
                </a:ln>
                <a:solidFill>
                  <a:srgbClr val="374151"/>
                </a:solidFill>
                <a:effectLst/>
                <a:latin typeface="Söhne"/>
              </a:rPr>
              <a:t>Joining </a:t>
            </a:r>
            <a:r>
              <a:rPr kumimoji="0" lang="en-US" sz="1200" b="0" i="0" u="none" strike="noStrike" cap="none" normalizeH="0" baseline="0" dirty="0" err="1" smtClean="0">
                <a:ln>
                  <a:noFill/>
                </a:ln>
                <a:solidFill>
                  <a:srgbClr val="374151"/>
                </a:solidFill>
                <a:effectLst/>
                <a:latin typeface="Söhne"/>
              </a:rPr>
              <a:t>DataFrames</a:t>
            </a:r>
            <a:r>
              <a:rPr kumimoji="0" lang="en-US" sz="1200" b="0" i="0" u="none" strike="noStrike" cap="none" normalizeH="0" baseline="0" dirty="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Merge: Combine two </a:t>
            </a:r>
            <a:r>
              <a:rPr kumimoji="0" lang="en-US" sz="1200" b="0" i="0" u="none" strike="noStrike" cap="none" normalizeH="0" baseline="0" dirty="0" err="1" smtClean="0">
                <a:ln>
                  <a:noFill/>
                </a:ln>
                <a:solidFill>
                  <a:srgbClr val="374151"/>
                </a:solidFill>
                <a:effectLst/>
                <a:latin typeface="Söhne"/>
              </a:rPr>
              <a:t>DataFrames</a:t>
            </a:r>
            <a:r>
              <a:rPr kumimoji="0" lang="en-US" sz="1200" b="0" i="0" u="none" strike="noStrike" cap="none" normalizeH="0" baseline="0" dirty="0" smtClean="0">
                <a:ln>
                  <a:noFill/>
                </a:ln>
                <a:solidFill>
                  <a:srgbClr val="374151"/>
                </a:solidFill>
                <a:effectLst/>
                <a:latin typeface="Söhne"/>
              </a:rPr>
              <a:t> based on common columns using </a:t>
            </a:r>
            <a:r>
              <a:rPr kumimoji="0" lang="en-US" b="1" i="0" u="none" strike="noStrike" cap="none" normalizeH="0" baseline="0" dirty="0" smtClean="0">
                <a:ln>
                  <a:noFill/>
                </a:ln>
                <a:solidFill>
                  <a:srgbClr val="374151"/>
                </a:solidFill>
                <a:effectLst/>
                <a:latin typeface="Söhne Mono"/>
              </a:rPr>
              <a:t>merge()</a:t>
            </a:r>
            <a:r>
              <a:rPr kumimoji="0" lang="en-US" sz="1200" b="0" i="0" u="none" strike="noStrike" cap="none" normalizeH="0" baseline="0" dirty="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Concatenate: Append or stack </a:t>
            </a:r>
            <a:r>
              <a:rPr kumimoji="0" lang="en-US" sz="1200" b="0" i="0" u="none" strike="noStrike" cap="none" normalizeH="0" baseline="0" dirty="0" err="1" smtClean="0">
                <a:ln>
                  <a:noFill/>
                </a:ln>
                <a:solidFill>
                  <a:srgbClr val="374151"/>
                </a:solidFill>
                <a:effectLst/>
                <a:latin typeface="Söhne"/>
              </a:rPr>
              <a:t>DataFrames</a:t>
            </a:r>
            <a:r>
              <a:rPr kumimoji="0" lang="en-US" sz="1200" b="0" i="0" u="none" strike="noStrike" cap="none" normalizeH="0" baseline="0" dirty="0" smtClean="0">
                <a:ln>
                  <a:noFill/>
                </a:ln>
                <a:solidFill>
                  <a:srgbClr val="374151"/>
                </a:solidFill>
                <a:effectLst/>
                <a:latin typeface="Söhne"/>
              </a:rPr>
              <a:t> vertically or horizontally using </a:t>
            </a:r>
            <a:r>
              <a:rPr kumimoji="0" lang="en-US" b="1" i="0" u="none" strike="noStrike" cap="none" normalizeH="0" baseline="0" dirty="0" err="1" smtClean="0">
                <a:ln>
                  <a:noFill/>
                </a:ln>
                <a:solidFill>
                  <a:srgbClr val="374151"/>
                </a:solidFill>
                <a:effectLst/>
                <a:latin typeface="Söhne Mono"/>
              </a:rPr>
              <a:t>concat</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a:t>
            </a:r>
          </a:p>
          <a:p>
            <a:pPr marL="457200" lvl="1" eaLnBrk="0" fontAlgn="base" hangingPunct="0">
              <a:spcBef>
                <a:spcPct val="0"/>
              </a:spcBef>
              <a:spcAft>
                <a:spcPct val="0"/>
              </a:spcAft>
              <a:buClrTx/>
            </a:pPr>
            <a:r>
              <a:rPr lang="en-US" sz="1200" dirty="0">
                <a:solidFill>
                  <a:srgbClr val="374151"/>
                </a:solidFill>
                <a:latin typeface="Söhne"/>
              </a:rPr>
              <a:t>import pandas as </a:t>
            </a:r>
            <a:r>
              <a:rPr lang="en-US" sz="1200" dirty="0" err="1">
                <a:solidFill>
                  <a:srgbClr val="374151"/>
                </a:solidFill>
                <a:latin typeface="Söhne"/>
              </a:rPr>
              <a:t>pd</a:t>
            </a:r>
            <a:endParaRPr lang="en-US" sz="1200" dirty="0">
              <a:solidFill>
                <a:srgbClr val="374151"/>
              </a:solidFill>
              <a:latin typeface="Söhne"/>
            </a:endParaRPr>
          </a:p>
          <a:p>
            <a:pPr marL="457200" lvl="1" eaLnBrk="0" fontAlgn="base" hangingPunct="0">
              <a:spcBef>
                <a:spcPct val="0"/>
              </a:spcBef>
              <a:spcAft>
                <a:spcPct val="0"/>
              </a:spcAft>
              <a:buClrTx/>
            </a:pPr>
            <a:endParaRPr lang="en-US" sz="1200" dirty="0">
              <a:solidFill>
                <a:srgbClr val="374151"/>
              </a:solidFill>
              <a:latin typeface="Söhne"/>
            </a:endParaRPr>
          </a:p>
          <a:p>
            <a:r>
              <a:rPr lang="en-US" dirty="0"/>
              <a:t>import pandas as </a:t>
            </a:r>
            <a:r>
              <a:rPr lang="en-US" dirty="0" err="1"/>
              <a:t>pd</a:t>
            </a:r>
            <a:endParaRPr lang="en-US" dirty="0"/>
          </a:p>
          <a:p>
            <a:r>
              <a:rPr lang="en-US" dirty="0"/>
              <a:t/>
            </a:r>
            <a:br>
              <a:rPr lang="en-US" dirty="0"/>
            </a:br>
            <a:r>
              <a:rPr lang="en-US" dirty="0"/>
              <a:t>df1 = </a:t>
            </a:r>
            <a:r>
              <a:rPr lang="en-US" dirty="0" err="1"/>
              <a:t>pd.DataFrame</a:t>
            </a:r>
            <a:r>
              <a:rPr lang="en-US" dirty="0"/>
              <a:t>({'key': ['A', 'B', 'C', 'D'],</a:t>
            </a:r>
          </a:p>
          <a:p>
            <a:r>
              <a:rPr lang="en-US" dirty="0"/>
              <a:t>                    'value1': [1, 2, 3, 4]})</a:t>
            </a:r>
          </a:p>
          <a:p>
            <a:r>
              <a:rPr lang="en-US" dirty="0"/>
              <a:t/>
            </a:r>
            <a:br>
              <a:rPr lang="en-US" dirty="0"/>
            </a:br>
            <a:r>
              <a:rPr lang="en-US" dirty="0"/>
              <a:t>df2 = </a:t>
            </a:r>
            <a:r>
              <a:rPr lang="en-US" dirty="0" err="1"/>
              <a:t>pd.DataFrame</a:t>
            </a:r>
            <a:r>
              <a:rPr lang="en-US" dirty="0"/>
              <a:t>({'key': ['B', 'D', 'E', 'F'],</a:t>
            </a:r>
          </a:p>
          <a:p>
            <a:r>
              <a:rPr lang="en-US" dirty="0"/>
              <a:t>                    'value2': [5, 6, 7, 8]})</a:t>
            </a:r>
          </a:p>
          <a:p>
            <a:r>
              <a:rPr lang="en-US" dirty="0"/>
              <a:t/>
            </a:r>
            <a:br>
              <a:rPr lang="en-US" dirty="0"/>
            </a:br>
            <a:r>
              <a:rPr lang="en-US" dirty="0" err="1"/>
              <a:t>merged_df</a:t>
            </a:r>
            <a:r>
              <a:rPr lang="en-US" dirty="0"/>
              <a:t> = </a:t>
            </a:r>
            <a:r>
              <a:rPr lang="en-US" dirty="0" err="1"/>
              <a:t>pd.merge</a:t>
            </a:r>
            <a:r>
              <a:rPr lang="en-US" dirty="0"/>
              <a:t>(df1, df2, on='key')</a:t>
            </a:r>
          </a:p>
          <a:p>
            <a:r>
              <a:rPr lang="en-US" dirty="0"/>
              <a:t/>
            </a:r>
            <a:br>
              <a:rPr lang="en-US" dirty="0"/>
            </a:br>
            <a:r>
              <a:rPr lang="en-US" dirty="0"/>
              <a:t>print(</a:t>
            </a:r>
            <a:r>
              <a:rPr lang="en-US" dirty="0" err="1"/>
              <a:t>merged_df</a:t>
            </a:r>
            <a:r>
              <a:rPr lang="en-US" dirty="0"/>
              <a:t>)</a:t>
            </a:r>
          </a:p>
        </p:txBody>
      </p:sp>
      <p:sp>
        <p:nvSpPr>
          <p:cNvPr id="13" name="Rectangle 12"/>
          <p:cNvSpPr/>
          <p:nvPr/>
        </p:nvSpPr>
        <p:spPr>
          <a:xfrm>
            <a:off x="4909774" y="2885650"/>
            <a:ext cx="2530117" cy="738664"/>
          </a:xfrm>
          <a:prstGeom prst="rect">
            <a:avLst/>
          </a:prstGeom>
        </p:spPr>
        <p:txBody>
          <a:bodyPr wrap="square">
            <a:spAutoFit/>
          </a:bodyPr>
          <a:lstStyle/>
          <a:p>
            <a:r>
              <a:rPr lang="en-US" dirty="0" smtClean="0">
                <a:solidFill>
                  <a:srgbClr val="212121"/>
                </a:solidFill>
                <a:latin typeface="Courier New" panose="02070309020205020404" pitchFamily="49" charset="0"/>
              </a:rPr>
              <a:t>  key </a:t>
            </a:r>
            <a:r>
              <a:rPr lang="en-US" dirty="0">
                <a:solidFill>
                  <a:srgbClr val="212121"/>
                </a:solidFill>
                <a:latin typeface="Courier New" panose="02070309020205020404" pitchFamily="49" charset="0"/>
              </a:rPr>
              <a:t>value1 </a:t>
            </a:r>
            <a:r>
              <a:rPr lang="en-US" dirty="0" smtClean="0">
                <a:solidFill>
                  <a:srgbClr val="212121"/>
                </a:solidFill>
                <a:latin typeface="Courier New" panose="02070309020205020404" pitchFamily="49" charset="0"/>
              </a:rPr>
              <a:t>value2 </a:t>
            </a:r>
          </a:p>
          <a:p>
            <a:r>
              <a:rPr lang="en-US" dirty="0" smtClean="0">
                <a:solidFill>
                  <a:srgbClr val="212121"/>
                </a:solidFill>
                <a:latin typeface="Courier New" panose="02070309020205020404" pitchFamily="49" charset="0"/>
              </a:rPr>
              <a:t>0 </a:t>
            </a:r>
            <a:r>
              <a:rPr lang="en-US" dirty="0">
                <a:solidFill>
                  <a:srgbClr val="212121"/>
                </a:solidFill>
                <a:latin typeface="Courier New" panose="02070309020205020404" pitchFamily="49" charset="0"/>
              </a:rPr>
              <a:t>B 2 5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1 </a:t>
            </a:r>
            <a:r>
              <a:rPr lang="en-US" dirty="0">
                <a:solidFill>
                  <a:srgbClr val="212121"/>
                </a:solidFill>
                <a:latin typeface="Courier New" panose="02070309020205020404" pitchFamily="49" charset="0"/>
              </a:rPr>
              <a:t>D 4 6</a:t>
            </a:r>
            <a:endParaRPr lang="en-US" dirty="0"/>
          </a:p>
        </p:txBody>
      </p:sp>
    </p:spTree>
    <p:extLst>
      <p:ext uri="{BB962C8B-B14F-4D97-AF65-F5344CB8AC3E}">
        <p14:creationId xmlns:p14="http://schemas.microsoft.com/office/powerpoint/2010/main" val="11495948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a:t>
            </a:r>
            <a:r>
              <a:rPr lang="en-US" sz="3200" dirty="0" smtClean="0"/>
              <a:t>Wrangling-combine</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4" name="Rectangle 1"/>
          <p:cNvSpPr>
            <a:spLocks noChangeArrowheads="1"/>
          </p:cNvSpPr>
          <p:nvPr/>
        </p:nvSpPr>
        <p:spPr bwMode="auto">
          <a:xfrm>
            <a:off x="116378" y="955527"/>
            <a:ext cx="6368731" cy="892552"/>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1200" b="0" i="0" u="none" strike="noStrike" cap="none" normalizeH="0" baseline="0" dirty="0" smtClean="0">
                <a:ln>
                  <a:noFill/>
                </a:ln>
                <a:solidFill>
                  <a:srgbClr val="374151"/>
                </a:solidFill>
                <a:effectLst/>
                <a:latin typeface="Söhne"/>
              </a:rPr>
              <a:t>Combining </a:t>
            </a:r>
            <a:r>
              <a:rPr kumimoji="0" lang="en-US" sz="1200" b="0" i="0" u="none" strike="noStrike" cap="none" normalizeH="0" baseline="0" dirty="0" err="1" smtClean="0">
                <a:ln>
                  <a:noFill/>
                </a:ln>
                <a:solidFill>
                  <a:srgbClr val="374151"/>
                </a:solidFill>
                <a:effectLst/>
                <a:latin typeface="Söhne"/>
              </a:rPr>
              <a:t>DataFrames</a:t>
            </a:r>
            <a:r>
              <a:rPr kumimoji="0" lang="en-US" sz="1200" b="0" i="0" u="none" strike="noStrike" cap="none" normalizeH="0" baseline="0" dirty="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Merge: Join multiple </a:t>
            </a:r>
            <a:r>
              <a:rPr kumimoji="0" lang="en-US" sz="1200" b="0" i="0" u="none" strike="noStrike" cap="none" normalizeH="0" baseline="0" dirty="0" err="1" smtClean="0">
                <a:ln>
                  <a:noFill/>
                </a:ln>
                <a:solidFill>
                  <a:srgbClr val="374151"/>
                </a:solidFill>
                <a:effectLst/>
                <a:latin typeface="Söhne"/>
              </a:rPr>
              <a:t>DataFrames</a:t>
            </a:r>
            <a:r>
              <a:rPr kumimoji="0" lang="en-US" sz="1200" b="0" i="0" u="none" strike="noStrike" cap="none" normalizeH="0" baseline="0" dirty="0" smtClean="0">
                <a:ln>
                  <a:noFill/>
                </a:ln>
                <a:solidFill>
                  <a:srgbClr val="374151"/>
                </a:solidFill>
                <a:effectLst/>
                <a:latin typeface="Söhne"/>
              </a:rPr>
              <a:t> based on common columns using </a:t>
            </a:r>
            <a:r>
              <a:rPr kumimoji="0" lang="en-US" b="1" i="0" u="none" strike="noStrike" cap="none" normalizeH="0" baseline="0" dirty="0" smtClean="0">
                <a:ln>
                  <a:noFill/>
                </a:ln>
                <a:solidFill>
                  <a:srgbClr val="374151"/>
                </a:solidFill>
                <a:effectLst/>
                <a:latin typeface="Söhne Mono"/>
              </a:rPr>
              <a:t>merge()</a:t>
            </a:r>
            <a:r>
              <a:rPr kumimoji="0" lang="en-US" sz="1200" b="0" i="0" u="none" strike="noStrike" cap="none" normalizeH="0" baseline="0" dirty="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Concatenate: Combine multiple </a:t>
            </a:r>
            <a:r>
              <a:rPr kumimoji="0" lang="en-US" sz="1200" b="0" i="0" u="none" strike="noStrike" cap="none" normalizeH="0" baseline="0" dirty="0" err="1" smtClean="0">
                <a:ln>
                  <a:noFill/>
                </a:ln>
                <a:solidFill>
                  <a:srgbClr val="374151"/>
                </a:solidFill>
                <a:effectLst/>
                <a:latin typeface="Söhne"/>
              </a:rPr>
              <a:t>DataFrames</a:t>
            </a:r>
            <a:r>
              <a:rPr kumimoji="0" lang="en-US" sz="1200" b="0" i="0" u="none" strike="noStrike" cap="none" normalizeH="0" baseline="0" dirty="0" smtClean="0">
                <a:ln>
                  <a:noFill/>
                </a:ln>
                <a:solidFill>
                  <a:srgbClr val="374151"/>
                </a:solidFill>
                <a:effectLst/>
                <a:latin typeface="Söhne"/>
              </a:rPr>
              <a:t> vertically or horizontally using </a:t>
            </a:r>
            <a:r>
              <a:rPr kumimoji="0" lang="en-US" b="1" i="0" u="none" strike="noStrike" cap="none" normalizeH="0" baseline="0" dirty="0" err="1" smtClean="0">
                <a:ln>
                  <a:noFill/>
                </a:ln>
                <a:solidFill>
                  <a:srgbClr val="374151"/>
                </a:solidFill>
                <a:effectLst/>
                <a:latin typeface="Söhne Mono"/>
              </a:rPr>
              <a:t>concat</a:t>
            </a:r>
            <a:r>
              <a:rPr kumimoji="0" lang="en-US" b="1" i="0" u="none" strike="noStrike" cap="none" normalizeH="0" baseline="0" dirty="0" smtClean="0">
                <a:ln>
                  <a:noFill/>
                </a:ln>
                <a:solidFill>
                  <a:srgbClr val="374151"/>
                </a:solidFill>
                <a:effectLst/>
                <a:latin typeface="Söhne Mono"/>
              </a:rPr>
              <a:t>()</a:t>
            </a:r>
            <a:r>
              <a:rPr kumimoji="0" lang="en-U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8" name="Rectangle 7"/>
          <p:cNvSpPr/>
          <p:nvPr/>
        </p:nvSpPr>
        <p:spPr>
          <a:xfrm>
            <a:off x="332509" y="1805839"/>
            <a:ext cx="4572000" cy="2893100"/>
          </a:xfrm>
          <a:prstGeom prst="rect">
            <a:avLst/>
          </a:prstGeom>
        </p:spPr>
        <p:txBody>
          <a:bodyPr>
            <a:spAutoFit/>
          </a:bodyPr>
          <a:lstStyle/>
          <a:p>
            <a:r>
              <a:rPr lang="en-US" dirty="0"/>
              <a:t>import pandas as </a:t>
            </a:r>
            <a:r>
              <a:rPr lang="en-US" dirty="0" err="1"/>
              <a:t>pd</a:t>
            </a:r>
            <a:endParaRPr lang="en-US" dirty="0"/>
          </a:p>
          <a:p>
            <a:endParaRPr lang="en-US" dirty="0"/>
          </a:p>
          <a:p>
            <a:r>
              <a:rPr lang="en-US" dirty="0"/>
              <a:t># Create two </a:t>
            </a:r>
            <a:r>
              <a:rPr lang="en-US" dirty="0" err="1"/>
              <a:t>DataFrames</a:t>
            </a:r>
            <a:endParaRPr lang="en-US" dirty="0"/>
          </a:p>
          <a:p>
            <a:r>
              <a:rPr lang="en-US" dirty="0"/>
              <a:t>df1 = </a:t>
            </a:r>
            <a:r>
              <a:rPr lang="en-US" dirty="0" err="1"/>
              <a:t>pd.DataFrame</a:t>
            </a:r>
            <a:r>
              <a:rPr lang="en-US" dirty="0"/>
              <a:t>({'ID': [1, 2, 3],</a:t>
            </a:r>
          </a:p>
          <a:p>
            <a:r>
              <a:rPr lang="en-US" dirty="0"/>
              <a:t>                    'Name': ['Alice', 'Bob', 'Charlie']})</a:t>
            </a:r>
          </a:p>
          <a:p>
            <a:endParaRPr lang="en-US" dirty="0"/>
          </a:p>
          <a:p>
            <a:r>
              <a:rPr lang="en-US" dirty="0"/>
              <a:t>df2 = </a:t>
            </a:r>
            <a:r>
              <a:rPr lang="en-US" dirty="0" err="1"/>
              <a:t>pd.DataFrame</a:t>
            </a:r>
            <a:r>
              <a:rPr lang="en-US" dirty="0"/>
              <a:t>({'ID': [4, 5, 6],</a:t>
            </a:r>
          </a:p>
          <a:p>
            <a:r>
              <a:rPr lang="en-US" dirty="0"/>
              <a:t>                    'Name': ['Dave', 'Eve', 'Frank']})</a:t>
            </a:r>
          </a:p>
          <a:p>
            <a:endParaRPr lang="en-US" dirty="0"/>
          </a:p>
          <a:p>
            <a:r>
              <a:rPr lang="en-US" dirty="0"/>
              <a:t># Concatenate the </a:t>
            </a:r>
            <a:r>
              <a:rPr lang="en-US" dirty="0" err="1"/>
              <a:t>DataFrames</a:t>
            </a:r>
            <a:r>
              <a:rPr lang="en-US" dirty="0"/>
              <a:t> vertically</a:t>
            </a:r>
          </a:p>
          <a:p>
            <a:r>
              <a:rPr lang="en-US" dirty="0" err="1"/>
              <a:t>concatenated_df</a:t>
            </a:r>
            <a:r>
              <a:rPr lang="en-US" dirty="0"/>
              <a:t> = </a:t>
            </a:r>
            <a:r>
              <a:rPr lang="en-US" dirty="0" err="1"/>
              <a:t>pd.concat</a:t>
            </a:r>
            <a:r>
              <a:rPr lang="en-US" dirty="0"/>
              <a:t>([df1, df2], axis=0)</a:t>
            </a:r>
          </a:p>
          <a:p>
            <a:endParaRPr lang="en-US" dirty="0"/>
          </a:p>
          <a:p>
            <a:r>
              <a:rPr lang="en-US" dirty="0"/>
              <a:t>print(</a:t>
            </a:r>
            <a:r>
              <a:rPr lang="en-US" dirty="0" err="1"/>
              <a:t>concatenated_df</a:t>
            </a:r>
            <a:r>
              <a:rPr lang="en-US" dirty="0"/>
              <a:t>)</a:t>
            </a:r>
          </a:p>
        </p:txBody>
      </p:sp>
      <p:sp>
        <p:nvSpPr>
          <p:cNvPr id="9" name="Rectangle 8"/>
          <p:cNvSpPr/>
          <p:nvPr/>
        </p:nvSpPr>
        <p:spPr>
          <a:xfrm>
            <a:off x="6176356" y="2376642"/>
            <a:ext cx="1371600" cy="1600438"/>
          </a:xfrm>
          <a:prstGeom prst="rect">
            <a:avLst/>
          </a:prstGeom>
        </p:spPr>
        <p:txBody>
          <a:bodyPr wrap="square">
            <a:spAutoFit/>
          </a:bodyPr>
          <a:lstStyle/>
          <a:p>
            <a:r>
              <a:rPr lang="en-US" dirty="0" smtClean="0">
                <a:solidFill>
                  <a:srgbClr val="212121"/>
                </a:solidFill>
                <a:latin typeface="Courier New" panose="02070309020205020404" pitchFamily="49" charset="0"/>
              </a:rPr>
              <a:t>  ID </a:t>
            </a:r>
            <a:r>
              <a:rPr lang="en-US" dirty="0">
                <a:solidFill>
                  <a:srgbClr val="212121"/>
                </a:solidFill>
                <a:latin typeface="Courier New" panose="02070309020205020404" pitchFamily="49" charset="0"/>
              </a:rPr>
              <a:t>Name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0 </a:t>
            </a:r>
            <a:r>
              <a:rPr lang="en-US" dirty="0">
                <a:solidFill>
                  <a:srgbClr val="212121"/>
                </a:solidFill>
                <a:latin typeface="Courier New" panose="02070309020205020404" pitchFamily="49" charset="0"/>
              </a:rPr>
              <a:t>1 Alice 1 2 Bob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2 </a:t>
            </a:r>
            <a:r>
              <a:rPr lang="en-US" dirty="0">
                <a:solidFill>
                  <a:srgbClr val="212121"/>
                </a:solidFill>
                <a:latin typeface="Courier New" panose="02070309020205020404" pitchFamily="49" charset="0"/>
              </a:rPr>
              <a:t>3 Charlie 0 4 Dave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1 </a:t>
            </a:r>
            <a:r>
              <a:rPr lang="en-US" dirty="0">
                <a:solidFill>
                  <a:srgbClr val="212121"/>
                </a:solidFill>
                <a:latin typeface="Courier New" panose="02070309020205020404" pitchFamily="49" charset="0"/>
              </a:rPr>
              <a:t>5 Eve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2 6 </a:t>
            </a:r>
            <a:r>
              <a:rPr lang="en-US" dirty="0">
                <a:solidFill>
                  <a:srgbClr val="212121"/>
                </a:solidFill>
                <a:latin typeface="Courier New" panose="02070309020205020404" pitchFamily="49" charset="0"/>
              </a:rPr>
              <a:t>Frank</a:t>
            </a:r>
            <a:endParaRPr lang="en-US" dirty="0"/>
          </a:p>
        </p:txBody>
      </p:sp>
    </p:spTree>
    <p:extLst>
      <p:ext uri="{BB962C8B-B14F-4D97-AF65-F5344CB8AC3E}">
        <p14:creationId xmlns:p14="http://schemas.microsoft.com/office/powerpoint/2010/main" val="24714140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Wrangling-Reshaping</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1"/>
          <p:cNvSpPr>
            <a:spLocks noChangeArrowheads="1"/>
          </p:cNvSpPr>
          <p:nvPr/>
        </p:nvSpPr>
        <p:spPr bwMode="auto">
          <a:xfrm>
            <a:off x="407323" y="1134054"/>
            <a:ext cx="7558159" cy="1107996"/>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sz="1200" b="0" i="0" u="none" strike="noStrike" cap="none" normalizeH="0" baseline="0" dirty="0" smtClean="0">
                <a:ln>
                  <a:noFill/>
                </a:ln>
                <a:solidFill>
                  <a:srgbClr val="374151"/>
                </a:solidFill>
                <a:effectLst/>
                <a:latin typeface="Söhne"/>
              </a:rPr>
              <a:t>Reshaping Data:</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Pivot: Reshape data from long to wide format using </a:t>
            </a:r>
            <a:r>
              <a:rPr kumimoji="0" lang="en-US" b="1" i="0" u="none" strike="noStrike" cap="none" normalizeH="0" baseline="0" dirty="0" smtClean="0">
                <a:ln>
                  <a:noFill/>
                </a:ln>
                <a:solidFill>
                  <a:srgbClr val="374151"/>
                </a:solidFill>
                <a:effectLst/>
                <a:latin typeface="Söhne Mono"/>
              </a:rPr>
              <a:t>pivot()</a:t>
            </a:r>
            <a:r>
              <a:rPr kumimoji="0" lang="en-US" sz="1200" b="0" i="0" u="none" strike="noStrike" cap="none" normalizeH="0" baseline="0" dirty="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Melt: </a:t>
            </a:r>
            <a:r>
              <a:rPr kumimoji="0" lang="en-US" sz="1200" b="0" i="0" u="none" strike="noStrike" cap="none" normalizeH="0" baseline="0" dirty="0" err="1" smtClean="0">
                <a:ln>
                  <a:noFill/>
                </a:ln>
                <a:solidFill>
                  <a:srgbClr val="374151"/>
                </a:solidFill>
                <a:effectLst/>
                <a:latin typeface="Söhne"/>
              </a:rPr>
              <a:t>Unpivot</a:t>
            </a:r>
            <a:r>
              <a:rPr kumimoji="0" lang="en-US" sz="1200" b="0" i="0" u="none" strike="noStrike" cap="none" normalizeH="0" baseline="0" dirty="0" smtClean="0">
                <a:ln>
                  <a:noFill/>
                </a:ln>
                <a:solidFill>
                  <a:srgbClr val="374151"/>
                </a:solidFill>
                <a:effectLst/>
                <a:latin typeface="Söhne"/>
              </a:rPr>
              <a:t> data from wide to long format using </a:t>
            </a:r>
            <a:r>
              <a:rPr kumimoji="0" lang="en-US" b="1" i="0" u="none" strike="noStrike" cap="none" normalizeH="0" baseline="0" dirty="0" smtClean="0">
                <a:ln>
                  <a:noFill/>
                </a:ln>
                <a:solidFill>
                  <a:srgbClr val="374151"/>
                </a:solidFill>
                <a:effectLst/>
                <a:latin typeface="Söhne Mono"/>
              </a:rPr>
              <a:t>melt()</a:t>
            </a:r>
            <a:r>
              <a:rPr kumimoji="0" lang="en-US" sz="1200" b="0" i="0" u="none" strike="noStrike" cap="none" normalizeH="0" baseline="0" dirty="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dirty="0" smtClean="0">
                <a:ln>
                  <a:noFill/>
                </a:ln>
                <a:solidFill>
                  <a:srgbClr val="374151"/>
                </a:solidFill>
                <a:effectLst/>
                <a:latin typeface="Söhne"/>
              </a:rPr>
              <a:t>Stack/Unstack: Reshape data between hierarchical and tabular formats using </a:t>
            </a:r>
            <a:r>
              <a:rPr kumimoji="0" lang="en-US" b="1" i="0" u="none" strike="noStrike" cap="none" normalizeH="0" baseline="0" dirty="0" smtClean="0">
                <a:ln>
                  <a:noFill/>
                </a:ln>
                <a:solidFill>
                  <a:srgbClr val="374151"/>
                </a:solidFill>
                <a:effectLst/>
                <a:latin typeface="Söhne Mono"/>
              </a:rPr>
              <a:t>stack()</a:t>
            </a:r>
            <a:r>
              <a:rPr kumimoji="0" lang="en-US" sz="1200" b="0" i="0" u="none" strike="noStrike" cap="none" normalizeH="0" baseline="0" dirty="0" smtClean="0">
                <a:ln>
                  <a:noFill/>
                </a:ln>
                <a:solidFill>
                  <a:srgbClr val="374151"/>
                </a:solidFill>
                <a:effectLst/>
                <a:latin typeface="Söhne"/>
              </a:rPr>
              <a:t> and </a:t>
            </a:r>
            <a:r>
              <a:rPr kumimoji="0" lang="en-US" b="1" i="0" u="none" strike="noStrike" cap="none" normalizeH="0" baseline="0" dirty="0" smtClean="0">
                <a:ln>
                  <a:noFill/>
                </a:ln>
                <a:solidFill>
                  <a:srgbClr val="374151"/>
                </a:solidFill>
                <a:effectLst/>
                <a:latin typeface="Söhne Mono"/>
              </a:rPr>
              <a:t>unstack()</a:t>
            </a:r>
            <a:r>
              <a:rPr kumimoji="0" lang="en-US" sz="12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548639" y="1878664"/>
            <a:ext cx="7007629" cy="2246769"/>
          </a:xfrm>
          <a:prstGeom prst="rect">
            <a:avLst/>
          </a:prstGeom>
        </p:spPr>
        <p:txBody>
          <a:bodyPr wrap="square">
            <a:spAutoFit/>
          </a:bodyPr>
          <a:lstStyle/>
          <a:p>
            <a:r>
              <a:rPr lang="en-US" dirty="0">
                <a:solidFill>
                  <a:srgbClr val="AF00DB"/>
                </a:solidFill>
                <a:latin typeface="Courier New" panose="02070309020205020404" pitchFamily="49" charset="0"/>
              </a:rPr>
              <a:t>import</a:t>
            </a:r>
            <a:r>
              <a:rPr lang="en-US" dirty="0">
                <a:latin typeface="Courier New" panose="02070309020205020404" pitchFamily="49" charset="0"/>
              </a:rPr>
              <a:t> pandas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pd</a:t>
            </a:r>
            <a:endParaRPr lang="en-US" dirty="0">
              <a:latin typeface="Courier New" panose="02070309020205020404" pitchFamily="49" charset="0"/>
            </a:endParaRP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Reshaping using pivot</a:t>
            </a:r>
            <a:endParaRPr lang="en-US" dirty="0">
              <a:latin typeface="Courier New" panose="02070309020205020404" pitchFamily="49" charset="0"/>
            </a:endParaRPr>
          </a:p>
          <a:p>
            <a:r>
              <a:rPr lang="en-US" dirty="0" err="1">
                <a:latin typeface="Courier New" panose="02070309020205020404" pitchFamily="49" charset="0"/>
              </a:rPr>
              <a:t>df</a:t>
            </a:r>
            <a:r>
              <a:rPr lang="en-US" dirty="0">
                <a:latin typeface="Courier New" panose="02070309020205020404" pitchFamily="49" charset="0"/>
              </a:rPr>
              <a:t> = </a:t>
            </a:r>
            <a:r>
              <a:rPr lang="en-US" dirty="0" err="1">
                <a:latin typeface="Courier New" panose="02070309020205020404" pitchFamily="49" charset="0"/>
              </a:rPr>
              <a:t>pd.DataFrame</a:t>
            </a:r>
            <a:r>
              <a:rPr lang="en-US" dirty="0">
                <a:latin typeface="Courier New" panose="02070309020205020404" pitchFamily="49" charset="0"/>
              </a:rPr>
              <a:t>({</a:t>
            </a:r>
            <a:r>
              <a:rPr lang="en-US" dirty="0">
                <a:solidFill>
                  <a:srgbClr val="A31515"/>
                </a:solidFill>
                <a:latin typeface="Courier New" panose="02070309020205020404" pitchFamily="49" charset="0"/>
              </a:rPr>
              <a:t>'City'</a:t>
            </a:r>
            <a:r>
              <a:rPr lang="en-US" dirty="0">
                <a:latin typeface="Courier New" panose="02070309020205020404" pitchFamily="49" charset="0"/>
              </a:rPr>
              <a:t>: [</a:t>
            </a:r>
            <a:r>
              <a:rPr lang="en-US" dirty="0">
                <a:solidFill>
                  <a:srgbClr val="A31515"/>
                </a:solidFill>
                <a:latin typeface="Courier New" panose="02070309020205020404" pitchFamily="49" charset="0"/>
              </a:rPr>
              <a:t>'Tokyo'</a:t>
            </a:r>
            <a:r>
              <a:rPr lang="en-US" dirty="0">
                <a:latin typeface="Courier New" panose="02070309020205020404" pitchFamily="49" charset="0"/>
              </a:rPr>
              <a:t>, </a:t>
            </a:r>
            <a:r>
              <a:rPr lang="en-US" dirty="0">
                <a:solidFill>
                  <a:srgbClr val="A31515"/>
                </a:solidFill>
                <a:latin typeface="Courier New" panose="02070309020205020404" pitchFamily="49" charset="0"/>
              </a:rPr>
              <a:t>'Paris'</a:t>
            </a:r>
            <a:r>
              <a:rPr lang="en-US" dirty="0">
                <a:latin typeface="Courier New" panose="02070309020205020404" pitchFamily="49" charset="0"/>
              </a:rPr>
              <a:t>, </a:t>
            </a:r>
            <a:r>
              <a:rPr lang="en-US" dirty="0">
                <a:solidFill>
                  <a:srgbClr val="A31515"/>
                </a:solidFill>
                <a:latin typeface="Courier New" panose="02070309020205020404" pitchFamily="49" charset="0"/>
              </a:rPr>
              <a:t>'Tokyo'</a:t>
            </a:r>
            <a:r>
              <a:rPr lang="en-US" dirty="0">
                <a:latin typeface="Courier New" panose="02070309020205020404" pitchFamily="49" charset="0"/>
              </a:rPr>
              <a:t>, </a:t>
            </a:r>
            <a:r>
              <a:rPr lang="en-US" dirty="0">
                <a:solidFill>
                  <a:srgbClr val="A31515"/>
                </a:solidFill>
                <a:latin typeface="Courier New" panose="02070309020205020404" pitchFamily="49" charset="0"/>
              </a:rPr>
              <a:t>'Paris'</a:t>
            </a:r>
            <a:r>
              <a:rPr lang="en-US" dirty="0">
                <a:latin typeface="Courier New" panose="02070309020205020404" pitchFamily="49" charset="0"/>
              </a:rPr>
              <a:t>],</a:t>
            </a:r>
          </a:p>
          <a:p>
            <a:r>
              <a:rPr lang="en-US" dirty="0">
                <a:latin typeface="Courier New" panose="02070309020205020404" pitchFamily="49" charset="0"/>
              </a:rPr>
              <a:t>                   </a:t>
            </a:r>
            <a:r>
              <a:rPr lang="en-US" dirty="0">
                <a:solidFill>
                  <a:srgbClr val="A31515"/>
                </a:solidFill>
                <a:latin typeface="Courier New" panose="02070309020205020404" pitchFamily="49" charset="0"/>
              </a:rPr>
              <a:t>'Year'</a:t>
            </a:r>
            <a:r>
              <a:rPr lang="en-US" dirty="0">
                <a:latin typeface="Courier New" panose="02070309020205020404" pitchFamily="49" charset="0"/>
              </a:rPr>
              <a:t>: [</a:t>
            </a:r>
            <a:r>
              <a:rPr lang="en-US" dirty="0">
                <a:solidFill>
                  <a:srgbClr val="098156"/>
                </a:solidFill>
                <a:latin typeface="Courier New" panose="02070309020205020404" pitchFamily="49" charset="0"/>
              </a:rPr>
              <a:t>2020</a:t>
            </a:r>
            <a:r>
              <a:rPr lang="en-US" dirty="0">
                <a:latin typeface="Courier New" panose="02070309020205020404" pitchFamily="49" charset="0"/>
              </a:rPr>
              <a:t>, </a:t>
            </a:r>
            <a:r>
              <a:rPr lang="en-US" dirty="0">
                <a:solidFill>
                  <a:srgbClr val="098156"/>
                </a:solidFill>
                <a:latin typeface="Courier New" panose="02070309020205020404" pitchFamily="49" charset="0"/>
              </a:rPr>
              <a:t>2020</a:t>
            </a:r>
            <a:r>
              <a:rPr lang="en-US" dirty="0">
                <a:latin typeface="Courier New" panose="02070309020205020404" pitchFamily="49" charset="0"/>
              </a:rPr>
              <a:t>, </a:t>
            </a:r>
            <a:r>
              <a:rPr lang="en-US" dirty="0">
                <a:solidFill>
                  <a:srgbClr val="098156"/>
                </a:solidFill>
                <a:latin typeface="Courier New" panose="02070309020205020404" pitchFamily="49" charset="0"/>
              </a:rPr>
              <a:t>2021</a:t>
            </a:r>
            <a:r>
              <a:rPr lang="en-US" dirty="0">
                <a:latin typeface="Courier New" panose="02070309020205020404" pitchFamily="49" charset="0"/>
              </a:rPr>
              <a:t>, </a:t>
            </a:r>
            <a:r>
              <a:rPr lang="en-US" dirty="0">
                <a:solidFill>
                  <a:srgbClr val="098156"/>
                </a:solidFill>
                <a:latin typeface="Courier New" panose="02070309020205020404" pitchFamily="49" charset="0"/>
              </a:rPr>
              <a:t>2021</a:t>
            </a:r>
            <a:r>
              <a:rPr lang="en-US" dirty="0">
                <a:latin typeface="Courier New" panose="02070309020205020404" pitchFamily="49" charset="0"/>
              </a:rPr>
              <a:t>],</a:t>
            </a:r>
          </a:p>
          <a:p>
            <a:r>
              <a:rPr lang="en-US" dirty="0">
                <a:latin typeface="Courier New" panose="02070309020205020404" pitchFamily="49" charset="0"/>
              </a:rPr>
              <a:t>                   </a:t>
            </a:r>
            <a:r>
              <a:rPr lang="en-US" dirty="0">
                <a:solidFill>
                  <a:srgbClr val="A31515"/>
                </a:solidFill>
                <a:latin typeface="Courier New" panose="02070309020205020404" pitchFamily="49" charset="0"/>
              </a:rPr>
              <a:t>'Temperature'</a:t>
            </a:r>
            <a:r>
              <a:rPr lang="en-US" dirty="0">
                <a:latin typeface="Courier New" panose="02070309020205020404" pitchFamily="49" charset="0"/>
              </a:rPr>
              <a:t>: [</a:t>
            </a:r>
            <a:r>
              <a:rPr lang="en-US" dirty="0">
                <a:solidFill>
                  <a:srgbClr val="098156"/>
                </a:solidFill>
                <a:latin typeface="Courier New" panose="02070309020205020404" pitchFamily="49" charset="0"/>
              </a:rPr>
              <a:t>25</a:t>
            </a:r>
            <a:r>
              <a:rPr lang="en-US" dirty="0">
                <a:latin typeface="Courier New" panose="02070309020205020404" pitchFamily="49" charset="0"/>
              </a:rPr>
              <a:t>, </a:t>
            </a:r>
            <a:r>
              <a:rPr lang="en-US" dirty="0">
                <a:solidFill>
                  <a:srgbClr val="098156"/>
                </a:solidFill>
                <a:latin typeface="Courier New" panose="02070309020205020404" pitchFamily="49" charset="0"/>
              </a:rPr>
              <a:t>20</a:t>
            </a:r>
            <a:r>
              <a:rPr lang="en-US" dirty="0">
                <a:latin typeface="Courier New" panose="02070309020205020404" pitchFamily="49" charset="0"/>
              </a:rPr>
              <a:t>, </a:t>
            </a:r>
            <a:r>
              <a:rPr lang="en-US" dirty="0">
                <a:solidFill>
                  <a:srgbClr val="098156"/>
                </a:solidFill>
                <a:latin typeface="Courier New" panose="02070309020205020404" pitchFamily="49" charset="0"/>
              </a:rPr>
              <a:t>28</a:t>
            </a:r>
            <a:r>
              <a:rPr lang="en-US" dirty="0">
                <a:latin typeface="Courier New" panose="02070309020205020404" pitchFamily="49" charset="0"/>
              </a:rPr>
              <a:t>, </a:t>
            </a:r>
            <a:r>
              <a:rPr lang="en-US" dirty="0">
                <a:solidFill>
                  <a:srgbClr val="098156"/>
                </a:solidFill>
                <a:latin typeface="Courier New" panose="02070309020205020404" pitchFamily="49" charset="0"/>
              </a:rPr>
              <a:t>22</a:t>
            </a:r>
            <a:r>
              <a:rPr lang="en-US" dirty="0">
                <a:latin typeface="Courier New" panose="02070309020205020404" pitchFamily="49" charset="0"/>
              </a:rPr>
              <a:t>]})</a:t>
            </a:r>
          </a:p>
          <a:p>
            <a:r>
              <a:rPr lang="en-US" dirty="0" err="1" smtClean="0">
                <a:latin typeface="Courier New" panose="02070309020205020404" pitchFamily="49" charset="0"/>
              </a:rPr>
              <a:t>pivot_df</a:t>
            </a:r>
            <a:r>
              <a:rPr lang="en-US" dirty="0" smtClean="0">
                <a:latin typeface="Courier New" panose="02070309020205020404" pitchFamily="49" charset="0"/>
              </a:rPr>
              <a:t> </a:t>
            </a:r>
            <a:r>
              <a:rPr lang="en-US" dirty="0">
                <a:latin typeface="Courier New" panose="02070309020205020404" pitchFamily="49" charset="0"/>
              </a:rPr>
              <a:t>= </a:t>
            </a:r>
            <a:r>
              <a:rPr lang="en-US" dirty="0" err="1">
                <a:latin typeface="Courier New" panose="02070309020205020404" pitchFamily="49" charset="0"/>
              </a:rPr>
              <a:t>df.pivot</a:t>
            </a:r>
            <a:r>
              <a:rPr lang="en-US" dirty="0">
                <a:latin typeface="Courier New" panose="02070309020205020404" pitchFamily="49" charset="0"/>
              </a:rPr>
              <a:t>(index=</a:t>
            </a:r>
            <a:r>
              <a:rPr lang="en-US" dirty="0">
                <a:solidFill>
                  <a:srgbClr val="A31515"/>
                </a:solidFill>
                <a:latin typeface="Courier New" panose="02070309020205020404" pitchFamily="49" charset="0"/>
              </a:rPr>
              <a:t>'Year'</a:t>
            </a:r>
            <a:r>
              <a:rPr lang="en-US" dirty="0">
                <a:latin typeface="Courier New" panose="02070309020205020404" pitchFamily="49" charset="0"/>
              </a:rPr>
              <a:t>, columns=</a:t>
            </a:r>
            <a:r>
              <a:rPr lang="en-US" dirty="0">
                <a:solidFill>
                  <a:srgbClr val="A31515"/>
                </a:solidFill>
                <a:latin typeface="Courier New" panose="02070309020205020404" pitchFamily="49" charset="0"/>
              </a:rPr>
              <a:t>'City'</a:t>
            </a:r>
            <a:r>
              <a:rPr lang="en-US" dirty="0">
                <a:latin typeface="Courier New" panose="02070309020205020404" pitchFamily="49" charset="0"/>
              </a:rPr>
              <a:t>, values=</a:t>
            </a:r>
            <a:r>
              <a:rPr lang="en-US" dirty="0">
                <a:solidFill>
                  <a:srgbClr val="A31515"/>
                </a:solidFill>
                <a:latin typeface="Courier New" panose="02070309020205020404" pitchFamily="49" charset="0"/>
              </a:rPr>
              <a:t>'Temperature'</a:t>
            </a:r>
            <a:r>
              <a:rPr lang="en-US" dirty="0">
                <a:latin typeface="Courier New" panose="02070309020205020404" pitchFamily="49" charset="0"/>
              </a:rPr>
              <a:t>)</a:t>
            </a:r>
          </a:p>
          <a:p>
            <a:r>
              <a:rPr lang="en-US" dirty="0">
                <a:latin typeface="Courier New" panose="02070309020205020404" pitchFamily="49" charset="0"/>
              </a:rPr>
              <a:t/>
            </a:r>
            <a:br>
              <a:rPr lang="en-US" dirty="0">
                <a:latin typeface="Courier New" panose="02070309020205020404" pitchFamily="49" charset="0"/>
              </a:rPr>
            </a:br>
            <a:r>
              <a:rPr lang="en-US" dirty="0">
                <a:solidFill>
                  <a:srgbClr val="795E26"/>
                </a:solidFill>
                <a:latin typeface="Courier New" panose="02070309020205020404" pitchFamily="49" charset="0"/>
              </a:rPr>
              <a:t>print</a:t>
            </a:r>
            <a:r>
              <a:rPr lang="en-US" dirty="0">
                <a:latin typeface="Courier New" panose="02070309020205020404" pitchFamily="49" charset="0"/>
              </a:rPr>
              <a:t>(</a:t>
            </a:r>
            <a:r>
              <a:rPr lang="en-US" dirty="0" err="1">
                <a:latin typeface="Courier New" panose="02070309020205020404" pitchFamily="49" charset="0"/>
              </a:rPr>
              <a:t>pivot_df</a:t>
            </a:r>
            <a:r>
              <a:rPr lang="en-US" dirty="0">
                <a:latin typeface="Courier New" panose="02070309020205020404" pitchFamily="49" charset="0"/>
              </a:rPr>
              <a:t>)</a:t>
            </a:r>
          </a:p>
        </p:txBody>
      </p:sp>
      <p:sp>
        <p:nvSpPr>
          <p:cNvPr id="8" name="Rectangle 7"/>
          <p:cNvSpPr/>
          <p:nvPr/>
        </p:nvSpPr>
        <p:spPr>
          <a:xfrm>
            <a:off x="4979324" y="3602214"/>
            <a:ext cx="2477192" cy="738664"/>
          </a:xfrm>
          <a:prstGeom prst="rect">
            <a:avLst/>
          </a:prstGeom>
        </p:spPr>
        <p:txBody>
          <a:bodyPr wrap="square">
            <a:spAutoFit/>
          </a:bodyPr>
          <a:lstStyle/>
          <a:p>
            <a:r>
              <a:rPr lang="en-US" dirty="0" smtClean="0">
                <a:solidFill>
                  <a:srgbClr val="212121"/>
                </a:solidFill>
                <a:latin typeface="Courier New" panose="02070309020205020404" pitchFamily="49" charset="0"/>
              </a:rPr>
              <a:t>City </a:t>
            </a:r>
            <a:r>
              <a:rPr lang="en-US" dirty="0">
                <a:solidFill>
                  <a:srgbClr val="212121"/>
                </a:solidFill>
                <a:latin typeface="Courier New" panose="02070309020205020404" pitchFamily="49" charset="0"/>
              </a:rPr>
              <a:t>Paris Tokyo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Year </a:t>
            </a:r>
            <a:r>
              <a:rPr lang="en-US" dirty="0">
                <a:solidFill>
                  <a:srgbClr val="212121"/>
                </a:solidFill>
                <a:latin typeface="Courier New" panose="02070309020205020404" pitchFamily="49" charset="0"/>
              </a:rPr>
              <a:t>2020 20 25 </a:t>
            </a:r>
            <a:endParaRPr lang="en-US" dirty="0" smtClean="0">
              <a:solidFill>
                <a:srgbClr val="212121"/>
              </a:solidFill>
              <a:latin typeface="Courier New" panose="02070309020205020404" pitchFamily="49" charset="0"/>
            </a:endParaRPr>
          </a:p>
          <a:p>
            <a:r>
              <a:rPr lang="en-US" dirty="0" smtClean="0">
                <a:solidFill>
                  <a:srgbClr val="212121"/>
                </a:solidFill>
                <a:latin typeface="Courier New" panose="02070309020205020404" pitchFamily="49" charset="0"/>
              </a:rPr>
              <a:t>     2021 </a:t>
            </a:r>
            <a:r>
              <a:rPr lang="en-US" dirty="0">
                <a:solidFill>
                  <a:srgbClr val="212121"/>
                </a:solidFill>
                <a:latin typeface="Courier New" panose="02070309020205020404" pitchFamily="49" charset="0"/>
              </a:rPr>
              <a:t>22 28</a:t>
            </a:r>
            <a:endParaRPr lang="en-US" dirty="0"/>
          </a:p>
        </p:txBody>
      </p:sp>
    </p:spTree>
    <p:extLst>
      <p:ext uri="{BB962C8B-B14F-4D97-AF65-F5344CB8AC3E}">
        <p14:creationId xmlns:p14="http://schemas.microsoft.com/office/powerpoint/2010/main" val="34780827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a:t>
            </a:r>
            <a:r>
              <a:rPr lang="en-US" sz="3200" dirty="0" smtClean="0"/>
              <a:t>Wrangling-Reshaping</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257695" y="825052"/>
            <a:ext cx="4572000" cy="1815882"/>
          </a:xfrm>
          <a:prstGeom prst="rect">
            <a:avLst/>
          </a:prstGeom>
        </p:spPr>
        <p:txBody>
          <a:bodyPr>
            <a:spAutoFit/>
          </a:bodyPr>
          <a:lstStyle/>
          <a:p>
            <a:r>
              <a:rPr lang="en-US" dirty="0"/>
              <a:t>import pandas as </a:t>
            </a:r>
            <a:r>
              <a:rPr lang="en-US" dirty="0" err="1"/>
              <a:t>pd</a:t>
            </a:r>
            <a:endParaRPr lang="en-US" dirty="0"/>
          </a:p>
          <a:p>
            <a:endParaRPr lang="en-US" dirty="0"/>
          </a:p>
          <a:p>
            <a:r>
              <a:rPr lang="en-US" dirty="0" err="1"/>
              <a:t>df</a:t>
            </a:r>
            <a:r>
              <a:rPr lang="en-US" dirty="0"/>
              <a:t> = </a:t>
            </a:r>
            <a:r>
              <a:rPr lang="en-US" dirty="0" err="1"/>
              <a:t>pd.DataFrame</a:t>
            </a:r>
            <a:r>
              <a:rPr lang="en-US" dirty="0"/>
              <a:t>({'ID': [1, 2, 3],</a:t>
            </a:r>
          </a:p>
          <a:p>
            <a:r>
              <a:rPr lang="en-US" dirty="0"/>
              <a:t>                   'Math': [80, 90, 85],</a:t>
            </a:r>
          </a:p>
          <a:p>
            <a:r>
              <a:rPr lang="en-US" dirty="0"/>
              <a:t>                   'Science': [70, 80, 75]})</a:t>
            </a:r>
          </a:p>
          <a:p>
            <a:endParaRPr lang="en-US" dirty="0"/>
          </a:p>
          <a:p>
            <a:r>
              <a:rPr lang="en-US" dirty="0" err="1"/>
              <a:t>melted_df</a:t>
            </a:r>
            <a:r>
              <a:rPr lang="en-US" dirty="0"/>
              <a:t> = </a:t>
            </a:r>
            <a:r>
              <a:rPr lang="en-US" dirty="0" err="1"/>
              <a:t>df.melt</a:t>
            </a:r>
            <a:r>
              <a:rPr lang="en-US" dirty="0"/>
              <a:t>(</a:t>
            </a:r>
            <a:r>
              <a:rPr lang="en-US" dirty="0" err="1"/>
              <a:t>id_vars</a:t>
            </a:r>
            <a:r>
              <a:rPr lang="en-US" dirty="0"/>
              <a:t>='ID', </a:t>
            </a:r>
            <a:r>
              <a:rPr lang="en-US" dirty="0" err="1"/>
              <a:t>var_name</a:t>
            </a:r>
            <a:r>
              <a:rPr lang="en-US" dirty="0"/>
              <a:t>='Subject', </a:t>
            </a:r>
            <a:r>
              <a:rPr lang="en-US" dirty="0" err="1"/>
              <a:t>value_name</a:t>
            </a:r>
            <a:r>
              <a:rPr lang="en-US" dirty="0"/>
              <a:t>='Score')</a:t>
            </a:r>
          </a:p>
        </p:txBody>
      </p:sp>
      <p:sp>
        <p:nvSpPr>
          <p:cNvPr id="4" name="Rectangle 3"/>
          <p:cNvSpPr/>
          <p:nvPr/>
        </p:nvSpPr>
        <p:spPr>
          <a:xfrm>
            <a:off x="4364182" y="2640934"/>
            <a:ext cx="1629295" cy="1600438"/>
          </a:xfrm>
          <a:prstGeom prst="rect">
            <a:avLst/>
          </a:prstGeom>
        </p:spPr>
        <p:txBody>
          <a:bodyPr wrap="square">
            <a:spAutoFit/>
          </a:bodyPr>
          <a:lstStyle/>
          <a:p>
            <a:r>
              <a:rPr lang="en-US" dirty="0">
                <a:solidFill>
                  <a:srgbClr val="DF3079"/>
                </a:solidFill>
                <a:latin typeface="Söhne Mono"/>
              </a:rPr>
              <a:t>ID</a:t>
            </a:r>
            <a:r>
              <a:rPr lang="en-US" dirty="0">
                <a:solidFill>
                  <a:srgbClr val="FFFFFF"/>
                </a:solidFill>
                <a:latin typeface="Söhne Mono"/>
              </a:rPr>
              <a:t> </a:t>
            </a:r>
            <a:r>
              <a:rPr lang="en-US" dirty="0">
                <a:solidFill>
                  <a:srgbClr val="F22C3D"/>
                </a:solidFill>
                <a:latin typeface="Söhne Mono"/>
              </a:rPr>
              <a:t>Subject</a:t>
            </a:r>
            <a:r>
              <a:rPr lang="en-US" dirty="0">
                <a:solidFill>
                  <a:srgbClr val="FFFFFF"/>
                </a:solidFill>
                <a:latin typeface="Söhne Mono"/>
              </a:rPr>
              <a:t> </a:t>
            </a:r>
            <a:r>
              <a:rPr lang="en-US" dirty="0">
                <a:solidFill>
                  <a:srgbClr val="F22C3D"/>
                </a:solidFill>
                <a:latin typeface="Söhne Mono"/>
              </a:rPr>
              <a:t>Score</a:t>
            </a:r>
            <a:r>
              <a:rPr lang="en-US" dirty="0">
                <a:solidFill>
                  <a:srgbClr val="FFFFFF"/>
                </a:solidFill>
                <a:latin typeface="Söhne Mono"/>
              </a:rPr>
              <a:t> </a:t>
            </a:r>
            <a:r>
              <a:rPr lang="en-US" dirty="0">
                <a:solidFill>
                  <a:srgbClr val="DF3079"/>
                </a:solidFill>
                <a:latin typeface="Söhne Mono"/>
              </a:rPr>
              <a:t>0</a:t>
            </a:r>
            <a:r>
              <a:rPr lang="en-US" dirty="0">
                <a:solidFill>
                  <a:srgbClr val="FFFFFF"/>
                </a:solidFill>
                <a:latin typeface="Söhne Mono"/>
              </a:rPr>
              <a:t> </a:t>
            </a:r>
            <a:r>
              <a:rPr lang="en-US" dirty="0">
                <a:solidFill>
                  <a:srgbClr val="DF3079"/>
                </a:solidFill>
                <a:latin typeface="Söhne Mono"/>
              </a:rPr>
              <a:t>1</a:t>
            </a:r>
            <a:r>
              <a:rPr lang="en-US" dirty="0">
                <a:solidFill>
                  <a:srgbClr val="FFFFFF"/>
                </a:solidFill>
                <a:latin typeface="Söhne Mono"/>
              </a:rPr>
              <a:t> </a:t>
            </a:r>
            <a:r>
              <a:rPr lang="en-US" dirty="0">
                <a:solidFill>
                  <a:srgbClr val="F22C3D"/>
                </a:solidFill>
                <a:latin typeface="Söhne Mono"/>
              </a:rPr>
              <a:t>Math</a:t>
            </a:r>
            <a:r>
              <a:rPr lang="en-US" dirty="0">
                <a:solidFill>
                  <a:srgbClr val="FFFFFF"/>
                </a:solidFill>
                <a:latin typeface="Söhne Mono"/>
              </a:rPr>
              <a:t> </a:t>
            </a:r>
            <a:r>
              <a:rPr lang="en-US" dirty="0">
                <a:solidFill>
                  <a:srgbClr val="DF3079"/>
                </a:solidFill>
                <a:latin typeface="Söhne Mono"/>
              </a:rPr>
              <a:t>80</a:t>
            </a:r>
            <a:r>
              <a:rPr lang="en-US" dirty="0">
                <a:solidFill>
                  <a:srgbClr val="FFFFFF"/>
                </a:solidFill>
                <a:latin typeface="Söhne Mono"/>
              </a:rPr>
              <a:t> </a:t>
            </a:r>
            <a:endParaRPr lang="en-US" dirty="0" smtClean="0">
              <a:solidFill>
                <a:srgbClr val="FFFFFF"/>
              </a:solidFill>
              <a:latin typeface="Söhne Mono"/>
            </a:endParaRPr>
          </a:p>
          <a:p>
            <a:r>
              <a:rPr lang="en-US" dirty="0" smtClean="0">
                <a:solidFill>
                  <a:srgbClr val="DF3079"/>
                </a:solidFill>
                <a:latin typeface="Söhne Mono"/>
              </a:rPr>
              <a:t>1</a:t>
            </a:r>
            <a:r>
              <a:rPr lang="en-US" dirty="0" smtClean="0">
                <a:solidFill>
                  <a:srgbClr val="FFFFFF"/>
                </a:solidFill>
                <a:latin typeface="Söhne Mono"/>
              </a:rPr>
              <a:t> </a:t>
            </a:r>
            <a:r>
              <a:rPr lang="en-US" dirty="0">
                <a:solidFill>
                  <a:srgbClr val="DF3079"/>
                </a:solidFill>
                <a:latin typeface="Söhne Mono"/>
              </a:rPr>
              <a:t>2</a:t>
            </a:r>
            <a:r>
              <a:rPr lang="en-US" dirty="0">
                <a:solidFill>
                  <a:srgbClr val="FFFFFF"/>
                </a:solidFill>
                <a:latin typeface="Söhne Mono"/>
              </a:rPr>
              <a:t> </a:t>
            </a:r>
            <a:r>
              <a:rPr lang="en-US" dirty="0">
                <a:solidFill>
                  <a:srgbClr val="F22C3D"/>
                </a:solidFill>
                <a:latin typeface="Söhne Mono"/>
              </a:rPr>
              <a:t>Math</a:t>
            </a:r>
            <a:r>
              <a:rPr lang="en-US" dirty="0">
                <a:solidFill>
                  <a:srgbClr val="FFFFFF"/>
                </a:solidFill>
                <a:latin typeface="Söhne Mono"/>
              </a:rPr>
              <a:t> </a:t>
            </a:r>
            <a:r>
              <a:rPr lang="en-US" dirty="0">
                <a:solidFill>
                  <a:srgbClr val="DF3079"/>
                </a:solidFill>
                <a:latin typeface="Söhne Mono"/>
              </a:rPr>
              <a:t>90</a:t>
            </a:r>
            <a:r>
              <a:rPr lang="en-US" dirty="0">
                <a:solidFill>
                  <a:srgbClr val="FFFFFF"/>
                </a:solidFill>
                <a:latin typeface="Söhne Mono"/>
              </a:rPr>
              <a:t> </a:t>
            </a:r>
            <a:endParaRPr lang="en-US" dirty="0" smtClean="0">
              <a:solidFill>
                <a:srgbClr val="FFFFFF"/>
              </a:solidFill>
              <a:latin typeface="Söhne Mono"/>
            </a:endParaRPr>
          </a:p>
          <a:p>
            <a:r>
              <a:rPr lang="en-US" dirty="0" smtClean="0">
                <a:solidFill>
                  <a:srgbClr val="DF3079"/>
                </a:solidFill>
                <a:latin typeface="Söhne Mono"/>
              </a:rPr>
              <a:t>2</a:t>
            </a:r>
            <a:r>
              <a:rPr lang="en-US" dirty="0" smtClean="0">
                <a:solidFill>
                  <a:srgbClr val="FFFFFF"/>
                </a:solidFill>
                <a:latin typeface="Söhne Mono"/>
              </a:rPr>
              <a:t> </a:t>
            </a:r>
            <a:r>
              <a:rPr lang="en-US" dirty="0">
                <a:solidFill>
                  <a:srgbClr val="DF3079"/>
                </a:solidFill>
                <a:latin typeface="Söhne Mono"/>
              </a:rPr>
              <a:t>3</a:t>
            </a:r>
            <a:r>
              <a:rPr lang="en-US" dirty="0">
                <a:solidFill>
                  <a:srgbClr val="FFFFFF"/>
                </a:solidFill>
                <a:latin typeface="Söhne Mono"/>
              </a:rPr>
              <a:t> </a:t>
            </a:r>
            <a:r>
              <a:rPr lang="en-US" dirty="0">
                <a:solidFill>
                  <a:srgbClr val="F22C3D"/>
                </a:solidFill>
                <a:latin typeface="Söhne Mono"/>
              </a:rPr>
              <a:t>Math</a:t>
            </a:r>
            <a:r>
              <a:rPr lang="en-US" dirty="0">
                <a:solidFill>
                  <a:srgbClr val="FFFFFF"/>
                </a:solidFill>
                <a:latin typeface="Söhne Mono"/>
              </a:rPr>
              <a:t> </a:t>
            </a:r>
            <a:r>
              <a:rPr lang="en-US" dirty="0">
                <a:solidFill>
                  <a:srgbClr val="DF3079"/>
                </a:solidFill>
                <a:latin typeface="Söhne Mono"/>
              </a:rPr>
              <a:t>85</a:t>
            </a:r>
            <a:r>
              <a:rPr lang="en-US" dirty="0">
                <a:solidFill>
                  <a:srgbClr val="FFFFFF"/>
                </a:solidFill>
                <a:latin typeface="Söhne Mono"/>
              </a:rPr>
              <a:t> </a:t>
            </a:r>
            <a:endParaRPr lang="en-US" dirty="0" smtClean="0">
              <a:solidFill>
                <a:srgbClr val="FFFFFF"/>
              </a:solidFill>
              <a:latin typeface="Söhne Mono"/>
            </a:endParaRPr>
          </a:p>
          <a:p>
            <a:r>
              <a:rPr lang="en-US" dirty="0" smtClean="0">
                <a:solidFill>
                  <a:srgbClr val="DF3079"/>
                </a:solidFill>
                <a:latin typeface="Söhne Mono"/>
              </a:rPr>
              <a:t>3</a:t>
            </a:r>
            <a:r>
              <a:rPr lang="en-US" dirty="0" smtClean="0">
                <a:solidFill>
                  <a:srgbClr val="FFFFFF"/>
                </a:solidFill>
                <a:latin typeface="Söhne Mono"/>
              </a:rPr>
              <a:t> </a:t>
            </a:r>
            <a:r>
              <a:rPr lang="en-US" dirty="0">
                <a:solidFill>
                  <a:srgbClr val="DF3079"/>
                </a:solidFill>
                <a:latin typeface="Söhne Mono"/>
              </a:rPr>
              <a:t>1</a:t>
            </a:r>
            <a:r>
              <a:rPr lang="en-US" dirty="0">
                <a:solidFill>
                  <a:srgbClr val="FFFFFF"/>
                </a:solidFill>
                <a:latin typeface="Söhne Mono"/>
              </a:rPr>
              <a:t> </a:t>
            </a:r>
            <a:r>
              <a:rPr lang="en-US" dirty="0">
                <a:solidFill>
                  <a:srgbClr val="F22C3D"/>
                </a:solidFill>
                <a:latin typeface="Söhne Mono"/>
              </a:rPr>
              <a:t>Science</a:t>
            </a:r>
            <a:r>
              <a:rPr lang="en-US" dirty="0">
                <a:solidFill>
                  <a:srgbClr val="FFFFFF"/>
                </a:solidFill>
                <a:latin typeface="Söhne Mono"/>
              </a:rPr>
              <a:t> </a:t>
            </a:r>
            <a:r>
              <a:rPr lang="en-US" dirty="0">
                <a:solidFill>
                  <a:srgbClr val="DF3079"/>
                </a:solidFill>
                <a:latin typeface="Söhne Mono"/>
              </a:rPr>
              <a:t>70</a:t>
            </a:r>
            <a:r>
              <a:rPr lang="en-US" dirty="0">
                <a:solidFill>
                  <a:srgbClr val="FFFFFF"/>
                </a:solidFill>
                <a:latin typeface="Söhne Mono"/>
              </a:rPr>
              <a:t> </a:t>
            </a:r>
            <a:endParaRPr lang="en-US" dirty="0" smtClean="0">
              <a:solidFill>
                <a:srgbClr val="FFFFFF"/>
              </a:solidFill>
              <a:latin typeface="Söhne Mono"/>
            </a:endParaRPr>
          </a:p>
          <a:p>
            <a:r>
              <a:rPr lang="en-US" dirty="0" smtClean="0">
                <a:solidFill>
                  <a:srgbClr val="DF3079"/>
                </a:solidFill>
                <a:latin typeface="Söhne Mono"/>
              </a:rPr>
              <a:t>4</a:t>
            </a:r>
            <a:r>
              <a:rPr lang="en-US" dirty="0" smtClean="0">
                <a:solidFill>
                  <a:srgbClr val="FFFFFF"/>
                </a:solidFill>
                <a:latin typeface="Söhne Mono"/>
              </a:rPr>
              <a:t> </a:t>
            </a:r>
            <a:r>
              <a:rPr lang="en-US" dirty="0">
                <a:solidFill>
                  <a:srgbClr val="DF3079"/>
                </a:solidFill>
                <a:latin typeface="Söhne Mono"/>
              </a:rPr>
              <a:t>2</a:t>
            </a:r>
            <a:r>
              <a:rPr lang="en-US" dirty="0">
                <a:solidFill>
                  <a:srgbClr val="FFFFFF"/>
                </a:solidFill>
                <a:latin typeface="Söhne Mono"/>
              </a:rPr>
              <a:t> </a:t>
            </a:r>
            <a:r>
              <a:rPr lang="en-US" dirty="0">
                <a:solidFill>
                  <a:srgbClr val="F22C3D"/>
                </a:solidFill>
                <a:latin typeface="Söhne Mono"/>
              </a:rPr>
              <a:t>Science</a:t>
            </a:r>
            <a:r>
              <a:rPr lang="en-US" dirty="0">
                <a:solidFill>
                  <a:srgbClr val="FFFFFF"/>
                </a:solidFill>
                <a:latin typeface="Söhne Mono"/>
              </a:rPr>
              <a:t> </a:t>
            </a:r>
            <a:r>
              <a:rPr lang="en-US" dirty="0">
                <a:solidFill>
                  <a:srgbClr val="DF3079"/>
                </a:solidFill>
                <a:latin typeface="Söhne Mono"/>
              </a:rPr>
              <a:t>80</a:t>
            </a:r>
            <a:r>
              <a:rPr lang="en-US" dirty="0">
                <a:solidFill>
                  <a:srgbClr val="FFFFFF"/>
                </a:solidFill>
                <a:latin typeface="Söhne Mono"/>
              </a:rPr>
              <a:t> </a:t>
            </a:r>
            <a:endParaRPr lang="en-US" dirty="0" smtClean="0">
              <a:solidFill>
                <a:srgbClr val="FFFFFF"/>
              </a:solidFill>
              <a:latin typeface="Söhne Mono"/>
            </a:endParaRPr>
          </a:p>
          <a:p>
            <a:r>
              <a:rPr lang="en-US" dirty="0" smtClean="0">
                <a:solidFill>
                  <a:srgbClr val="DF3079"/>
                </a:solidFill>
                <a:latin typeface="Söhne Mono"/>
              </a:rPr>
              <a:t>5</a:t>
            </a:r>
            <a:r>
              <a:rPr lang="en-US" dirty="0" smtClean="0">
                <a:solidFill>
                  <a:srgbClr val="FFFFFF"/>
                </a:solidFill>
                <a:latin typeface="Söhne Mono"/>
              </a:rPr>
              <a:t> </a:t>
            </a:r>
            <a:r>
              <a:rPr lang="en-US" dirty="0">
                <a:solidFill>
                  <a:srgbClr val="DF3079"/>
                </a:solidFill>
                <a:latin typeface="Söhne Mono"/>
              </a:rPr>
              <a:t>3</a:t>
            </a:r>
            <a:r>
              <a:rPr lang="en-US" dirty="0">
                <a:solidFill>
                  <a:srgbClr val="FFFFFF"/>
                </a:solidFill>
                <a:latin typeface="Söhne Mono"/>
              </a:rPr>
              <a:t> </a:t>
            </a:r>
            <a:r>
              <a:rPr lang="en-US" dirty="0">
                <a:solidFill>
                  <a:srgbClr val="F22C3D"/>
                </a:solidFill>
                <a:latin typeface="Söhne Mono"/>
              </a:rPr>
              <a:t>Science</a:t>
            </a:r>
            <a:r>
              <a:rPr lang="en-US" dirty="0">
                <a:solidFill>
                  <a:srgbClr val="FFFFFF"/>
                </a:solidFill>
                <a:latin typeface="Söhne Mono"/>
              </a:rPr>
              <a:t> </a:t>
            </a:r>
            <a:r>
              <a:rPr lang="en-US" dirty="0">
                <a:solidFill>
                  <a:srgbClr val="DF3079"/>
                </a:solidFill>
                <a:latin typeface="Söhne Mono"/>
              </a:rPr>
              <a:t>75</a:t>
            </a:r>
            <a:endParaRPr lang="en-US" dirty="0"/>
          </a:p>
        </p:txBody>
      </p:sp>
    </p:spTree>
    <p:extLst>
      <p:ext uri="{BB962C8B-B14F-4D97-AF65-F5344CB8AC3E}">
        <p14:creationId xmlns:p14="http://schemas.microsoft.com/office/powerpoint/2010/main" val="3099269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Data </a:t>
            </a:r>
            <a:r>
              <a:rPr lang="en-US" sz="3200" dirty="0" smtClean="0"/>
              <a:t>Wrangling</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17725" y="998717"/>
            <a:ext cx="4572000" cy="3323987"/>
          </a:xfrm>
          <a:prstGeom prst="rect">
            <a:avLst/>
          </a:prstGeom>
        </p:spPr>
        <p:txBody>
          <a:bodyPr>
            <a:spAutoFit/>
          </a:bodyPr>
          <a:lstStyle/>
          <a:p>
            <a:r>
              <a:rPr lang="en-US" dirty="0"/>
              <a:t>import pandas as </a:t>
            </a:r>
            <a:r>
              <a:rPr lang="en-US" dirty="0" err="1"/>
              <a:t>pd</a:t>
            </a:r>
            <a:endParaRPr lang="en-US" dirty="0"/>
          </a:p>
          <a:p>
            <a:endParaRPr lang="en-US" dirty="0"/>
          </a:p>
          <a:p>
            <a:r>
              <a:rPr lang="en-US" dirty="0"/>
              <a:t># Create a </a:t>
            </a:r>
            <a:r>
              <a:rPr lang="en-US" dirty="0" err="1"/>
              <a:t>DataFrame</a:t>
            </a:r>
            <a:endParaRPr lang="en-US" dirty="0"/>
          </a:p>
          <a:p>
            <a:r>
              <a:rPr lang="en-US" dirty="0"/>
              <a:t>data = {</a:t>
            </a:r>
          </a:p>
          <a:p>
            <a:r>
              <a:rPr lang="en-US" dirty="0"/>
              <a:t>    'ID': [1, 2, 3],</a:t>
            </a:r>
          </a:p>
          <a:p>
            <a:r>
              <a:rPr lang="en-US" dirty="0"/>
              <a:t>    'Math': [80, 90, 85],</a:t>
            </a:r>
          </a:p>
          <a:p>
            <a:r>
              <a:rPr lang="en-US" dirty="0"/>
              <a:t>    'Science': [70, 80, 75],</a:t>
            </a:r>
          </a:p>
          <a:p>
            <a:r>
              <a:rPr lang="en-US" dirty="0"/>
              <a:t>}</a:t>
            </a:r>
          </a:p>
          <a:p>
            <a:r>
              <a:rPr lang="en-US" dirty="0" err="1"/>
              <a:t>df</a:t>
            </a:r>
            <a:r>
              <a:rPr lang="en-US" dirty="0"/>
              <a:t> = </a:t>
            </a:r>
            <a:r>
              <a:rPr lang="en-US" dirty="0" err="1"/>
              <a:t>pd.DataFrame</a:t>
            </a:r>
            <a:r>
              <a:rPr lang="en-US" dirty="0"/>
              <a:t>(data)</a:t>
            </a:r>
          </a:p>
          <a:p>
            <a:endParaRPr lang="en-US" dirty="0"/>
          </a:p>
          <a:p>
            <a:r>
              <a:rPr lang="en-US" dirty="0"/>
              <a:t># Perform stack operation</a:t>
            </a:r>
          </a:p>
          <a:p>
            <a:r>
              <a:rPr lang="en-US" dirty="0" err="1"/>
              <a:t>stacked_df</a:t>
            </a:r>
            <a:r>
              <a:rPr lang="en-US" dirty="0"/>
              <a:t> = </a:t>
            </a:r>
            <a:r>
              <a:rPr lang="en-US" dirty="0" err="1"/>
              <a:t>df.set_index</a:t>
            </a:r>
            <a:r>
              <a:rPr lang="en-US" dirty="0"/>
              <a:t>('ID').stack()</a:t>
            </a:r>
          </a:p>
          <a:p>
            <a:endParaRPr lang="en-US" dirty="0"/>
          </a:p>
          <a:p>
            <a:r>
              <a:rPr lang="en-US" dirty="0"/>
              <a:t># Perform unstack operation</a:t>
            </a:r>
          </a:p>
          <a:p>
            <a:r>
              <a:rPr lang="en-US" dirty="0" err="1"/>
              <a:t>unstacked_df</a:t>
            </a:r>
            <a:r>
              <a:rPr lang="en-US" dirty="0"/>
              <a:t> = </a:t>
            </a:r>
            <a:r>
              <a:rPr lang="en-US" dirty="0" err="1"/>
              <a:t>stacked_df.unstack</a:t>
            </a:r>
            <a:r>
              <a:rPr lang="en-US" dirty="0"/>
              <a:t>()</a:t>
            </a:r>
          </a:p>
        </p:txBody>
      </p:sp>
      <p:sp>
        <p:nvSpPr>
          <p:cNvPr id="4" name="Rectangle 3"/>
          <p:cNvSpPr/>
          <p:nvPr/>
        </p:nvSpPr>
        <p:spPr>
          <a:xfrm>
            <a:off x="4746567" y="1008251"/>
            <a:ext cx="4572000" cy="2031325"/>
          </a:xfrm>
          <a:prstGeom prst="rect">
            <a:avLst/>
          </a:prstGeom>
        </p:spPr>
        <p:txBody>
          <a:bodyPr>
            <a:spAutoFit/>
          </a:bodyPr>
          <a:lstStyle/>
          <a:p>
            <a:r>
              <a:rPr lang="en-US" dirty="0" smtClean="0"/>
              <a:t>Output of stack</a:t>
            </a:r>
          </a:p>
          <a:p>
            <a:r>
              <a:rPr lang="en-US" dirty="0" smtClean="0"/>
              <a:t>ID   </a:t>
            </a:r>
            <a:endParaRPr lang="en-US" dirty="0"/>
          </a:p>
          <a:p>
            <a:r>
              <a:rPr lang="en-US" dirty="0"/>
              <a:t>1   Math       80</a:t>
            </a:r>
          </a:p>
          <a:p>
            <a:r>
              <a:rPr lang="en-US" dirty="0"/>
              <a:t>    Science    70</a:t>
            </a:r>
          </a:p>
          <a:p>
            <a:r>
              <a:rPr lang="en-US" dirty="0"/>
              <a:t>2   Math       90</a:t>
            </a:r>
          </a:p>
          <a:p>
            <a:r>
              <a:rPr lang="en-US" dirty="0"/>
              <a:t>    Science    80</a:t>
            </a:r>
          </a:p>
          <a:p>
            <a:r>
              <a:rPr lang="en-US" dirty="0"/>
              <a:t>3   Math       85</a:t>
            </a:r>
          </a:p>
          <a:p>
            <a:r>
              <a:rPr lang="en-US" dirty="0"/>
              <a:t>    Science    75</a:t>
            </a:r>
          </a:p>
          <a:p>
            <a:r>
              <a:rPr lang="en-US" dirty="0" err="1"/>
              <a:t>dtype</a:t>
            </a:r>
            <a:r>
              <a:rPr lang="en-US" dirty="0"/>
              <a:t>: int64</a:t>
            </a:r>
          </a:p>
        </p:txBody>
      </p:sp>
      <p:sp>
        <p:nvSpPr>
          <p:cNvPr id="8" name="Rectangle 7"/>
          <p:cNvSpPr/>
          <p:nvPr/>
        </p:nvSpPr>
        <p:spPr>
          <a:xfrm>
            <a:off x="4804757" y="3196102"/>
            <a:ext cx="4572000" cy="1384995"/>
          </a:xfrm>
          <a:prstGeom prst="rect">
            <a:avLst/>
          </a:prstGeom>
        </p:spPr>
        <p:txBody>
          <a:bodyPr>
            <a:spAutoFit/>
          </a:bodyPr>
          <a:lstStyle/>
          <a:p>
            <a:r>
              <a:rPr lang="en-US" dirty="0" smtClean="0"/>
              <a:t>Output of unstack</a:t>
            </a:r>
          </a:p>
          <a:p>
            <a:r>
              <a:rPr lang="en-US" dirty="0" smtClean="0"/>
              <a:t>Math  </a:t>
            </a:r>
            <a:r>
              <a:rPr lang="en-US" dirty="0"/>
              <a:t>Science</a:t>
            </a:r>
          </a:p>
          <a:p>
            <a:r>
              <a:rPr lang="en-US" dirty="0"/>
              <a:t>ID               </a:t>
            </a:r>
          </a:p>
          <a:p>
            <a:r>
              <a:rPr lang="en-US" dirty="0"/>
              <a:t>1    80       70</a:t>
            </a:r>
          </a:p>
          <a:p>
            <a:r>
              <a:rPr lang="en-US" dirty="0"/>
              <a:t>2    90       80</a:t>
            </a:r>
          </a:p>
          <a:p>
            <a:r>
              <a:rPr lang="en-US" dirty="0"/>
              <a:t>3    85       75</a:t>
            </a:r>
          </a:p>
        </p:txBody>
      </p:sp>
    </p:spTree>
    <p:extLst>
      <p:ext uri="{BB962C8B-B14F-4D97-AF65-F5344CB8AC3E}">
        <p14:creationId xmlns:p14="http://schemas.microsoft.com/office/powerpoint/2010/main" val="25390394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Transformation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207817" y="957572"/>
            <a:ext cx="8445731" cy="1169551"/>
          </a:xfrm>
          <a:prstGeom prst="rect">
            <a:avLst/>
          </a:prstGeom>
        </p:spPr>
        <p:txBody>
          <a:bodyPr wrap="square">
            <a:spAutoFit/>
          </a:bodyPr>
          <a:lstStyle/>
          <a:p>
            <a:r>
              <a:rPr lang="en-US" dirty="0">
                <a:solidFill>
                  <a:srgbClr val="374151"/>
                </a:solidFill>
                <a:latin typeface="Söhne"/>
              </a:rPr>
              <a:t>In data science, data transformation refers to the process of converting or modifying the original data to make it more suitable for analysis or modeling. Data transformation involves applying various techniques to modify the structure, format, or distribution of the data. The goal of data transformation is to improve data quality, handle outliers or missing values, normalize variables, capture non-linear relationships, and meet the assumptions of statistical methods.</a:t>
            </a:r>
            <a:endParaRPr lang="en-US" dirty="0"/>
          </a:p>
        </p:txBody>
      </p:sp>
      <p:sp>
        <p:nvSpPr>
          <p:cNvPr id="3" name="Rectangle 2"/>
          <p:cNvSpPr/>
          <p:nvPr/>
        </p:nvSpPr>
        <p:spPr>
          <a:xfrm>
            <a:off x="207817" y="2240685"/>
            <a:ext cx="2315057" cy="307777"/>
          </a:xfrm>
          <a:prstGeom prst="rect">
            <a:avLst/>
          </a:prstGeom>
        </p:spPr>
        <p:txBody>
          <a:bodyPr wrap="none">
            <a:spAutoFit/>
          </a:bodyPr>
          <a:lstStyle/>
          <a:p>
            <a:r>
              <a:rPr lang="en-US" dirty="0">
                <a:solidFill>
                  <a:srgbClr val="374151"/>
                </a:solidFill>
                <a:latin typeface="Söhne"/>
              </a:rPr>
              <a:t>Scaling and Normalization:</a:t>
            </a:r>
            <a:endParaRPr lang="en-US" dirty="0"/>
          </a:p>
        </p:txBody>
      </p:sp>
      <p:sp>
        <p:nvSpPr>
          <p:cNvPr id="4" name="Rectangle 3"/>
          <p:cNvSpPr/>
          <p:nvPr/>
        </p:nvSpPr>
        <p:spPr>
          <a:xfrm>
            <a:off x="204383" y="2650452"/>
            <a:ext cx="2733441" cy="307777"/>
          </a:xfrm>
          <a:prstGeom prst="rect">
            <a:avLst/>
          </a:prstGeom>
        </p:spPr>
        <p:txBody>
          <a:bodyPr wrap="none">
            <a:spAutoFit/>
          </a:bodyPr>
          <a:lstStyle/>
          <a:p>
            <a:r>
              <a:rPr lang="en-US" smtClean="0">
                <a:solidFill>
                  <a:srgbClr val="374151"/>
                </a:solidFill>
                <a:latin typeface="Söhne"/>
              </a:rPr>
              <a:t>Encoding Categorical Variables:</a:t>
            </a:r>
            <a:endParaRPr lang="en-US" dirty="0"/>
          </a:p>
        </p:txBody>
      </p:sp>
      <p:sp>
        <p:nvSpPr>
          <p:cNvPr id="8" name="Rectangle 7"/>
          <p:cNvSpPr/>
          <p:nvPr/>
        </p:nvSpPr>
        <p:spPr>
          <a:xfrm>
            <a:off x="204383" y="3071791"/>
            <a:ext cx="3267241" cy="307777"/>
          </a:xfrm>
          <a:prstGeom prst="rect">
            <a:avLst/>
          </a:prstGeom>
        </p:spPr>
        <p:txBody>
          <a:bodyPr wrap="none">
            <a:spAutoFit/>
          </a:bodyPr>
          <a:lstStyle/>
          <a:p>
            <a:r>
              <a:rPr lang="en-US" dirty="0">
                <a:solidFill>
                  <a:srgbClr val="374151"/>
                </a:solidFill>
                <a:latin typeface="Söhne"/>
              </a:rPr>
              <a:t>Logarithmic or Power Transformations:</a:t>
            </a:r>
            <a:endParaRPr lang="en-US" dirty="0"/>
          </a:p>
        </p:txBody>
      </p:sp>
      <p:sp>
        <p:nvSpPr>
          <p:cNvPr id="9" name="Rectangle 8"/>
          <p:cNvSpPr/>
          <p:nvPr/>
        </p:nvSpPr>
        <p:spPr>
          <a:xfrm>
            <a:off x="212625" y="3481558"/>
            <a:ext cx="2305439" cy="307777"/>
          </a:xfrm>
          <a:prstGeom prst="rect">
            <a:avLst/>
          </a:prstGeom>
        </p:spPr>
        <p:txBody>
          <a:bodyPr wrap="none">
            <a:spAutoFit/>
          </a:bodyPr>
          <a:lstStyle/>
          <a:p>
            <a:r>
              <a:rPr lang="en-US" dirty="0">
                <a:solidFill>
                  <a:srgbClr val="374151"/>
                </a:solidFill>
                <a:latin typeface="Söhne"/>
              </a:rPr>
              <a:t>Binning and Discretization:</a:t>
            </a:r>
            <a:endParaRPr lang="en-US" dirty="0"/>
          </a:p>
        </p:txBody>
      </p:sp>
    </p:spTree>
    <p:extLst>
      <p:ext uri="{BB962C8B-B14F-4D97-AF65-F5344CB8AC3E}">
        <p14:creationId xmlns:p14="http://schemas.microsoft.com/office/powerpoint/2010/main" val="107361635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Transformation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10" name="Rectangle 9"/>
          <p:cNvSpPr/>
          <p:nvPr/>
        </p:nvSpPr>
        <p:spPr>
          <a:xfrm>
            <a:off x="382386" y="711460"/>
            <a:ext cx="5170516" cy="3754874"/>
          </a:xfrm>
          <a:prstGeom prst="rect">
            <a:avLst/>
          </a:prstGeom>
        </p:spPr>
        <p:txBody>
          <a:bodyPr wrap="square">
            <a:spAutoFit/>
          </a:bodyPr>
          <a:lstStyle/>
          <a:p>
            <a:r>
              <a:rPr lang="en-US" dirty="0">
                <a:solidFill>
                  <a:srgbClr val="AF00DB"/>
                </a:solidFill>
                <a:latin typeface="Courier New" panose="02070309020205020404" pitchFamily="49" charset="0"/>
              </a:rPr>
              <a:t>import</a:t>
            </a:r>
            <a:r>
              <a:rPr lang="en-US" dirty="0">
                <a:latin typeface="Courier New" panose="02070309020205020404" pitchFamily="49" charset="0"/>
              </a:rPr>
              <a:t> pandas </a:t>
            </a:r>
            <a:r>
              <a:rPr lang="en-US" dirty="0">
                <a:solidFill>
                  <a:srgbClr val="AF00DB"/>
                </a:solidFill>
                <a:latin typeface="Courier New" panose="02070309020205020404" pitchFamily="49" charset="0"/>
              </a:rPr>
              <a:t>as</a:t>
            </a:r>
            <a:r>
              <a:rPr lang="en-US" dirty="0">
                <a:latin typeface="Courier New" panose="02070309020205020404" pitchFamily="49" charset="0"/>
              </a:rPr>
              <a:t> </a:t>
            </a:r>
            <a:r>
              <a:rPr lang="en-US" dirty="0" err="1">
                <a:latin typeface="Courier New" panose="02070309020205020404" pitchFamily="49" charset="0"/>
              </a:rPr>
              <a:t>pd</a:t>
            </a:r>
            <a:endParaRPr lang="en-US" dirty="0">
              <a:latin typeface="Courier New" panose="02070309020205020404" pitchFamily="49" charset="0"/>
            </a:endParaRPr>
          </a:p>
          <a:p>
            <a:r>
              <a:rPr lang="en-US" dirty="0">
                <a:latin typeface="Courier New" panose="02070309020205020404" pitchFamily="49" charset="0"/>
              </a:rPr>
              <a:t/>
            </a:r>
            <a:br>
              <a:rPr lang="en-US" dirty="0">
                <a:latin typeface="Courier New" panose="02070309020205020404" pitchFamily="49" charset="0"/>
              </a:rPr>
            </a:br>
            <a:r>
              <a:rPr lang="en-US" dirty="0">
                <a:solidFill>
                  <a:srgbClr val="008000"/>
                </a:solidFill>
                <a:latin typeface="Courier New" panose="02070309020205020404" pitchFamily="49" charset="0"/>
              </a:rPr>
              <a:t># Create a </a:t>
            </a:r>
            <a:r>
              <a:rPr lang="en-US" dirty="0" err="1">
                <a:solidFill>
                  <a:srgbClr val="008000"/>
                </a:solidFill>
                <a:latin typeface="Courier New" panose="02070309020205020404" pitchFamily="49" charset="0"/>
              </a:rPr>
              <a:t>DataFrame</a:t>
            </a:r>
            <a:endParaRPr lang="en-US" dirty="0">
              <a:latin typeface="Courier New" panose="02070309020205020404" pitchFamily="49" charset="0"/>
            </a:endParaRPr>
          </a:p>
          <a:p>
            <a:r>
              <a:rPr lang="en-US" dirty="0">
                <a:latin typeface="Courier New" panose="02070309020205020404" pitchFamily="49" charset="0"/>
              </a:rPr>
              <a:t>data = {</a:t>
            </a:r>
          </a:p>
          <a:p>
            <a:r>
              <a:rPr lang="en-US" dirty="0">
                <a:latin typeface="Courier New" panose="02070309020205020404" pitchFamily="49" charset="0"/>
              </a:rPr>
              <a:t>    </a:t>
            </a:r>
            <a:r>
              <a:rPr lang="en-US" dirty="0">
                <a:solidFill>
                  <a:srgbClr val="A31515"/>
                </a:solidFill>
                <a:latin typeface="Courier New" panose="02070309020205020404" pitchFamily="49" charset="0"/>
              </a:rPr>
              <a:t>'ID'</a:t>
            </a:r>
            <a:r>
              <a:rPr lang="en-US" dirty="0">
                <a:latin typeface="Courier New" panose="02070309020205020404" pitchFamily="49" charset="0"/>
              </a:rPr>
              <a:t>: [</a:t>
            </a:r>
            <a:r>
              <a:rPr lang="en-US" dirty="0">
                <a:solidFill>
                  <a:srgbClr val="098156"/>
                </a:solidFill>
                <a:latin typeface="Courier New" panose="02070309020205020404" pitchFamily="49" charset="0"/>
              </a:rPr>
              <a:t>1</a:t>
            </a:r>
            <a:r>
              <a:rPr lang="en-US" dirty="0">
                <a:latin typeface="Courier New" panose="02070309020205020404" pitchFamily="49" charset="0"/>
              </a:rPr>
              <a:t>, </a:t>
            </a:r>
            <a:r>
              <a:rPr lang="en-US" dirty="0">
                <a:solidFill>
                  <a:srgbClr val="098156"/>
                </a:solidFill>
                <a:latin typeface="Courier New" panose="02070309020205020404" pitchFamily="49" charset="0"/>
              </a:rPr>
              <a:t>2</a:t>
            </a:r>
            <a:r>
              <a:rPr lang="en-US" dirty="0">
                <a:latin typeface="Courier New" panose="02070309020205020404" pitchFamily="49" charset="0"/>
              </a:rPr>
              <a:t>, </a:t>
            </a:r>
            <a:r>
              <a:rPr lang="en-US" dirty="0">
                <a:solidFill>
                  <a:srgbClr val="098156"/>
                </a:solidFill>
                <a:latin typeface="Courier New" panose="02070309020205020404" pitchFamily="49" charset="0"/>
              </a:rPr>
              <a:t>3</a:t>
            </a:r>
            <a:r>
              <a:rPr lang="en-US" dirty="0">
                <a:latin typeface="Courier New" panose="02070309020205020404" pitchFamily="49" charset="0"/>
              </a:rPr>
              <a:t>, </a:t>
            </a:r>
            <a:r>
              <a:rPr lang="en-US" dirty="0">
                <a:solidFill>
                  <a:srgbClr val="098156"/>
                </a:solidFill>
                <a:latin typeface="Courier New" panose="02070309020205020404" pitchFamily="49" charset="0"/>
              </a:rPr>
              <a:t>4</a:t>
            </a:r>
            <a:r>
              <a:rPr lang="en-US" dirty="0">
                <a:latin typeface="Courier New" panose="02070309020205020404" pitchFamily="49" charset="0"/>
              </a:rPr>
              <a:t>, </a:t>
            </a:r>
            <a:r>
              <a:rPr lang="en-US" dirty="0">
                <a:solidFill>
                  <a:srgbClr val="098156"/>
                </a:solidFill>
                <a:latin typeface="Courier New" panose="02070309020205020404" pitchFamily="49" charset="0"/>
              </a:rPr>
              <a:t>5</a:t>
            </a:r>
            <a:r>
              <a:rPr lang="en-US" dirty="0">
                <a:latin typeface="Courier New" panose="02070309020205020404" pitchFamily="49" charset="0"/>
              </a:rPr>
              <a:t>],</a:t>
            </a:r>
          </a:p>
          <a:p>
            <a:r>
              <a:rPr lang="en-US" dirty="0">
                <a:latin typeface="Courier New" panose="02070309020205020404" pitchFamily="49" charset="0"/>
              </a:rPr>
              <a:t>    </a:t>
            </a:r>
            <a:r>
              <a:rPr lang="en-US" dirty="0">
                <a:solidFill>
                  <a:srgbClr val="A31515"/>
                </a:solidFill>
                <a:latin typeface="Courier New" panose="02070309020205020404" pitchFamily="49" charset="0"/>
              </a:rPr>
              <a:t>'Category'</a:t>
            </a:r>
            <a:r>
              <a:rPr lang="en-US" dirty="0">
                <a:latin typeface="Courier New" panose="02070309020205020404" pitchFamily="49" charset="0"/>
              </a:rPr>
              <a:t>: [</a:t>
            </a:r>
            <a:r>
              <a:rPr lang="en-US" dirty="0">
                <a:solidFill>
                  <a:srgbClr val="A31515"/>
                </a:solidFill>
                <a:latin typeface="Courier New" panose="02070309020205020404" pitchFamily="49" charset="0"/>
              </a:rPr>
              <a:t>'A'</a:t>
            </a:r>
            <a:r>
              <a:rPr lang="en-US" dirty="0">
                <a:latin typeface="Courier New" panose="02070309020205020404" pitchFamily="49" charset="0"/>
              </a:rPr>
              <a:t>, </a:t>
            </a:r>
            <a:r>
              <a:rPr lang="en-US" dirty="0">
                <a:solidFill>
                  <a:srgbClr val="A31515"/>
                </a:solidFill>
                <a:latin typeface="Courier New" panose="02070309020205020404" pitchFamily="49" charset="0"/>
              </a:rPr>
              <a:t>'B'</a:t>
            </a:r>
            <a:r>
              <a:rPr lang="en-US" dirty="0">
                <a:latin typeface="Courier New" panose="02070309020205020404" pitchFamily="49" charset="0"/>
              </a:rPr>
              <a:t>, </a:t>
            </a:r>
            <a:r>
              <a:rPr lang="en-US" dirty="0">
                <a:solidFill>
                  <a:srgbClr val="A31515"/>
                </a:solidFill>
                <a:latin typeface="Courier New" panose="02070309020205020404" pitchFamily="49" charset="0"/>
              </a:rPr>
              <a:t>'A'</a:t>
            </a:r>
            <a:r>
              <a:rPr lang="en-US" dirty="0">
                <a:latin typeface="Courier New" panose="02070309020205020404" pitchFamily="49" charset="0"/>
              </a:rPr>
              <a:t>, </a:t>
            </a:r>
            <a:r>
              <a:rPr lang="en-US" dirty="0">
                <a:solidFill>
                  <a:srgbClr val="A31515"/>
                </a:solidFill>
                <a:latin typeface="Courier New" panose="02070309020205020404" pitchFamily="49" charset="0"/>
              </a:rPr>
              <a:t>'C'</a:t>
            </a:r>
            <a:r>
              <a:rPr lang="en-US" dirty="0">
                <a:latin typeface="Courier New" panose="02070309020205020404" pitchFamily="49" charset="0"/>
              </a:rPr>
              <a:t>, </a:t>
            </a:r>
            <a:r>
              <a:rPr lang="en-US" dirty="0">
                <a:solidFill>
                  <a:srgbClr val="A31515"/>
                </a:solidFill>
                <a:latin typeface="Courier New" panose="02070309020205020404" pitchFamily="49" charset="0"/>
              </a:rPr>
              <a:t>'B'</a:t>
            </a:r>
            <a:r>
              <a:rPr lang="en-US" dirty="0">
                <a:latin typeface="Courier New" panose="02070309020205020404" pitchFamily="49" charset="0"/>
              </a:rPr>
              <a:t>],</a:t>
            </a:r>
          </a:p>
          <a:p>
            <a:r>
              <a:rPr lang="en-US" dirty="0">
                <a:latin typeface="Courier New" panose="02070309020205020404" pitchFamily="49" charset="0"/>
              </a:rPr>
              <a:t>    </a:t>
            </a:r>
            <a:r>
              <a:rPr lang="en-US" dirty="0">
                <a:solidFill>
                  <a:srgbClr val="A31515"/>
                </a:solidFill>
                <a:latin typeface="Courier New" panose="02070309020205020404" pitchFamily="49" charset="0"/>
              </a:rPr>
              <a:t>'Value'</a:t>
            </a:r>
            <a:r>
              <a:rPr lang="en-US" dirty="0">
                <a:latin typeface="Courier New" panose="02070309020205020404" pitchFamily="49" charset="0"/>
              </a:rPr>
              <a:t>: [</a:t>
            </a:r>
            <a:r>
              <a:rPr lang="en-US" dirty="0">
                <a:solidFill>
                  <a:srgbClr val="098156"/>
                </a:solidFill>
                <a:latin typeface="Courier New" panose="02070309020205020404" pitchFamily="49" charset="0"/>
              </a:rPr>
              <a:t>10</a:t>
            </a:r>
            <a:r>
              <a:rPr lang="en-US" dirty="0">
                <a:latin typeface="Courier New" panose="02070309020205020404" pitchFamily="49" charset="0"/>
              </a:rPr>
              <a:t>, </a:t>
            </a:r>
            <a:r>
              <a:rPr lang="en-US" dirty="0">
                <a:solidFill>
                  <a:srgbClr val="098156"/>
                </a:solidFill>
                <a:latin typeface="Courier New" panose="02070309020205020404" pitchFamily="49" charset="0"/>
              </a:rPr>
              <a:t>15</a:t>
            </a:r>
            <a:r>
              <a:rPr lang="en-US" dirty="0">
                <a:latin typeface="Courier New" panose="02070309020205020404" pitchFamily="49" charset="0"/>
              </a:rPr>
              <a:t>, </a:t>
            </a:r>
            <a:r>
              <a:rPr lang="en-US" dirty="0">
                <a:solidFill>
                  <a:srgbClr val="098156"/>
                </a:solidFill>
                <a:latin typeface="Courier New" panose="02070309020205020404" pitchFamily="49" charset="0"/>
              </a:rPr>
              <a:t>20</a:t>
            </a:r>
            <a:r>
              <a:rPr lang="en-US" dirty="0">
                <a:latin typeface="Courier New" panose="02070309020205020404" pitchFamily="49" charset="0"/>
              </a:rPr>
              <a:t>, </a:t>
            </a:r>
            <a:r>
              <a:rPr lang="en-US" dirty="0">
                <a:solidFill>
                  <a:srgbClr val="098156"/>
                </a:solidFill>
                <a:latin typeface="Courier New" panose="02070309020205020404" pitchFamily="49" charset="0"/>
              </a:rPr>
              <a:t>25</a:t>
            </a:r>
            <a:r>
              <a:rPr lang="en-US" dirty="0">
                <a:latin typeface="Courier New" panose="02070309020205020404" pitchFamily="49" charset="0"/>
              </a:rPr>
              <a:t>, </a:t>
            </a:r>
            <a:r>
              <a:rPr lang="en-US" dirty="0">
                <a:solidFill>
                  <a:srgbClr val="098156"/>
                </a:solidFill>
                <a:latin typeface="Courier New" panose="02070309020205020404" pitchFamily="49" charset="0"/>
              </a:rPr>
              <a:t>30</a:t>
            </a:r>
            <a:r>
              <a:rPr lang="en-US" dirty="0">
                <a:latin typeface="Courier New" panose="02070309020205020404" pitchFamily="49" charset="0"/>
              </a:rPr>
              <a:t>]</a:t>
            </a:r>
          </a:p>
          <a:p>
            <a:r>
              <a:rPr lang="en-US" dirty="0">
                <a:latin typeface="Courier New" panose="02070309020205020404" pitchFamily="49" charset="0"/>
              </a:rPr>
              <a:t>}</a:t>
            </a:r>
          </a:p>
          <a:p>
            <a:r>
              <a:rPr lang="en-US" dirty="0" err="1">
                <a:latin typeface="Courier New" panose="02070309020205020404" pitchFamily="49" charset="0"/>
              </a:rPr>
              <a:t>df</a:t>
            </a:r>
            <a:r>
              <a:rPr lang="en-US" dirty="0">
                <a:latin typeface="Courier New" panose="02070309020205020404" pitchFamily="49" charset="0"/>
              </a:rPr>
              <a:t> = </a:t>
            </a:r>
            <a:r>
              <a:rPr lang="en-US" dirty="0" err="1">
                <a:latin typeface="Courier New" panose="02070309020205020404" pitchFamily="49" charset="0"/>
              </a:rPr>
              <a:t>pd.DataFrame</a:t>
            </a:r>
            <a:r>
              <a:rPr lang="en-US" dirty="0">
                <a:latin typeface="Courier New" panose="02070309020205020404" pitchFamily="49" charset="0"/>
              </a:rPr>
              <a:t>(data)</a:t>
            </a:r>
          </a:p>
          <a:p>
            <a:r>
              <a:rPr lang="en-US" dirty="0">
                <a:solidFill>
                  <a:srgbClr val="795E26"/>
                </a:solidFill>
                <a:latin typeface="Courier New" panose="02070309020205020404" pitchFamily="49" charset="0"/>
              </a:rPr>
              <a:t>print</a:t>
            </a:r>
            <a:r>
              <a:rPr lang="en-US" dirty="0">
                <a:latin typeface="Courier New" panose="02070309020205020404" pitchFamily="49" charset="0"/>
              </a:rPr>
              <a:t>(</a:t>
            </a:r>
            <a:r>
              <a:rPr lang="en-US" dirty="0" err="1">
                <a:latin typeface="Courier New" panose="02070309020205020404" pitchFamily="49" charset="0"/>
              </a:rPr>
              <a:t>df</a:t>
            </a:r>
            <a:r>
              <a:rPr lang="en-US" dirty="0">
                <a:latin typeface="Courier New" panose="02070309020205020404" pitchFamily="49" charset="0"/>
              </a:rPr>
              <a:t>)</a:t>
            </a:r>
          </a:p>
          <a:p>
            <a:r>
              <a:rPr lang="en-US" dirty="0">
                <a:solidFill>
                  <a:srgbClr val="008000"/>
                </a:solidFill>
                <a:latin typeface="Courier New" panose="02070309020205020404" pitchFamily="49" charset="0"/>
              </a:rPr>
              <a:t># Applying transformation</a:t>
            </a:r>
            <a:endParaRPr lang="en-US" dirty="0">
              <a:latin typeface="Courier New" panose="02070309020205020404" pitchFamily="49" charset="0"/>
            </a:endParaRPr>
          </a:p>
          <a:p>
            <a:r>
              <a:rPr lang="en-US" dirty="0" err="1">
                <a:latin typeface="Courier New" panose="02070309020205020404" pitchFamily="49" charset="0"/>
              </a:rPr>
              <a:t>df</a:t>
            </a:r>
            <a:r>
              <a:rPr lang="en-US" dirty="0">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Value_squared</a:t>
            </a:r>
            <a:r>
              <a:rPr lang="en-US" dirty="0">
                <a:solidFill>
                  <a:srgbClr val="A31515"/>
                </a:solidFill>
                <a:latin typeface="Courier New" panose="02070309020205020404" pitchFamily="49" charset="0"/>
              </a:rPr>
              <a:t>'</a:t>
            </a:r>
            <a:r>
              <a:rPr lang="en-US" dirty="0">
                <a:latin typeface="Courier New" panose="02070309020205020404" pitchFamily="49" charset="0"/>
              </a:rPr>
              <a:t>] = </a:t>
            </a:r>
            <a:r>
              <a:rPr lang="en-US" dirty="0" err="1">
                <a:latin typeface="Courier New" panose="02070309020205020404" pitchFamily="49" charset="0"/>
              </a:rPr>
              <a:t>df</a:t>
            </a:r>
            <a:r>
              <a:rPr lang="en-US" dirty="0">
                <a:latin typeface="Courier New" panose="02070309020205020404" pitchFamily="49" charset="0"/>
              </a:rPr>
              <a:t>[</a:t>
            </a:r>
            <a:r>
              <a:rPr lang="en-US" dirty="0">
                <a:solidFill>
                  <a:srgbClr val="A31515"/>
                </a:solidFill>
                <a:latin typeface="Courier New" panose="02070309020205020404" pitchFamily="49" charset="0"/>
              </a:rPr>
              <a:t>'Value'</a:t>
            </a:r>
            <a:r>
              <a:rPr lang="en-US" dirty="0">
                <a:latin typeface="Courier New" panose="02070309020205020404" pitchFamily="49" charset="0"/>
              </a:rPr>
              <a:t>] ** </a:t>
            </a:r>
            <a:r>
              <a:rPr lang="en-US" dirty="0">
                <a:solidFill>
                  <a:srgbClr val="098156"/>
                </a:solidFill>
                <a:latin typeface="Courier New" panose="02070309020205020404" pitchFamily="49" charset="0"/>
              </a:rPr>
              <a:t>2</a:t>
            </a:r>
            <a:endParaRPr lang="en-US" dirty="0">
              <a:latin typeface="Courier New" panose="02070309020205020404" pitchFamily="49" charset="0"/>
            </a:endParaRPr>
          </a:p>
          <a:p>
            <a:r>
              <a:rPr lang="en-US" dirty="0" err="1">
                <a:latin typeface="Courier New" panose="02070309020205020404" pitchFamily="49" charset="0"/>
              </a:rPr>
              <a:t>df</a:t>
            </a:r>
            <a:r>
              <a:rPr lang="en-US" dirty="0">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Category_upper</a:t>
            </a:r>
            <a:r>
              <a:rPr lang="en-US" dirty="0">
                <a:solidFill>
                  <a:srgbClr val="A31515"/>
                </a:solidFill>
                <a:latin typeface="Courier New" panose="02070309020205020404" pitchFamily="49" charset="0"/>
              </a:rPr>
              <a:t>'</a:t>
            </a:r>
            <a:r>
              <a:rPr lang="en-US" dirty="0">
                <a:latin typeface="Courier New" panose="02070309020205020404" pitchFamily="49" charset="0"/>
              </a:rPr>
              <a:t>] = </a:t>
            </a:r>
            <a:r>
              <a:rPr lang="en-US" dirty="0" err="1">
                <a:latin typeface="Courier New" panose="02070309020205020404" pitchFamily="49" charset="0"/>
              </a:rPr>
              <a:t>df</a:t>
            </a:r>
            <a:r>
              <a:rPr lang="en-US" dirty="0">
                <a:latin typeface="Courier New" panose="02070309020205020404" pitchFamily="49" charset="0"/>
              </a:rPr>
              <a:t>[</a:t>
            </a:r>
            <a:r>
              <a:rPr lang="en-US" dirty="0">
                <a:solidFill>
                  <a:srgbClr val="A31515"/>
                </a:solidFill>
                <a:latin typeface="Courier New" panose="02070309020205020404" pitchFamily="49" charset="0"/>
              </a:rPr>
              <a:t>'Category'</a:t>
            </a:r>
            <a:r>
              <a:rPr lang="en-US" dirty="0">
                <a:latin typeface="Courier New" panose="02070309020205020404" pitchFamily="49" charset="0"/>
              </a:rPr>
              <a:t>].</a:t>
            </a:r>
            <a:r>
              <a:rPr lang="en-US" dirty="0" err="1">
                <a:solidFill>
                  <a:srgbClr val="257693"/>
                </a:solidFill>
                <a:latin typeface="Courier New" panose="02070309020205020404" pitchFamily="49" charset="0"/>
              </a:rPr>
              <a:t>str</a:t>
            </a:r>
            <a:r>
              <a:rPr lang="en-US" dirty="0" err="1">
                <a:latin typeface="Courier New" panose="02070309020205020404" pitchFamily="49" charset="0"/>
              </a:rPr>
              <a:t>.upper</a:t>
            </a:r>
            <a:r>
              <a:rPr lang="en-US" dirty="0">
                <a:latin typeface="Courier New" panose="02070309020205020404" pitchFamily="49" charset="0"/>
              </a:rPr>
              <a:t>()</a:t>
            </a:r>
          </a:p>
          <a:p>
            <a:r>
              <a:rPr lang="en-US" dirty="0" err="1">
                <a:latin typeface="Courier New" panose="02070309020205020404" pitchFamily="49" charset="0"/>
              </a:rPr>
              <a:t>df</a:t>
            </a:r>
            <a:r>
              <a:rPr lang="en-US" dirty="0">
                <a:latin typeface="Courier New" panose="02070309020205020404" pitchFamily="49" charset="0"/>
              </a:rPr>
              <a:t>[</a:t>
            </a:r>
            <a:r>
              <a:rPr lang="en-US" dirty="0">
                <a:solidFill>
                  <a:srgbClr val="A31515"/>
                </a:solidFill>
                <a:latin typeface="Courier New" panose="02070309020205020404" pitchFamily="49" charset="0"/>
              </a:rPr>
              <a:t>'</a:t>
            </a:r>
            <a:r>
              <a:rPr lang="en-US" dirty="0" err="1">
                <a:solidFill>
                  <a:srgbClr val="A31515"/>
                </a:solidFill>
                <a:latin typeface="Courier New" panose="02070309020205020404" pitchFamily="49" charset="0"/>
              </a:rPr>
              <a:t>Category_numeric</a:t>
            </a:r>
            <a:r>
              <a:rPr lang="en-US" dirty="0">
                <a:solidFill>
                  <a:srgbClr val="A31515"/>
                </a:solidFill>
                <a:latin typeface="Courier New" panose="02070309020205020404" pitchFamily="49" charset="0"/>
              </a:rPr>
              <a:t>'</a:t>
            </a:r>
            <a:r>
              <a:rPr lang="en-US" dirty="0">
                <a:latin typeface="Courier New" panose="02070309020205020404" pitchFamily="49" charset="0"/>
              </a:rPr>
              <a:t>] = </a:t>
            </a:r>
            <a:r>
              <a:rPr lang="en-US" dirty="0" err="1">
                <a:latin typeface="Courier New" panose="02070309020205020404" pitchFamily="49" charset="0"/>
              </a:rPr>
              <a:t>df</a:t>
            </a:r>
            <a:r>
              <a:rPr lang="en-US" dirty="0">
                <a:latin typeface="Courier New" panose="02070309020205020404" pitchFamily="49" charset="0"/>
              </a:rPr>
              <a:t>[</a:t>
            </a:r>
            <a:r>
              <a:rPr lang="en-US" dirty="0">
                <a:solidFill>
                  <a:srgbClr val="A31515"/>
                </a:solidFill>
                <a:latin typeface="Courier New" panose="02070309020205020404" pitchFamily="49" charset="0"/>
              </a:rPr>
              <a:t>'Category'</a:t>
            </a:r>
            <a:r>
              <a:rPr lang="en-US" dirty="0">
                <a:latin typeface="Courier New" panose="02070309020205020404" pitchFamily="49" charset="0"/>
              </a:rPr>
              <a:t>].</a:t>
            </a:r>
            <a:r>
              <a:rPr lang="en-US" dirty="0">
                <a:solidFill>
                  <a:srgbClr val="795E26"/>
                </a:solidFill>
                <a:latin typeface="Courier New" panose="02070309020205020404" pitchFamily="49" charset="0"/>
              </a:rPr>
              <a:t>map</a:t>
            </a:r>
            <a:r>
              <a:rPr lang="en-US" dirty="0">
                <a:latin typeface="Courier New" panose="02070309020205020404" pitchFamily="49" charset="0"/>
              </a:rPr>
              <a:t>({</a:t>
            </a:r>
            <a:r>
              <a:rPr lang="en-US" dirty="0">
                <a:solidFill>
                  <a:srgbClr val="A31515"/>
                </a:solidFill>
                <a:latin typeface="Courier New" panose="02070309020205020404" pitchFamily="49" charset="0"/>
              </a:rPr>
              <a:t>'A'</a:t>
            </a:r>
            <a:r>
              <a:rPr lang="en-US" dirty="0">
                <a:latin typeface="Courier New" panose="02070309020205020404" pitchFamily="49" charset="0"/>
              </a:rPr>
              <a:t>: </a:t>
            </a:r>
            <a:r>
              <a:rPr lang="en-US" dirty="0">
                <a:solidFill>
                  <a:srgbClr val="098156"/>
                </a:solidFill>
                <a:latin typeface="Courier New" panose="02070309020205020404" pitchFamily="49" charset="0"/>
              </a:rPr>
              <a:t>1</a:t>
            </a:r>
            <a:r>
              <a:rPr lang="en-US" dirty="0">
                <a:latin typeface="Courier New" panose="02070309020205020404" pitchFamily="49" charset="0"/>
              </a:rPr>
              <a:t>, </a:t>
            </a:r>
            <a:r>
              <a:rPr lang="en-US" dirty="0">
                <a:solidFill>
                  <a:srgbClr val="A31515"/>
                </a:solidFill>
                <a:latin typeface="Courier New" panose="02070309020205020404" pitchFamily="49" charset="0"/>
              </a:rPr>
              <a:t>'B'</a:t>
            </a:r>
            <a:r>
              <a:rPr lang="en-US" dirty="0">
                <a:latin typeface="Courier New" panose="02070309020205020404" pitchFamily="49" charset="0"/>
              </a:rPr>
              <a:t>: </a:t>
            </a:r>
            <a:r>
              <a:rPr lang="en-US" dirty="0">
                <a:solidFill>
                  <a:srgbClr val="098156"/>
                </a:solidFill>
                <a:latin typeface="Courier New" panose="02070309020205020404" pitchFamily="49" charset="0"/>
              </a:rPr>
              <a:t>2</a:t>
            </a:r>
            <a:r>
              <a:rPr lang="en-US" dirty="0">
                <a:latin typeface="Courier New" panose="02070309020205020404" pitchFamily="49" charset="0"/>
              </a:rPr>
              <a:t>, </a:t>
            </a:r>
            <a:r>
              <a:rPr lang="en-US" dirty="0">
                <a:solidFill>
                  <a:srgbClr val="A31515"/>
                </a:solidFill>
                <a:latin typeface="Courier New" panose="02070309020205020404" pitchFamily="49" charset="0"/>
              </a:rPr>
              <a:t>'C'</a:t>
            </a:r>
            <a:r>
              <a:rPr lang="en-US" dirty="0">
                <a:latin typeface="Courier New" panose="02070309020205020404" pitchFamily="49" charset="0"/>
              </a:rPr>
              <a:t>: </a:t>
            </a:r>
            <a:r>
              <a:rPr lang="en-US" dirty="0">
                <a:solidFill>
                  <a:srgbClr val="098156"/>
                </a:solidFill>
                <a:latin typeface="Courier New" panose="02070309020205020404" pitchFamily="49" charset="0"/>
              </a:rPr>
              <a:t>3</a:t>
            </a:r>
            <a:r>
              <a:rPr lang="en-US" dirty="0">
                <a:latin typeface="Courier New" panose="02070309020205020404" pitchFamily="49" charset="0"/>
              </a:rPr>
              <a:t>})</a:t>
            </a:r>
          </a:p>
          <a:p>
            <a:r>
              <a:rPr lang="en-US" dirty="0">
                <a:solidFill>
                  <a:srgbClr val="795E26"/>
                </a:solidFill>
                <a:latin typeface="Courier New" panose="02070309020205020404" pitchFamily="49" charset="0"/>
              </a:rPr>
              <a:t>print</a:t>
            </a:r>
            <a:r>
              <a:rPr lang="en-US" dirty="0">
                <a:latin typeface="Courier New" panose="02070309020205020404" pitchFamily="49" charset="0"/>
              </a:rPr>
              <a:t>(</a:t>
            </a:r>
            <a:r>
              <a:rPr lang="en-US" dirty="0" err="1">
                <a:latin typeface="Courier New" panose="02070309020205020404" pitchFamily="49" charset="0"/>
              </a:rPr>
              <a:t>df</a:t>
            </a:r>
            <a:r>
              <a:rPr lang="en-US" dirty="0">
                <a:latin typeface="Courier New" panose="02070309020205020404" pitchFamily="49" charset="0"/>
              </a:rPr>
              <a:t>)</a:t>
            </a:r>
          </a:p>
        </p:txBody>
      </p:sp>
      <p:pic>
        <p:nvPicPr>
          <p:cNvPr id="13" name="Picture 12"/>
          <p:cNvPicPr>
            <a:picLocks noChangeAspect="1"/>
          </p:cNvPicPr>
          <p:nvPr/>
        </p:nvPicPr>
        <p:blipFill>
          <a:blip r:embed="rId3"/>
          <a:stretch>
            <a:fillRect/>
          </a:stretch>
        </p:blipFill>
        <p:spPr>
          <a:xfrm>
            <a:off x="4945986" y="1896947"/>
            <a:ext cx="4198014" cy="2047875"/>
          </a:xfrm>
          <a:prstGeom prst="rect">
            <a:avLst/>
          </a:prstGeom>
        </p:spPr>
      </p:pic>
    </p:spTree>
    <p:extLst>
      <p:ext uri="{BB962C8B-B14F-4D97-AF65-F5344CB8AC3E}">
        <p14:creationId xmlns:p14="http://schemas.microsoft.com/office/powerpoint/2010/main" val="24291274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Aggregation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41316" y="769451"/>
            <a:ext cx="7722524" cy="2677656"/>
          </a:xfrm>
          <a:prstGeom prst="rect">
            <a:avLst/>
          </a:prstGeom>
        </p:spPr>
        <p:txBody>
          <a:bodyPr wrap="square">
            <a:spAutoFit/>
          </a:bodyPr>
          <a:lstStyle/>
          <a:p>
            <a:r>
              <a:rPr lang="en-US" dirty="0">
                <a:solidFill>
                  <a:srgbClr val="374151"/>
                </a:solidFill>
                <a:latin typeface="Söhne"/>
              </a:rPr>
              <a:t>Data aggregation in data science refers to the process of combining and summarizing data to obtain meaningful insights or derive useful information. Aggregation involves grouping data based on certain criteria and applying aggregation functions to calculate summary statistics or perform calculations on the grouped data. Aggregation helps in condensing large datasets into more manageable and understandable forms for analysis and reporting.</a:t>
            </a:r>
          </a:p>
          <a:p>
            <a:r>
              <a:rPr lang="en-US" dirty="0">
                <a:solidFill>
                  <a:srgbClr val="374151"/>
                </a:solidFill>
                <a:latin typeface="Söhne"/>
              </a:rPr>
              <a:t>Here are some key aspects of data aggregation in data science:</a:t>
            </a:r>
          </a:p>
          <a:p>
            <a:pPr>
              <a:buFont typeface="+mj-lt"/>
              <a:buAutoNum type="arabicPeriod"/>
            </a:pPr>
            <a:r>
              <a:rPr lang="en-US" dirty="0">
                <a:solidFill>
                  <a:srgbClr val="374151"/>
                </a:solidFill>
                <a:latin typeface="Söhne"/>
              </a:rPr>
              <a:t>Grouping Data: Data aggregation starts with grouping the data based on one or more variables. The data is divided into subsets based on the values of these variables, creating groups or categories for analysis.</a:t>
            </a:r>
          </a:p>
          <a:p>
            <a:pPr>
              <a:buFont typeface="+mj-lt"/>
              <a:buAutoNum type="arabicPeriod"/>
            </a:pPr>
            <a:r>
              <a:rPr lang="en-US" dirty="0">
                <a:solidFill>
                  <a:srgbClr val="374151"/>
                </a:solidFill>
                <a:latin typeface="Söhne"/>
              </a:rPr>
              <a:t>Aggregation Functions: Aggregation functions are applied to the grouped data to calculate summary statistics or perform calculations on each group. Common aggregation functions include sum, mean, median, count, min, max, standard deviation, and variance</a:t>
            </a:r>
            <a:r>
              <a:rPr lang="en-US" dirty="0" smtClean="0">
                <a:solidFill>
                  <a:srgbClr val="374151"/>
                </a:solidFill>
                <a:latin typeface="Söhne"/>
              </a:rPr>
              <a:t>.</a:t>
            </a:r>
            <a:endParaRPr lang="en-US" dirty="0">
              <a:solidFill>
                <a:srgbClr val="374151"/>
              </a:solidFill>
              <a:latin typeface="Söhne"/>
            </a:endParaRPr>
          </a:p>
        </p:txBody>
      </p:sp>
    </p:spTree>
    <p:extLst>
      <p:ext uri="{BB962C8B-B14F-4D97-AF65-F5344CB8AC3E}">
        <p14:creationId xmlns:p14="http://schemas.microsoft.com/office/powerpoint/2010/main" val="27878771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Aggregation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456896" y="711459"/>
            <a:ext cx="8230207" cy="4185761"/>
          </a:xfrm>
          <a:prstGeom prst="rect">
            <a:avLst/>
          </a:prstGeom>
        </p:spPr>
        <p:txBody>
          <a:bodyPr wrap="square">
            <a:spAutoFit/>
          </a:bodyPr>
          <a:lstStyle/>
          <a:p>
            <a:r>
              <a:rPr lang="en-US" dirty="0" smtClean="0">
                <a:solidFill>
                  <a:srgbClr val="374151"/>
                </a:solidFill>
                <a:latin typeface="Söhne"/>
              </a:rPr>
              <a:t>3. Grouped </a:t>
            </a:r>
            <a:r>
              <a:rPr lang="en-US" dirty="0">
                <a:solidFill>
                  <a:srgbClr val="374151"/>
                </a:solidFill>
                <a:latin typeface="Söhne"/>
              </a:rPr>
              <a:t>Operations: Aggregation allows performing operations specific to each group. These operations can involve calculating group-specific metrics, applying custom functions, or performing calculations using multiple variables within each group</a:t>
            </a:r>
            <a:r>
              <a:rPr lang="en-US" dirty="0" smtClean="0">
                <a:solidFill>
                  <a:srgbClr val="374151"/>
                </a:solidFill>
                <a:latin typeface="Söhne"/>
              </a:rPr>
              <a:t>.</a:t>
            </a:r>
          </a:p>
          <a:p>
            <a:endParaRPr lang="en-US" dirty="0">
              <a:solidFill>
                <a:srgbClr val="374151"/>
              </a:solidFill>
              <a:latin typeface="Söhne"/>
            </a:endParaRPr>
          </a:p>
          <a:p>
            <a:r>
              <a:rPr lang="en-US" dirty="0" smtClean="0">
                <a:solidFill>
                  <a:srgbClr val="374151"/>
                </a:solidFill>
                <a:latin typeface="Söhne"/>
              </a:rPr>
              <a:t>4. Hierarchical </a:t>
            </a:r>
            <a:r>
              <a:rPr lang="en-US" dirty="0">
                <a:solidFill>
                  <a:srgbClr val="374151"/>
                </a:solidFill>
                <a:latin typeface="Söhne"/>
              </a:rPr>
              <a:t>Aggregation: Aggregation can be performed at different levels of hierarchy. For example, data can be aggregated at the overall dataset level, as well as within subsets defined by multiple variables or combinations of </a:t>
            </a:r>
            <a:r>
              <a:rPr lang="en-US" dirty="0" smtClean="0">
                <a:solidFill>
                  <a:srgbClr val="374151"/>
                </a:solidFill>
                <a:latin typeface="Söhne"/>
              </a:rPr>
              <a:t>variables.</a:t>
            </a:r>
          </a:p>
          <a:p>
            <a:endParaRPr lang="en-US" dirty="0" smtClean="0">
              <a:solidFill>
                <a:srgbClr val="374151"/>
              </a:solidFill>
              <a:latin typeface="Söhne"/>
            </a:endParaRPr>
          </a:p>
          <a:p>
            <a:r>
              <a:rPr lang="en-US" dirty="0" smtClean="0">
                <a:solidFill>
                  <a:srgbClr val="374151"/>
                </a:solidFill>
                <a:latin typeface="Söhne"/>
              </a:rPr>
              <a:t>5. Aggregation </a:t>
            </a:r>
            <a:r>
              <a:rPr lang="en-US" dirty="0">
                <a:solidFill>
                  <a:srgbClr val="374151"/>
                </a:solidFill>
                <a:latin typeface="Söhne"/>
              </a:rPr>
              <a:t>on Time Series Data: Time-based aggregation is commonly used in analyzing time series data. It involves grouping data into intervals such as days, weeks, months, or years and calculating aggregate metrics or summary statistics within each </a:t>
            </a:r>
            <a:r>
              <a:rPr lang="en-US" dirty="0" smtClean="0">
                <a:solidFill>
                  <a:srgbClr val="374151"/>
                </a:solidFill>
                <a:latin typeface="Söhne"/>
              </a:rPr>
              <a:t>interval.</a:t>
            </a:r>
          </a:p>
          <a:p>
            <a:endParaRPr lang="en-US" dirty="0">
              <a:solidFill>
                <a:srgbClr val="374151"/>
              </a:solidFill>
              <a:latin typeface="Söhne"/>
            </a:endParaRPr>
          </a:p>
          <a:p>
            <a:r>
              <a:rPr lang="en-US" dirty="0" smtClean="0">
                <a:solidFill>
                  <a:srgbClr val="374151"/>
                </a:solidFill>
                <a:latin typeface="Söhne"/>
              </a:rPr>
              <a:t>6. Pivot </a:t>
            </a:r>
            <a:r>
              <a:rPr lang="en-US" dirty="0">
                <a:solidFill>
                  <a:srgbClr val="374151"/>
                </a:solidFill>
                <a:latin typeface="Söhne"/>
              </a:rPr>
              <a:t>Tables: Pivot tables are a powerful tool for data aggregation. They allow summarizing data by grouping variables and displaying the results in a tabular format, where rows represent one variable, columns represent another variable, and the values are aggregated based on specified functions</a:t>
            </a:r>
            <a:r>
              <a:rPr lang="en-US" dirty="0" smtClean="0">
                <a:solidFill>
                  <a:srgbClr val="374151"/>
                </a:solidFill>
                <a:latin typeface="Söhne"/>
              </a:rPr>
              <a:t>.</a:t>
            </a:r>
          </a:p>
          <a:p>
            <a:endParaRPr lang="en-US" dirty="0">
              <a:solidFill>
                <a:srgbClr val="374151"/>
              </a:solidFill>
              <a:latin typeface="Söhne"/>
            </a:endParaRPr>
          </a:p>
          <a:p>
            <a:r>
              <a:rPr lang="en-US" dirty="0" smtClean="0">
                <a:solidFill>
                  <a:srgbClr val="374151"/>
                </a:solidFill>
                <a:latin typeface="Söhne"/>
              </a:rPr>
              <a:t>7.Data </a:t>
            </a:r>
            <a:r>
              <a:rPr lang="en-US" dirty="0">
                <a:solidFill>
                  <a:srgbClr val="374151"/>
                </a:solidFill>
                <a:latin typeface="Söhne"/>
              </a:rPr>
              <a:t>Visualization: Aggregated data is often visualized using charts, graphs, or other visual representations. Visualizing aggregated data helps in understanding patterns, trends, or comparisons between different groups.</a:t>
            </a:r>
            <a:endParaRPr lang="en-US" dirty="0">
              <a:solidFill>
                <a:srgbClr val="374151"/>
              </a:solidFill>
              <a:latin typeface="Söhne"/>
            </a:endParaRPr>
          </a:p>
        </p:txBody>
      </p:sp>
    </p:spTree>
    <p:extLst>
      <p:ext uri="{BB962C8B-B14F-4D97-AF65-F5344CB8AC3E}">
        <p14:creationId xmlns:p14="http://schemas.microsoft.com/office/powerpoint/2010/main" val="179733932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a:t>Data </a:t>
            </a:r>
            <a:r>
              <a:rPr lang="en-US" sz="3200" dirty="0" smtClean="0"/>
              <a:t>Aggregation</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523702" y="1033417"/>
            <a:ext cx="6242858" cy="2462213"/>
          </a:xfrm>
          <a:prstGeom prst="rect">
            <a:avLst/>
          </a:prstGeom>
        </p:spPr>
        <p:txBody>
          <a:bodyPr wrap="square">
            <a:spAutoFit/>
          </a:bodyPr>
          <a:lstStyle/>
          <a:p>
            <a:r>
              <a:rPr lang="en-US" dirty="0"/>
              <a:t>import pandas as </a:t>
            </a:r>
            <a:r>
              <a:rPr lang="en-US" dirty="0" err="1"/>
              <a:t>pd</a:t>
            </a:r>
            <a:endParaRPr lang="en-US" dirty="0"/>
          </a:p>
          <a:p>
            <a:endParaRPr lang="en-US" dirty="0"/>
          </a:p>
          <a:p>
            <a:r>
              <a:rPr lang="en-US" dirty="0"/>
              <a:t># Create a </a:t>
            </a:r>
            <a:r>
              <a:rPr lang="en-US" dirty="0" err="1"/>
              <a:t>DataFrame</a:t>
            </a:r>
            <a:endParaRPr lang="en-US" dirty="0"/>
          </a:p>
          <a:p>
            <a:r>
              <a:rPr lang="en-US" dirty="0"/>
              <a:t>data = {</a:t>
            </a:r>
          </a:p>
          <a:p>
            <a:r>
              <a:rPr lang="en-US" dirty="0"/>
              <a:t>    'Category': ['A', 'A', 'B', 'B', 'A', 'B'],</a:t>
            </a:r>
          </a:p>
          <a:p>
            <a:r>
              <a:rPr lang="en-US" dirty="0"/>
              <a:t>    'Value': [10, 15, 20, 25, 30, 35]</a:t>
            </a:r>
          </a:p>
          <a:p>
            <a:r>
              <a:rPr lang="en-US" dirty="0"/>
              <a:t>}</a:t>
            </a:r>
          </a:p>
          <a:p>
            <a:r>
              <a:rPr lang="en-US" dirty="0" err="1"/>
              <a:t>df</a:t>
            </a:r>
            <a:r>
              <a:rPr lang="en-US" dirty="0"/>
              <a:t> = </a:t>
            </a:r>
            <a:r>
              <a:rPr lang="en-US" dirty="0" err="1"/>
              <a:t>pd.DataFrame</a:t>
            </a:r>
            <a:r>
              <a:rPr lang="en-US" dirty="0"/>
              <a:t>(data)</a:t>
            </a:r>
          </a:p>
          <a:p>
            <a:endParaRPr lang="en-US" dirty="0"/>
          </a:p>
          <a:p>
            <a:r>
              <a:rPr lang="en-US" dirty="0"/>
              <a:t># Perform aggregation</a:t>
            </a:r>
          </a:p>
          <a:p>
            <a:r>
              <a:rPr lang="en-US" dirty="0" err="1"/>
              <a:t>grouped_df</a:t>
            </a:r>
            <a:r>
              <a:rPr lang="en-US" dirty="0"/>
              <a:t> = </a:t>
            </a:r>
            <a:r>
              <a:rPr lang="en-US" dirty="0" err="1"/>
              <a:t>df.groupby</a:t>
            </a:r>
            <a:r>
              <a:rPr lang="en-US" dirty="0"/>
              <a:t>('Category').</a:t>
            </a:r>
            <a:r>
              <a:rPr lang="en-US" dirty="0" err="1"/>
              <a:t>agg</a:t>
            </a:r>
            <a:r>
              <a:rPr lang="en-US" dirty="0"/>
              <a:t>({'Value': ['sum', 'mean', 'count']})</a:t>
            </a:r>
          </a:p>
        </p:txBody>
      </p:sp>
      <p:sp>
        <p:nvSpPr>
          <p:cNvPr id="4" name="Rectangle 3"/>
          <p:cNvSpPr/>
          <p:nvPr/>
        </p:nvSpPr>
        <p:spPr>
          <a:xfrm>
            <a:off x="5403273" y="1167752"/>
            <a:ext cx="4572000" cy="1169551"/>
          </a:xfrm>
          <a:prstGeom prst="rect">
            <a:avLst/>
          </a:prstGeom>
        </p:spPr>
        <p:txBody>
          <a:bodyPr>
            <a:spAutoFit/>
          </a:bodyPr>
          <a:lstStyle/>
          <a:p>
            <a:r>
              <a:rPr lang="en-US" dirty="0"/>
              <a:t> Value            </a:t>
            </a:r>
          </a:p>
          <a:p>
            <a:r>
              <a:rPr lang="en-US" dirty="0"/>
              <a:t>          sum  mean count</a:t>
            </a:r>
          </a:p>
          <a:p>
            <a:r>
              <a:rPr lang="en-US" dirty="0"/>
              <a:t>Category                 </a:t>
            </a:r>
          </a:p>
          <a:p>
            <a:r>
              <a:rPr lang="en-US" dirty="0"/>
              <a:t>A          55  18.333333     3</a:t>
            </a:r>
          </a:p>
          <a:p>
            <a:r>
              <a:rPr lang="en-US" dirty="0"/>
              <a:t>B          80  26.666667     3</a:t>
            </a:r>
          </a:p>
        </p:txBody>
      </p:sp>
    </p:spTree>
    <p:extLst>
      <p:ext uri="{BB962C8B-B14F-4D97-AF65-F5344CB8AC3E}">
        <p14:creationId xmlns:p14="http://schemas.microsoft.com/office/powerpoint/2010/main" val="10166985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Operations</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1"/>
          <p:cNvSpPr>
            <a:spLocks noChangeArrowheads="1"/>
          </p:cNvSpPr>
          <p:nvPr/>
        </p:nvSpPr>
        <p:spPr bwMode="auto">
          <a:xfrm>
            <a:off x="121766" y="893264"/>
            <a:ext cx="8900468" cy="3847722"/>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374151"/>
                </a:solidFill>
                <a:effectLst/>
                <a:latin typeface="Söhne"/>
              </a:rPr>
              <a:t>Group operations in pandas involve performing calculations or transformations on grouped data. Pandas provides several methods and functions to facilitate group operations. Here are some commonly used group operations in pandas:</a:t>
            </a:r>
            <a:endParaRPr kumimoji="0" lang="en-US" sz="1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sz="1600" b="0" i="0" u="none" strike="noStrike" cap="none" normalizeH="0" baseline="0" dirty="0" smtClean="0">
                <a:ln>
                  <a:noFill/>
                </a:ln>
                <a:solidFill>
                  <a:srgbClr val="374151"/>
                </a:solidFill>
                <a:effectLst/>
                <a:latin typeface="Söhne"/>
              </a:rPr>
              <a:t>Aggregation: Aggregation involves calculating summary statistics on grouped data. Common aggregation functions include </a:t>
            </a:r>
            <a:r>
              <a:rPr kumimoji="0" lang="en-US" sz="1600" b="1" i="0" u="none" strike="noStrike" cap="none" normalizeH="0" baseline="0" dirty="0" smtClean="0">
                <a:ln>
                  <a:noFill/>
                </a:ln>
                <a:solidFill>
                  <a:srgbClr val="374151"/>
                </a:solidFill>
                <a:effectLst/>
                <a:latin typeface="Söhne Mono"/>
              </a:rPr>
              <a:t>sum()</a:t>
            </a:r>
            <a:r>
              <a:rPr kumimoji="0" lang="en-US" sz="1600" b="0" i="0" u="none" strike="noStrike" cap="none" normalizeH="0" baseline="0" dirty="0" smtClean="0">
                <a:ln>
                  <a:noFill/>
                </a:ln>
                <a:solidFill>
                  <a:srgbClr val="374151"/>
                </a:solidFill>
                <a:effectLst/>
                <a:latin typeface="Söhne"/>
              </a:rPr>
              <a:t>, </a:t>
            </a:r>
            <a:r>
              <a:rPr kumimoji="0" lang="en-US" sz="1600" b="1" i="0" u="none" strike="noStrike" cap="none" normalizeH="0" baseline="0" dirty="0" smtClean="0">
                <a:ln>
                  <a:noFill/>
                </a:ln>
                <a:solidFill>
                  <a:srgbClr val="374151"/>
                </a:solidFill>
                <a:effectLst/>
                <a:latin typeface="Söhne Mono"/>
              </a:rPr>
              <a:t>mean()</a:t>
            </a:r>
            <a:r>
              <a:rPr kumimoji="0" lang="en-US" sz="1600" b="0" i="0" u="none" strike="noStrike" cap="none" normalizeH="0" baseline="0" dirty="0" smtClean="0">
                <a:ln>
                  <a:noFill/>
                </a:ln>
                <a:solidFill>
                  <a:srgbClr val="374151"/>
                </a:solidFill>
                <a:effectLst/>
                <a:latin typeface="Söhne"/>
              </a:rPr>
              <a:t>, </a:t>
            </a:r>
            <a:r>
              <a:rPr kumimoji="0" lang="en-US" sz="1600" b="1" i="0" u="none" strike="noStrike" cap="none" normalizeH="0" baseline="0" dirty="0" smtClean="0">
                <a:ln>
                  <a:noFill/>
                </a:ln>
                <a:solidFill>
                  <a:srgbClr val="374151"/>
                </a:solidFill>
                <a:effectLst/>
                <a:latin typeface="Söhne Mono"/>
              </a:rPr>
              <a:t>median()</a:t>
            </a:r>
            <a:r>
              <a:rPr kumimoji="0" lang="en-US" sz="1600" b="0" i="0" u="none" strike="noStrike" cap="none" normalizeH="0" baseline="0" dirty="0" smtClean="0">
                <a:ln>
                  <a:noFill/>
                </a:ln>
                <a:solidFill>
                  <a:srgbClr val="374151"/>
                </a:solidFill>
                <a:effectLst/>
                <a:latin typeface="Söhne"/>
              </a:rPr>
              <a:t>, </a:t>
            </a:r>
            <a:r>
              <a:rPr kumimoji="0" lang="en-US" sz="1600" b="1" i="0" u="none" strike="noStrike" cap="none" normalizeH="0" baseline="0" dirty="0" smtClean="0">
                <a:ln>
                  <a:noFill/>
                </a:ln>
                <a:solidFill>
                  <a:srgbClr val="374151"/>
                </a:solidFill>
                <a:effectLst/>
                <a:latin typeface="Söhne Mono"/>
              </a:rPr>
              <a:t>count()</a:t>
            </a:r>
            <a:r>
              <a:rPr kumimoji="0" lang="en-US" sz="1600" b="0" i="0" u="none" strike="noStrike" cap="none" normalizeH="0" baseline="0" dirty="0" smtClean="0">
                <a:ln>
                  <a:noFill/>
                </a:ln>
                <a:solidFill>
                  <a:srgbClr val="374151"/>
                </a:solidFill>
                <a:effectLst/>
                <a:latin typeface="Söhne"/>
              </a:rPr>
              <a:t>, </a:t>
            </a:r>
            <a:r>
              <a:rPr kumimoji="0" lang="en-US" sz="1600" b="1" i="0" u="none" strike="noStrike" cap="none" normalizeH="0" baseline="0" dirty="0" smtClean="0">
                <a:ln>
                  <a:noFill/>
                </a:ln>
                <a:solidFill>
                  <a:srgbClr val="374151"/>
                </a:solidFill>
                <a:effectLst/>
                <a:latin typeface="Söhne Mono"/>
              </a:rPr>
              <a:t>min()</a:t>
            </a:r>
            <a:r>
              <a:rPr kumimoji="0" lang="en-US" sz="1600" b="0" i="0" u="none" strike="noStrike" cap="none" normalizeH="0" baseline="0" dirty="0" smtClean="0">
                <a:ln>
                  <a:noFill/>
                </a:ln>
                <a:solidFill>
                  <a:srgbClr val="374151"/>
                </a:solidFill>
                <a:effectLst/>
                <a:latin typeface="Söhne"/>
              </a:rPr>
              <a:t>, </a:t>
            </a:r>
            <a:r>
              <a:rPr kumimoji="0" lang="en-US" sz="1600" b="1" i="0" u="none" strike="noStrike" cap="none" normalizeH="0" baseline="0" dirty="0" smtClean="0">
                <a:ln>
                  <a:noFill/>
                </a:ln>
                <a:solidFill>
                  <a:srgbClr val="374151"/>
                </a:solidFill>
                <a:effectLst/>
                <a:latin typeface="Söhne Mono"/>
              </a:rPr>
              <a:t>max()</a:t>
            </a:r>
            <a:r>
              <a:rPr kumimoji="0" lang="en-US" sz="1600" b="0" i="0" u="none" strike="noStrike" cap="none" normalizeH="0" baseline="0" dirty="0" smtClean="0">
                <a:ln>
                  <a:noFill/>
                </a:ln>
                <a:solidFill>
                  <a:srgbClr val="374151"/>
                </a:solidFill>
                <a:effectLst/>
                <a:latin typeface="Söhne"/>
              </a:rPr>
              <a:t>, </a:t>
            </a:r>
            <a:r>
              <a:rPr kumimoji="0" lang="en-US" sz="1600" b="1" i="0" u="none" strike="noStrike" cap="none" normalizeH="0" baseline="0" dirty="0" err="1" smtClean="0">
                <a:ln>
                  <a:noFill/>
                </a:ln>
                <a:solidFill>
                  <a:srgbClr val="374151"/>
                </a:solidFill>
                <a:effectLst/>
                <a:latin typeface="Söhne Mono"/>
              </a:rPr>
              <a:t>std</a:t>
            </a:r>
            <a:r>
              <a:rPr kumimoji="0" lang="en-US" sz="1600" b="1" i="0" u="none" strike="noStrike" cap="none" normalizeH="0" baseline="0" dirty="0" smtClean="0">
                <a:ln>
                  <a:noFill/>
                </a:ln>
                <a:solidFill>
                  <a:srgbClr val="374151"/>
                </a:solidFill>
                <a:effectLst/>
                <a:latin typeface="Söhne Mono"/>
              </a:rPr>
              <a:t>()</a:t>
            </a:r>
            <a:r>
              <a:rPr kumimoji="0" lang="en-US" sz="1600" b="0" i="0" u="none" strike="noStrike" cap="none" normalizeH="0" baseline="0" dirty="0" smtClean="0">
                <a:ln>
                  <a:noFill/>
                </a:ln>
                <a:solidFill>
                  <a:srgbClr val="374151"/>
                </a:solidFill>
                <a:effectLst/>
                <a:latin typeface="Söhne"/>
              </a:rPr>
              <a:t>, and </a:t>
            </a:r>
            <a:r>
              <a:rPr kumimoji="0" lang="en-US" sz="1600" b="1" i="0" u="none" strike="noStrike" cap="none" normalizeH="0" baseline="0" dirty="0" err="1" smtClean="0">
                <a:ln>
                  <a:noFill/>
                </a:ln>
                <a:solidFill>
                  <a:srgbClr val="374151"/>
                </a:solidFill>
                <a:effectLst/>
                <a:latin typeface="Söhne Mono"/>
              </a:rPr>
              <a:t>var</a:t>
            </a:r>
            <a:r>
              <a:rPr kumimoji="0" lang="en-US" sz="1600" b="1" i="0" u="none" strike="noStrike" cap="none" normalizeH="0" baseline="0" dirty="0" smtClean="0">
                <a:ln>
                  <a:noFill/>
                </a:ln>
                <a:solidFill>
                  <a:srgbClr val="374151"/>
                </a:solidFill>
                <a:effectLst/>
                <a:latin typeface="Söhne Mono"/>
              </a:rPr>
              <a:t>()</a:t>
            </a:r>
            <a:r>
              <a:rPr kumimoji="0" lang="en-US" sz="1600" b="0" i="0" u="none" strike="noStrike" cap="none" normalizeH="0" baseline="0" dirty="0" smtClean="0">
                <a:ln>
                  <a:noFill/>
                </a:ln>
                <a:solidFill>
                  <a:srgbClr val="374151"/>
                </a:solidFill>
                <a:effectLst/>
                <a:latin typeface="Söhne"/>
              </a:rPr>
              <a:t>. These functions can be applied to specific columns or the entire </a:t>
            </a:r>
            <a:r>
              <a:rPr kumimoji="0" lang="en-US" sz="1600" b="0" i="0" u="none" strike="noStrike" cap="none" normalizeH="0" baseline="0" dirty="0" err="1" smtClean="0">
                <a:ln>
                  <a:noFill/>
                </a:ln>
                <a:solidFill>
                  <a:srgbClr val="374151"/>
                </a:solidFill>
                <a:effectLst/>
                <a:latin typeface="Söhne"/>
              </a:rPr>
              <a:t>DataFrame</a:t>
            </a:r>
            <a:r>
              <a:rPr kumimoji="0" lang="en-US" sz="1600" b="0" i="0" u="none" strike="noStrike" cap="none" normalizeH="0" baseline="0" dirty="0" smtClean="0">
                <a:ln>
                  <a:noFill/>
                </a:ln>
                <a:solidFill>
                  <a:srgbClr val="374151"/>
                </a:solidFill>
                <a:effectLst/>
                <a:latin typeface="Söhne"/>
              </a:rPr>
              <a:t>.</a:t>
            </a:r>
          </a:p>
          <a:p>
            <a:pPr marL="0" marR="0" lvl="0" indent="0" algn="l" defTabSz="914400" rtl="0" eaLnBrk="0" fontAlgn="base" latinLnBrk="0" hangingPunct="0">
              <a:lnSpc>
                <a:spcPct val="100000"/>
              </a:lnSpc>
              <a:spcBef>
                <a:spcPct val="0"/>
              </a:spcBef>
              <a:spcAft>
                <a:spcPct val="0"/>
              </a:spcAft>
              <a:buClrTx/>
              <a:buSzTx/>
              <a:tabLst/>
            </a:pPr>
            <a:endParaRPr kumimoji="0" lang="en-US" sz="1600" b="0" i="0" u="none" strike="noStrike" cap="none" normalizeH="0" baseline="0" dirty="0" smtClean="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sz="1600" b="0" i="0" u="none" strike="noStrike" cap="none" normalizeH="0" baseline="0" dirty="0" smtClean="0">
                <a:ln>
                  <a:noFill/>
                </a:ln>
                <a:solidFill>
                  <a:srgbClr val="374151"/>
                </a:solidFill>
                <a:effectLst/>
                <a:latin typeface="Söhne"/>
              </a:rPr>
              <a:t>Transformation: Transformation involves performing calculations on groups and returning data aligned with the original </a:t>
            </a:r>
            <a:r>
              <a:rPr kumimoji="0" lang="en-US" sz="1600" b="0" i="0" u="none" strike="noStrike" cap="none" normalizeH="0" baseline="0" dirty="0" err="1" smtClean="0">
                <a:ln>
                  <a:noFill/>
                </a:ln>
                <a:solidFill>
                  <a:srgbClr val="374151"/>
                </a:solidFill>
                <a:effectLst/>
                <a:latin typeface="Söhne"/>
              </a:rPr>
              <a:t>DataFrame</a:t>
            </a:r>
            <a:r>
              <a:rPr kumimoji="0" lang="en-US" sz="1600" b="0" i="0" u="none" strike="noStrike" cap="none" normalizeH="0" baseline="0" dirty="0" smtClean="0">
                <a:ln>
                  <a:noFill/>
                </a:ln>
                <a:solidFill>
                  <a:srgbClr val="374151"/>
                </a:solidFill>
                <a:effectLst/>
                <a:latin typeface="Söhne"/>
              </a:rPr>
              <a:t>. The </a:t>
            </a:r>
            <a:r>
              <a:rPr kumimoji="0" lang="en-US" sz="1600" b="1" i="0" u="none" strike="noStrike" cap="none" normalizeH="0" baseline="0" dirty="0" smtClean="0">
                <a:ln>
                  <a:noFill/>
                </a:ln>
                <a:solidFill>
                  <a:srgbClr val="374151"/>
                </a:solidFill>
                <a:effectLst/>
                <a:latin typeface="Söhne Mono"/>
              </a:rPr>
              <a:t>transform()</a:t>
            </a:r>
            <a:r>
              <a:rPr kumimoji="0" lang="en-US" sz="1600" b="0" i="0" u="none" strike="noStrike" cap="none" normalizeH="0" baseline="0" dirty="0" smtClean="0">
                <a:ln>
                  <a:noFill/>
                </a:ln>
                <a:solidFill>
                  <a:srgbClr val="374151"/>
                </a:solidFill>
                <a:effectLst/>
                <a:latin typeface="Söhne"/>
              </a:rPr>
              <a:t> method is commonly used for this purpose. </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endParaRPr kumimoji="0" lang="en-US" sz="1600" b="0" i="0" u="none" strike="noStrike" cap="none" normalizeH="0" baseline="0" dirty="0" smtClean="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kumimoji="0" lang="en-US" sz="1600" b="0" i="0" u="none" strike="noStrike" cap="none" normalizeH="0" baseline="0" dirty="0" smtClean="0">
                <a:ln>
                  <a:noFill/>
                </a:ln>
                <a:solidFill>
                  <a:srgbClr val="374151"/>
                </a:solidFill>
                <a:effectLst/>
                <a:latin typeface="Söhne"/>
              </a:rPr>
              <a:t>Filtering: Filtering allows you to select specific groups based on certain conditions. The </a:t>
            </a:r>
            <a:r>
              <a:rPr kumimoji="0" lang="en-US" sz="1600" b="1" i="0" u="none" strike="noStrike" cap="none" normalizeH="0" baseline="0" dirty="0" smtClean="0">
                <a:ln>
                  <a:noFill/>
                </a:ln>
                <a:solidFill>
                  <a:srgbClr val="374151"/>
                </a:solidFill>
                <a:effectLst/>
                <a:latin typeface="Söhne Mono"/>
              </a:rPr>
              <a:t>filter()</a:t>
            </a:r>
            <a:r>
              <a:rPr kumimoji="0" lang="en-US" sz="1600" b="0" i="0" u="none" strike="noStrike" cap="none" normalizeH="0" baseline="0" dirty="0" smtClean="0">
                <a:ln>
                  <a:noFill/>
                </a:ln>
                <a:solidFill>
                  <a:srgbClr val="374151"/>
                </a:solidFill>
                <a:effectLst/>
                <a:latin typeface="Söhne"/>
              </a:rPr>
              <a:t> method is used to apply a filtering condition to each group and return only the groups that meet the condition. This can be helpful for removing groups that don't satisfy specific criteria or for selecting groups with a minimum number of observations.</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8813599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Operations</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1"/>
          <p:cNvSpPr>
            <a:spLocks noChangeArrowheads="1"/>
          </p:cNvSpPr>
          <p:nvPr/>
        </p:nvSpPr>
        <p:spPr bwMode="auto">
          <a:xfrm>
            <a:off x="218593" y="1139485"/>
            <a:ext cx="8925405" cy="3601501"/>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98375" rIns="0" bIns="198375"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kumimoji="0" lang="en-US" sz="1600" b="0" i="0" u="none" strike="noStrike" cap="none" normalizeH="0" baseline="0" dirty="0" smtClean="0">
                <a:ln>
                  <a:noFill/>
                </a:ln>
                <a:solidFill>
                  <a:srgbClr val="374151"/>
                </a:solidFill>
                <a:effectLst/>
                <a:latin typeface="Söhne"/>
              </a:rPr>
              <a:t>Applying Custom Functions: Pandas provides the </a:t>
            </a:r>
            <a:r>
              <a:rPr kumimoji="0" lang="en-US" sz="1600" b="1" i="0" u="none" strike="noStrike" cap="none" normalizeH="0" baseline="0" dirty="0" smtClean="0">
                <a:ln>
                  <a:noFill/>
                </a:ln>
                <a:solidFill>
                  <a:srgbClr val="374151"/>
                </a:solidFill>
                <a:effectLst/>
                <a:latin typeface="Söhne Mono"/>
              </a:rPr>
              <a:t>apply()</a:t>
            </a:r>
            <a:r>
              <a:rPr kumimoji="0" lang="en-US" sz="1600" b="0" i="0" u="none" strike="noStrike" cap="none" normalizeH="0" baseline="0" dirty="0" smtClean="0">
                <a:ln>
                  <a:noFill/>
                </a:ln>
                <a:solidFill>
                  <a:srgbClr val="374151"/>
                </a:solidFill>
                <a:effectLst/>
                <a:latin typeface="Söhne"/>
              </a:rPr>
              <a:t> method to apply custom functions to grouped data. This allows you to perform complex operations or calculations on each group. You can define your own function and use it with </a:t>
            </a:r>
            <a:r>
              <a:rPr kumimoji="0" lang="en-US" sz="1600" b="1" i="0" u="none" strike="noStrike" cap="none" normalizeH="0" baseline="0" dirty="0" smtClean="0">
                <a:ln>
                  <a:noFill/>
                </a:ln>
                <a:solidFill>
                  <a:srgbClr val="374151"/>
                </a:solidFill>
                <a:effectLst/>
                <a:latin typeface="Söhne Mono"/>
              </a:rPr>
              <a:t>apply()</a:t>
            </a:r>
            <a:r>
              <a:rPr kumimoji="0" lang="en-US" sz="1600" b="0" i="0" u="none" strike="noStrike" cap="none" normalizeH="0" baseline="0" dirty="0" smtClean="0">
                <a:ln>
                  <a:noFill/>
                </a:ln>
                <a:solidFill>
                  <a:srgbClr val="374151"/>
                </a:solidFill>
                <a:effectLst/>
                <a:latin typeface="Söhne"/>
              </a:rPr>
              <a:t> to process each group independently.</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endParaRPr kumimoji="0" lang="en-US" sz="1600" b="0" i="0" u="none" strike="noStrike" cap="none" normalizeH="0" baseline="0" dirty="0" smtClean="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r>
              <a:rPr kumimoji="0" lang="en-US" sz="1600" b="0" i="0" u="none" strike="noStrike" cap="none" normalizeH="0" baseline="0" dirty="0" smtClean="0">
                <a:ln>
                  <a:noFill/>
                </a:ln>
                <a:solidFill>
                  <a:srgbClr val="374151"/>
                </a:solidFill>
                <a:effectLst/>
                <a:latin typeface="Söhne"/>
              </a:rPr>
              <a:t>Iterating over Groups: You can iterate over groups using the </a:t>
            </a:r>
            <a:r>
              <a:rPr kumimoji="0" lang="en-US" sz="1600" b="1" i="0" u="none" strike="noStrike" cap="none" normalizeH="0" baseline="0" dirty="0" err="1" smtClean="0">
                <a:ln>
                  <a:noFill/>
                </a:ln>
                <a:solidFill>
                  <a:srgbClr val="374151"/>
                </a:solidFill>
                <a:effectLst/>
                <a:latin typeface="Söhne Mono"/>
              </a:rPr>
              <a:t>groupby</a:t>
            </a:r>
            <a:r>
              <a:rPr kumimoji="0" lang="en-US" sz="1600" b="1" i="0" u="none" strike="noStrike" cap="none" normalizeH="0" baseline="0" dirty="0" smtClean="0">
                <a:ln>
                  <a:noFill/>
                </a:ln>
                <a:solidFill>
                  <a:srgbClr val="374151"/>
                </a:solidFill>
                <a:effectLst/>
                <a:latin typeface="Söhne Mono"/>
              </a:rPr>
              <a:t>()</a:t>
            </a:r>
            <a:r>
              <a:rPr kumimoji="0" lang="en-US" sz="1600" b="0" i="0" u="none" strike="noStrike" cap="none" normalizeH="0" baseline="0" dirty="0" smtClean="0">
                <a:ln>
                  <a:noFill/>
                </a:ln>
                <a:solidFill>
                  <a:srgbClr val="374151"/>
                </a:solidFill>
                <a:effectLst/>
                <a:latin typeface="Söhne"/>
              </a:rPr>
              <a:t> function. This allows you to access each group individually and perform operations or calculations on them. However, iterating over groups should be avoided whenever possible, as it is often slower compared to </a:t>
            </a:r>
            <a:r>
              <a:rPr kumimoji="0" lang="en-US" sz="1600" b="0" i="0" u="none" strike="noStrike" cap="none" normalizeH="0" baseline="0" dirty="0" err="1" smtClean="0">
                <a:ln>
                  <a:noFill/>
                </a:ln>
                <a:solidFill>
                  <a:srgbClr val="374151"/>
                </a:solidFill>
                <a:effectLst/>
                <a:latin typeface="Söhne"/>
              </a:rPr>
              <a:t>vectorized</a:t>
            </a:r>
            <a:r>
              <a:rPr kumimoji="0" lang="en-US" sz="1600" b="0" i="0" u="none" strike="noStrike" cap="none" normalizeH="0" baseline="0" dirty="0" smtClean="0">
                <a:ln>
                  <a:noFill/>
                </a:ln>
                <a:solidFill>
                  <a:srgbClr val="374151"/>
                </a:solidFill>
                <a:effectLst/>
                <a:latin typeface="Söhne"/>
              </a:rPr>
              <a:t> operations.</a:t>
            </a:r>
          </a:p>
          <a:p>
            <a:pPr marL="0" marR="0" lvl="0" indent="0" algn="l" defTabSz="914400" rtl="0" eaLnBrk="0" fontAlgn="base" latinLnBrk="0" hangingPunct="0">
              <a:lnSpc>
                <a:spcPct val="100000"/>
              </a:lnSpc>
              <a:spcBef>
                <a:spcPct val="0"/>
              </a:spcBef>
              <a:spcAft>
                <a:spcPct val="0"/>
              </a:spcAft>
              <a:buClrTx/>
              <a:buSzTx/>
              <a:buFontTx/>
              <a:buAutoNum type="arabicPeriod" startAt="5"/>
              <a:tabLst/>
            </a:pPr>
            <a:endParaRPr kumimoji="0" lang="en-US" sz="1600" b="0" i="0" u="none" strike="noStrike" cap="none" normalizeH="0" baseline="0" dirty="0" smtClean="0">
              <a:ln>
                <a:noFill/>
              </a:ln>
              <a:solidFill>
                <a:srgbClr val="374151"/>
              </a:solidFill>
              <a:effectLst/>
              <a:latin typeface="Söhne"/>
            </a:endParaRPr>
          </a:p>
          <a:p>
            <a:pPr marL="0" marR="0" lvl="0" indent="0" algn="l" defTabSz="914400" rtl="0" eaLnBrk="0" fontAlgn="base" latinLnBrk="0" hangingPunct="0">
              <a:lnSpc>
                <a:spcPct val="100000"/>
              </a:lnSpc>
              <a:spcBef>
                <a:spcPct val="0"/>
              </a:spcBef>
              <a:spcAft>
                <a:spcPct val="0"/>
              </a:spcAft>
              <a:buClrTx/>
              <a:buSzTx/>
              <a:buFontTx/>
              <a:buAutoNum type="arabicPeriod" startAt="6"/>
              <a:tabLst/>
            </a:pPr>
            <a:r>
              <a:rPr kumimoji="0" lang="en-US" sz="1600" b="0" i="0" u="none" strike="noStrike" cap="none" normalizeH="0" baseline="0" dirty="0" smtClean="0">
                <a:ln>
                  <a:noFill/>
                </a:ln>
                <a:solidFill>
                  <a:srgbClr val="374151"/>
                </a:solidFill>
                <a:effectLst/>
                <a:latin typeface="Söhne"/>
              </a:rPr>
              <a:t>Pivot Tables: Pivot tables in pandas provide a way to summarize and aggregate data in a tabular format. The </a:t>
            </a:r>
            <a:r>
              <a:rPr kumimoji="0" lang="en-US" sz="1600" b="1" i="0" u="none" strike="noStrike" cap="none" normalizeH="0" baseline="0" dirty="0" err="1" smtClean="0">
                <a:ln>
                  <a:noFill/>
                </a:ln>
                <a:solidFill>
                  <a:srgbClr val="374151"/>
                </a:solidFill>
                <a:effectLst/>
                <a:latin typeface="Söhne Mono"/>
              </a:rPr>
              <a:t>pivot_table</a:t>
            </a:r>
            <a:r>
              <a:rPr kumimoji="0" lang="en-US" sz="1600" b="1" i="0" u="none" strike="noStrike" cap="none" normalizeH="0" baseline="0" dirty="0" smtClean="0">
                <a:ln>
                  <a:noFill/>
                </a:ln>
                <a:solidFill>
                  <a:srgbClr val="374151"/>
                </a:solidFill>
                <a:effectLst/>
                <a:latin typeface="Söhne Mono"/>
              </a:rPr>
              <a:t>()</a:t>
            </a:r>
            <a:r>
              <a:rPr kumimoji="0" lang="en-US" sz="1600" b="0" i="0" u="none" strike="noStrike" cap="none" normalizeH="0" baseline="0" dirty="0" smtClean="0">
                <a:ln>
                  <a:noFill/>
                </a:ln>
                <a:solidFill>
                  <a:srgbClr val="374151"/>
                </a:solidFill>
                <a:effectLst/>
                <a:latin typeface="Söhne"/>
              </a:rPr>
              <a:t> function allows you to specify the index, columns, and values to be aggregated. Pivot tables are useful for analyzing multidimensional data and can be customized to display the desired summary statistics.</a:t>
            </a:r>
            <a:endParaRPr kumimoji="0" lang="en-US" sz="16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234364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Operations</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82273" y="825052"/>
            <a:ext cx="8779453" cy="3970318"/>
          </a:xfrm>
          <a:prstGeom prst="rect">
            <a:avLst/>
          </a:prstGeom>
        </p:spPr>
        <p:txBody>
          <a:bodyPr wrap="square">
            <a:spAutoFit/>
          </a:bodyPr>
          <a:lstStyle/>
          <a:p>
            <a:r>
              <a:rPr lang="en-US" dirty="0"/>
              <a:t>import pandas as </a:t>
            </a:r>
            <a:r>
              <a:rPr lang="en-US" dirty="0" err="1"/>
              <a:t>pd</a:t>
            </a:r>
            <a:endParaRPr lang="en-US" dirty="0"/>
          </a:p>
          <a:p>
            <a:endParaRPr lang="en-US" dirty="0"/>
          </a:p>
          <a:p>
            <a:r>
              <a:rPr lang="en-US" dirty="0"/>
              <a:t># Create a </a:t>
            </a:r>
            <a:r>
              <a:rPr lang="en-US" dirty="0" err="1"/>
              <a:t>DataFrame</a:t>
            </a:r>
            <a:endParaRPr lang="en-US" dirty="0"/>
          </a:p>
          <a:p>
            <a:r>
              <a:rPr lang="en-US" dirty="0"/>
              <a:t>data = {</a:t>
            </a:r>
          </a:p>
          <a:p>
            <a:r>
              <a:rPr lang="en-US" dirty="0"/>
              <a:t>    'Category': ['A', 'A', 'B', 'B', 'A', 'B'],</a:t>
            </a:r>
          </a:p>
          <a:p>
            <a:r>
              <a:rPr lang="en-US" dirty="0"/>
              <a:t>    'Value': [10, 15, 20, 25, 30, 35],</a:t>
            </a:r>
          </a:p>
          <a:p>
            <a:r>
              <a:rPr lang="en-US" dirty="0"/>
              <a:t>    'Flag': [True, False, True, True, False, True]</a:t>
            </a:r>
          </a:p>
          <a:p>
            <a:r>
              <a:rPr lang="en-US" dirty="0"/>
              <a:t>}</a:t>
            </a:r>
          </a:p>
          <a:p>
            <a:r>
              <a:rPr lang="en-US" dirty="0" err="1"/>
              <a:t>df</a:t>
            </a:r>
            <a:r>
              <a:rPr lang="en-US" dirty="0"/>
              <a:t> = </a:t>
            </a:r>
            <a:r>
              <a:rPr lang="en-US" dirty="0" err="1"/>
              <a:t>pd.DataFrame</a:t>
            </a:r>
            <a:r>
              <a:rPr lang="en-US" dirty="0"/>
              <a:t>(data)</a:t>
            </a:r>
          </a:p>
          <a:p>
            <a:endParaRPr lang="en-US" dirty="0"/>
          </a:p>
          <a:p>
            <a:r>
              <a:rPr lang="en-US" dirty="0"/>
              <a:t># Grouping by 'Category'</a:t>
            </a:r>
          </a:p>
          <a:p>
            <a:r>
              <a:rPr lang="en-US" dirty="0"/>
              <a:t>grouped = </a:t>
            </a:r>
            <a:r>
              <a:rPr lang="en-US" dirty="0" err="1"/>
              <a:t>df.groupby</a:t>
            </a:r>
            <a:r>
              <a:rPr lang="en-US" dirty="0"/>
              <a:t>('Category')</a:t>
            </a:r>
          </a:p>
          <a:p>
            <a:endParaRPr lang="en-US" dirty="0"/>
          </a:p>
          <a:p>
            <a:r>
              <a:rPr lang="en-US" dirty="0"/>
              <a:t># Aggregation: calculating sum, mean, and count</a:t>
            </a:r>
          </a:p>
          <a:p>
            <a:r>
              <a:rPr lang="en-US" dirty="0"/>
              <a:t>aggregated = </a:t>
            </a:r>
            <a:r>
              <a:rPr lang="en-US" dirty="0" err="1"/>
              <a:t>grouped.agg</a:t>
            </a:r>
            <a:r>
              <a:rPr lang="en-US" dirty="0"/>
              <a:t>({'Value': ['sum', 'mean', 'count']})</a:t>
            </a:r>
          </a:p>
          <a:p>
            <a:r>
              <a:rPr lang="en-US" dirty="0"/>
              <a:t>print("Aggregation:")</a:t>
            </a:r>
          </a:p>
          <a:p>
            <a:r>
              <a:rPr lang="en-US" dirty="0"/>
              <a:t>print(aggregated)</a:t>
            </a:r>
          </a:p>
          <a:p>
            <a:endParaRPr lang="en-US" dirty="0"/>
          </a:p>
        </p:txBody>
      </p:sp>
    </p:spTree>
    <p:extLst>
      <p:ext uri="{BB962C8B-B14F-4D97-AF65-F5344CB8AC3E}">
        <p14:creationId xmlns:p14="http://schemas.microsoft.com/office/powerpoint/2010/main" val="208810397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Operations</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82273" y="825052"/>
            <a:ext cx="8779453" cy="2246769"/>
          </a:xfrm>
          <a:prstGeom prst="rect">
            <a:avLst/>
          </a:prstGeom>
        </p:spPr>
        <p:txBody>
          <a:bodyPr wrap="square">
            <a:spAutoFit/>
          </a:bodyPr>
          <a:lstStyle/>
          <a:p>
            <a:r>
              <a:rPr lang="en-US" dirty="0" smtClean="0"/>
              <a:t># </a:t>
            </a:r>
            <a:r>
              <a:rPr lang="en-US" dirty="0"/>
              <a:t>Transformation: subtracting group mean from 'Value'</a:t>
            </a:r>
          </a:p>
          <a:p>
            <a:r>
              <a:rPr lang="en-US" dirty="0"/>
              <a:t>transformed = grouped['Value'].transform(lambda x: x - </a:t>
            </a:r>
            <a:r>
              <a:rPr lang="en-US" dirty="0" err="1"/>
              <a:t>x.mean</a:t>
            </a:r>
            <a:r>
              <a:rPr lang="en-US" dirty="0"/>
              <a:t>())</a:t>
            </a:r>
          </a:p>
          <a:p>
            <a:r>
              <a:rPr lang="en-US" dirty="0" err="1"/>
              <a:t>df</a:t>
            </a:r>
            <a:r>
              <a:rPr lang="en-US" dirty="0"/>
              <a:t>['Transformed'] = transformed</a:t>
            </a:r>
          </a:p>
          <a:p>
            <a:r>
              <a:rPr lang="en-US" dirty="0"/>
              <a:t>print("\</a:t>
            </a:r>
            <a:r>
              <a:rPr lang="en-US" dirty="0" err="1"/>
              <a:t>nTransformation</a:t>
            </a:r>
            <a:r>
              <a:rPr lang="en-US" dirty="0"/>
              <a:t>:")</a:t>
            </a:r>
          </a:p>
          <a:p>
            <a:r>
              <a:rPr lang="en-US" dirty="0"/>
              <a:t>print(</a:t>
            </a:r>
            <a:r>
              <a:rPr lang="en-US" dirty="0" err="1"/>
              <a:t>df</a:t>
            </a:r>
            <a:r>
              <a:rPr lang="en-US" dirty="0"/>
              <a:t>)</a:t>
            </a:r>
          </a:p>
          <a:p>
            <a:endParaRPr lang="en-US" dirty="0"/>
          </a:p>
          <a:p>
            <a:r>
              <a:rPr lang="en-US" dirty="0"/>
              <a:t># Filtering: selecting groups with a count greater than 1</a:t>
            </a:r>
          </a:p>
          <a:p>
            <a:r>
              <a:rPr lang="en-US" dirty="0"/>
              <a:t>filtered = </a:t>
            </a:r>
            <a:r>
              <a:rPr lang="en-US" dirty="0" err="1"/>
              <a:t>grouped.filter</a:t>
            </a:r>
            <a:r>
              <a:rPr lang="en-US" dirty="0"/>
              <a:t>(lambda x: </a:t>
            </a:r>
            <a:r>
              <a:rPr lang="en-US" dirty="0" err="1"/>
              <a:t>len</a:t>
            </a:r>
            <a:r>
              <a:rPr lang="en-US" dirty="0"/>
              <a:t>(x) &gt; 1)</a:t>
            </a:r>
          </a:p>
          <a:p>
            <a:r>
              <a:rPr lang="en-US" dirty="0"/>
              <a:t>print("\</a:t>
            </a:r>
            <a:r>
              <a:rPr lang="en-US" dirty="0" err="1"/>
              <a:t>nFiltering</a:t>
            </a:r>
            <a:r>
              <a:rPr lang="en-US" dirty="0"/>
              <a:t>:")</a:t>
            </a:r>
          </a:p>
          <a:p>
            <a:r>
              <a:rPr lang="en-US" dirty="0"/>
              <a:t>print(filtered</a:t>
            </a:r>
            <a:r>
              <a:rPr lang="en-US" dirty="0" smtClean="0"/>
              <a:t>)</a:t>
            </a:r>
            <a:endParaRPr lang="en-US" dirty="0"/>
          </a:p>
        </p:txBody>
      </p:sp>
    </p:spTree>
    <p:extLst>
      <p:ext uri="{BB962C8B-B14F-4D97-AF65-F5344CB8AC3E}">
        <p14:creationId xmlns:p14="http://schemas.microsoft.com/office/powerpoint/2010/main" val="52688584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Operations</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p:nvPr/>
        </p:nvSpPr>
        <p:spPr>
          <a:xfrm>
            <a:off x="182273" y="777764"/>
            <a:ext cx="8779453" cy="3970318"/>
          </a:xfrm>
          <a:prstGeom prst="rect">
            <a:avLst/>
          </a:prstGeom>
        </p:spPr>
        <p:txBody>
          <a:bodyPr wrap="square">
            <a:spAutoFit/>
          </a:bodyPr>
          <a:lstStyle/>
          <a:p>
            <a:r>
              <a:rPr lang="en-US" dirty="0" smtClean="0"/>
              <a:t># </a:t>
            </a:r>
            <a:r>
              <a:rPr lang="en-US" dirty="0"/>
              <a:t>Applying custom function: calculating the difference between max and min values for each group</a:t>
            </a:r>
          </a:p>
          <a:p>
            <a:r>
              <a:rPr lang="en-US" dirty="0" err="1"/>
              <a:t>def</a:t>
            </a:r>
            <a:r>
              <a:rPr lang="en-US" dirty="0"/>
              <a:t> </a:t>
            </a:r>
            <a:r>
              <a:rPr lang="en-US" dirty="0" err="1"/>
              <a:t>custom_function</a:t>
            </a:r>
            <a:r>
              <a:rPr lang="en-US" dirty="0"/>
              <a:t>(x):</a:t>
            </a:r>
          </a:p>
          <a:p>
            <a:r>
              <a:rPr lang="en-US" dirty="0"/>
              <a:t>    return </a:t>
            </a:r>
            <a:r>
              <a:rPr lang="en-US" dirty="0" err="1"/>
              <a:t>x.max</a:t>
            </a:r>
            <a:r>
              <a:rPr lang="en-US" dirty="0"/>
              <a:t>() - </a:t>
            </a:r>
            <a:r>
              <a:rPr lang="en-US" dirty="0" err="1"/>
              <a:t>x.min</a:t>
            </a:r>
            <a:r>
              <a:rPr lang="en-US" dirty="0"/>
              <a:t>()</a:t>
            </a:r>
          </a:p>
          <a:p>
            <a:endParaRPr lang="en-US" dirty="0"/>
          </a:p>
          <a:p>
            <a:r>
              <a:rPr lang="en-US" dirty="0" err="1"/>
              <a:t>custom_applied</a:t>
            </a:r>
            <a:r>
              <a:rPr lang="en-US" dirty="0"/>
              <a:t> = grouped['Value'].apply(</a:t>
            </a:r>
            <a:r>
              <a:rPr lang="en-US" dirty="0" err="1"/>
              <a:t>custom_function</a:t>
            </a:r>
            <a:r>
              <a:rPr lang="en-US" dirty="0"/>
              <a:t>)</a:t>
            </a:r>
          </a:p>
          <a:p>
            <a:r>
              <a:rPr lang="en-US" dirty="0"/>
              <a:t>print("\</a:t>
            </a:r>
            <a:r>
              <a:rPr lang="en-US" dirty="0" err="1"/>
              <a:t>nCustom</a:t>
            </a:r>
            <a:r>
              <a:rPr lang="en-US" dirty="0"/>
              <a:t> Function:")</a:t>
            </a:r>
          </a:p>
          <a:p>
            <a:r>
              <a:rPr lang="en-US" dirty="0"/>
              <a:t>print(</a:t>
            </a:r>
            <a:r>
              <a:rPr lang="en-US" dirty="0" err="1"/>
              <a:t>custom_applied</a:t>
            </a:r>
            <a:r>
              <a:rPr lang="en-US" dirty="0"/>
              <a:t>)</a:t>
            </a:r>
          </a:p>
          <a:p>
            <a:endParaRPr lang="en-US" dirty="0"/>
          </a:p>
          <a:p>
            <a:r>
              <a:rPr lang="en-US" dirty="0"/>
              <a:t># Iterating over groups: calculating the mean of each group</a:t>
            </a:r>
          </a:p>
          <a:p>
            <a:r>
              <a:rPr lang="en-US" dirty="0"/>
              <a:t>print("\</a:t>
            </a:r>
            <a:r>
              <a:rPr lang="en-US" dirty="0" err="1"/>
              <a:t>nIterating</a:t>
            </a:r>
            <a:r>
              <a:rPr lang="en-US" dirty="0"/>
              <a:t> over groups:")</a:t>
            </a:r>
          </a:p>
          <a:p>
            <a:r>
              <a:rPr lang="en-US" dirty="0"/>
              <a:t>for group, data in grouped:</a:t>
            </a:r>
          </a:p>
          <a:p>
            <a:r>
              <a:rPr lang="en-US" dirty="0"/>
              <a:t>    </a:t>
            </a:r>
            <a:r>
              <a:rPr lang="en-US" dirty="0" err="1"/>
              <a:t>group_mean</a:t>
            </a:r>
            <a:r>
              <a:rPr lang="en-US" dirty="0"/>
              <a:t> = data['Value'].mean()</a:t>
            </a:r>
          </a:p>
          <a:p>
            <a:r>
              <a:rPr lang="en-US" dirty="0"/>
              <a:t>    print(</a:t>
            </a:r>
            <a:r>
              <a:rPr lang="en-US" dirty="0" err="1"/>
              <a:t>f"Group</a:t>
            </a:r>
            <a:r>
              <a:rPr lang="en-US" dirty="0"/>
              <a:t> {group}: Mean = {</a:t>
            </a:r>
            <a:r>
              <a:rPr lang="en-US" dirty="0" err="1"/>
              <a:t>group_mean</a:t>
            </a:r>
            <a:r>
              <a:rPr lang="en-US" dirty="0"/>
              <a:t>}")</a:t>
            </a:r>
          </a:p>
          <a:p>
            <a:endParaRPr lang="en-US" dirty="0"/>
          </a:p>
          <a:p>
            <a:r>
              <a:rPr lang="en-US" dirty="0"/>
              <a:t># Pivot table: calculating the mean 'Value' for each category and flag combination</a:t>
            </a:r>
          </a:p>
          <a:p>
            <a:r>
              <a:rPr lang="en-US" dirty="0" err="1"/>
              <a:t>pivot_table</a:t>
            </a:r>
            <a:r>
              <a:rPr lang="en-US" dirty="0"/>
              <a:t> = </a:t>
            </a:r>
            <a:r>
              <a:rPr lang="en-US" dirty="0" err="1"/>
              <a:t>pd.pivot_table</a:t>
            </a:r>
            <a:r>
              <a:rPr lang="en-US" dirty="0"/>
              <a:t>(</a:t>
            </a:r>
            <a:r>
              <a:rPr lang="en-US" dirty="0" err="1"/>
              <a:t>df</a:t>
            </a:r>
            <a:r>
              <a:rPr lang="en-US" dirty="0"/>
              <a:t>, values='Value', index='Category', columns='Flag', </a:t>
            </a:r>
            <a:r>
              <a:rPr lang="en-US" dirty="0" err="1"/>
              <a:t>aggfunc</a:t>
            </a:r>
            <a:r>
              <a:rPr lang="en-US" dirty="0"/>
              <a:t>='mean')</a:t>
            </a:r>
          </a:p>
          <a:p>
            <a:r>
              <a:rPr lang="en-US" dirty="0"/>
              <a:t>print("\</a:t>
            </a:r>
            <a:r>
              <a:rPr lang="en-US" dirty="0" err="1"/>
              <a:t>nPivot</a:t>
            </a:r>
            <a:r>
              <a:rPr lang="en-US" dirty="0"/>
              <a:t> Table:")</a:t>
            </a:r>
          </a:p>
          <a:p>
            <a:r>
              <a:rPr lang="en-US" dirty="0"/>
              <a:t>print(</a:t>
            </a:r>
            <a:r>
              <a:rPr lang="en-US" dirty="0" err="1"/>
              <a:t>pivot_table</a:t>
            </a:r>
            <a:r>
              <a:rPr lang="en-US" dirty="0"/>
              <a:t>)</a:t>
            </a:r>
          </a:p>
        </p:txBody>
      </p:sp>
    </p:spTree>
    <p:extLst>
      <p:ext uri="{BB962C8B-B14F-4D97-AF65-F5344CB8AC3E}">
        <p14:creationId xmlns:p14="http://schemas.microsoft.com/office/powerpoint/2010/main" val="39661992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smtClean="0"/>
              <a:t>Group Operations</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pic>
        <p:nvPicPr>
          <p:cNvPr id="4" name="Picture 3"/>
          <p:cNvPicPr>
            <a:picLocks noChangeAspect="1"/>
          </p:cNvPicPr>
          <p:nvPr/>
        </p:nvPicPr>
        <p:blipFill>
          <a:blip r:embed="rId3"/>
          <a:stretch>
            <a:fillRect/>
          </a:stretch>
        </p:blipFill>
        <p:spPr>
          <a:xfrm>
            <a:off x="4573357" y="825052"/>
            <a:ext cx="2562225" cy="2371725"/>
          </a:xfrm>
          <a:prstGeom prst="rect">
            <a:avLst/>
          </a:prstGeom>
        </p:spPr>
      </p:pic>
      <p:pic>
        <p:nvPicPr>
          <p:cNvPr id="8" name="Picture 7"/>
          <p:cNvPicPr>
            <a:picLocks noChangeAspect="1"/>
          </p:cNvPicPr>
          <p:nvPr/>
        </p:nvPicPr>
        <p:blipFill>
          <a:blip r:embed="rId4"/>
          <a:stretch>
            <a:fillRect/>
          </a:stretch>
        </p:blipFill>
        <p:spPr>
          <a:xfrm>
            <a:off x="941763" y="825052"/>
            <a:ext cx="2705100" cy="3676650"/>
          </a:xfrm>
          <a:prstGeom prst="rect">
            <a:avLst/>
          </a:prstGeom>
        </p:spPr>
      </p:pic>
    </p:spTree>
    <p:extLst>
      <p:ext uri="{BB962C8B-B14F-4D97-AF65-F5344CB8AC3E}">
        <p14:creationId xmlns:p14="http://schemas.microsoft.com/office/powerpoint/2010/main" val="351968298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a:t>i</a:t>
            </a:r>
            <a:r>
              <a:rPr lang="en-US" sz="3200" dirty="0" err="1" smtClean="0"/>
              <a:t>loc</a:t>
            </a:r>
            <a:r>
              <a:rPr lang="en-US" sz="3200" dirty="0" smtClean="0"/>
              <a:t> and </a:t>
            </a:r>
            <a:r>
              <a:rPr lang="en-US" sz="3200" dirty="0" err="1" smtClean="0"/>
              <a:t>loc</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a:spLocks noChangeArrowheads="1"/>
          </p:cNvSpPr>
          <p:nvPr/>
        </p:nvSpPr>
        <p:spPr bwMode="auto">
          <a:xfrm>
            <a:off x="108066" y="1970116"/>
            <a:ext cx="9144000" cy="0"/>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b="1" i="0" u="none" strike="noStrike" cap="none" normalizeH="0" baseline="0" smtClean="0">
                <a:ln>
                  <a:noFill/>
                </a:ln>
                <a:solidFill>
                  <a:srgbClr val="374151"/>
                </a:solidFill>
                <a:effectLst/>
                <a:latin typeface="Söhne Mono"/>
              </a:rPr>
              <a:t>loc</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smtClean="0">
                <a:ln>
                  <a:noFill/>
                </a:ln>
                <a:solidFill>
                  <a:srgbClr val="374151"/>
                </a:solidFill>
                <a:effectLst/>
                <a:latin typeface="Söhne Mono"/>
              </a:rPr>
              <a:t>loc</a:t>
            </a:r>
            <a:r>
              <a:rPr kumimoji="0" lang="en-US" sz="1200" b="0" i="0" u="none" strike="noStrike" cap="none" normalizeH="0" baseline="0" smtClean="0">
                <a:ln>
                  <a:noFill/>
                </a:ln>
                <a:solidFill>
                  <a:srgbClr val="374151"/>
                </a:solidFill>
                <a:effectLst/>
                <a:latin typeface="Söhne"/>
              </a:rPr>
              <a:t> is primarily label-based indexing, which means you can select data based on the labels of rows or columns.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It accepts a label or a boolean array for row indexing and a label or a list of labels for column indexing.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syntax for using </a:t>
            </a:r>
            <a:r>
              <a:rPr kumimoji="0" lang="en-US" b="1" i="0" u="none" strike="noStrike" cap="none" normalizeH="0" baseline="0" smtClean="0">
                <a:ln>
                  <a:noFill/>
                </a:ln>
                <a:solidFill>
                  <a:srgbClr val="374151"/>
                </a:solidFill>
                <a:effectLst/>
                <a:latin typeface="Söhne Mono"/>
              </a:rPr>
              <a:t>loc</a:t>
            </a:r>
            <a:r>
              <a:rPr kumimoji="0" lang="en-US" sz="1200" b="0" i="0" u="none" strike="noStrike" cap="none" normalizeH="0" baseline="0" smtClean="0">
                <a:ln>
                  <a:noFill/>
                </a:ln>
                <a:solidFill>
                  <a:srgbClr val="374151"/>
                </a:solidFill>
                <a:effectLst/>
                <a:latin typeface="Söhne"/>
              </a:rPr>
              <a:t> is </a:t>
            </a:r>
            <a:r>
              <a:rPr kumimoji="0" lang="en-US" b="1" i="0" u="none" strike="noStrike" cap="none" normalizeH="0" baseline="0" smtClean="0">
                <a:ln>
                  <a:noFill/>
                </a:ln>
                <a:solidFill>
                  <a:srgbClr val="374151"/>
                </a:solidFill>
                <a:effectLst/>
                <a:latin typeface="Söhne Mono"/>
              </a:rPr>
              <a:t>df.loc[row_indexer, column_indexer]</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row and column indexers can be single labels, lists, slices, or boolean arrays.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b="1" i="0" u="none" strike="noStrike" cap="none" normalizeH="0" baseline="0" smtClean="0">
                <a:ln>
                  <a:noFill/>
                </a:ln>
                <a:solidFill>
                  <a:srgbClr val="374151"/>
                </a:solidFill>
                <a:effectLst/>
                <a:latin typeface="Söhne Mono"/>
              </a:rPr>
              <a:t>iloc</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smtClean="0">
                <a:ln>
                  <a:noFill/>
                </a:ln>
                <a:solidFill>
                  <a:srgbClr val="374151"/>
                </a:solidFill>
                <a:effectLst/>
                <a:latin typeface="Söhne Mono"/>
              </a:rPr>
              <a:t>iloc</a:t>
            </a:r>
            <a:r>
              <a:rPr kumimoji="0" lang="en-US" sz="1200" b="0" i="0" u="none" strike="noStrike" cap="none" normalizeH="0" baseline="0" smtClean="0">
                <a:ln>
                  <a:noFill/>
                </a:ln>
                <a:solidFill>
                  <a:srgbClr val="374151"/>
                </a:solidFill>
                <a:effectLst/>
                <a:latin typeface="Söhne"/>
              </a:rPr>
              <a:t> is primarily integer-based indexing, which means you can select data based on the integer positions of rows or columns.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It accepts integer values or boolean arrays for row and column indexing.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syntax for using </a:t>
            </a:r>
            <a:r>
              <a:rPr kumimoji="0" lang="en-US" b="1" i="0" u="none" strike="noStrike" cap="none" normalizeH="0" baseline="0" smtClean="0">
                <a:ln>
                  <a:noFill/>
                </a:ln>
                <a:solidFill>
                  <a:srgbClr val="374151"/>
                </a:solidFill>
                <a:effectLst/>
                <a:latin typeface="Söhne Mono"/>
              </a:rPr>
              <a:t>iloc</a:t>
            </a:r>
            <a:r>
              <a:rPr kumimoji="0" lang="en-US" sz="1200" b="0" i="0" u="none" strike="noStrike" cap="none" normalizeH="0" baseline="0" smtClean="0">
                <a:ln>
                  <a:noFill/>
                </a:ln>
                <a:solidFill>
                  <a:srgbClr val="374151"/>
                </a:solidFill>
                <a:effectLst/>
                <a:latin typeface="Söhne"/>
              </a:rPr>
              <a:t> is </a:t>
            </a:r>
            <a:r>
              <a:rPr kumimoji="0" lang="en-US" b="1" i="0" u="none" strike="noStrike" cap="none" normalizeH="0" baseline="0" smtClean="0">
                <a:ln>
                  <a:noFill/>
                </a:ln>
                <a:solidFill>
                  <a:srgbClr val="374151"/>
                </a:solidFill>
                <a:effectLst/>
                <a:latin typeface="Söhne Mono"/>
              </a:rPr>
              <a:t>df.iloc[row_indexer, column_indexer]</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row and column indexers can be single integers, lists of integers, slices, or boolean arrays.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3268375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a:t>i</a:t>
            </a:r>
            <a:r>
              <a:rPr lang="en-US" sz="3200" dirty="0" err="1" smtClean="0"/>
              <a:t>loc</a:t>
            </a:r>
            <a:r>
              <a:rPr lang="en-US" sz="3200" dirty="0" smtClean="0"/>
              <a:t> and </a:t>
            </a:r>
            <a:r>
              <a:rPr lang="en-US" sz="3200" dirty="0" err="1" smtClean="0"/>
              <a:t>loc</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1"/>
          <p:cNvSpPr>
            <a:spLocks noChangeArrowheads="1"/>
          </p:cNvSpPr>
          <p:nvPr/>
        </p:nvSpPr>
        <p:spPr bwMode="auto">
          <a:xfrm>
            <a:off x="108066" y="1970116"/>
            <a:ext cx="9144000" cy="0"/>
          </a:xfrm>
          <a:prstGeom prst="rect">
            <a:avLst/>
          </a:prstGeom>
          <a:solidFill>
            <a:srgbClr val="F7F7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AutoNum type="arabicPeriod"/>
              <a:tabLst/>
            </a:pPr>
            <a:r>
              <a:rPr kumimoji="0" lang="en-US" b="1" i="0" u="none" strike="noStrike" cap="none" normalizeH="0" baseline="0" smtClean="0">
                <a:ln>
                  <a:noFill/>
                </a:ln>
                <a:solidFill>
                  <a:srgbClr val="374151"/>
                </a:solidFill>
                <a:effectLst/>
                <a:latin typeface="Söhne Mono"/>
              </a:rPr>
              <a:t>loc</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smtClean="0">
                <a:ln>
                  <a:noFill/>
                </a:ln>
                <a:solidFill>
                  <a:srgbClr val="374151"/>
                </a:solidFill>
                <a:effectLst/>
                <a:latin typeface="Söhne Mono"/>
              </a:rPr>
              <a:t>loc</a:t>
            </a:r>
            <a:r>
              <a:rPr kumimoji="0" lang="en-US" sz="1200" b="0" i="0" u="none" strike="noStrike" cap="none" normalizeH="0" baseline="0" smtClean="0">
                <a:ln>
                  <a:noFill/>
                </a:ln>
                <a:solidFill>
                  <a:srgbClr val="374151"/>
                </a:solidFill>
                <a:effectLst/>
                <a:latin typeface="Söhne"/>
              </a:rPr>
              <a:t> is primarily label-based indexing, which means you can select data based on the labels of rows or columns.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It accepts a label or a boolean array for row indexing and a label or a list of labels for column indexing.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syntax for using </a:t>
            </a:r>
            <a:r>
              <a:rPr kumimoji="0" lang="en-US" b="1" i="0" u="none" strike="noStrike" cap="none" normalizeH="0" baseline="0" smtClean="0">
                <a:ln>
                  <a:noFill/>
                </a:ln>
                <a:solidFill>
                  <a:srgbClr val="374151"/>
                </a:solidFill>
                <a:effectLst/>
                <a:latin typeface="Söhne Mono"/>
              </a:rPr>
              <a:t>loc</a:t>
            </a:r>
            <a:r>
              <a:rPr kumimoji="0" lang="en-US" sz="1200" b="0" i="0" u="none" strike="noStrike" cap="none" normalizeH="0" baseline="0" smtClean="0">
                <a:ln>
                  <a:noFill/>
                </a:ln>
                <a:solidFill>
                  <a:srgbClr val="374151"/>
                </a:solidFill>
                <a:effectLst/>
                <a:latin typeface="Söhne"/>
              </a:rPr>
              <a:t> is </a:t>
            </a:r>
            <a:r>
              <a:rPr kumimoji="0" lang="en-US" b="1" i="0" u="none" strike="noStrike" cap="none" normalizeH="0" baseline="0" smtClean="0">
                <a:ln>
                  <a:noFill/>
                </a:ln>
                <a:solidFill>
                  <a:srgbClr val="374151"/>
                </a:solidFill>
                <a:effectLst/>
                <a:latin typeface="Söhne Mono"/>
              </a:rPr>
              <a:t>df.loc[row_indexer, column_indexer]</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row and column indexers can be single labels, lists, slices, or boolean arrays.</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kumimoji="0" lang="en-US" b="1" i="0" u="none" strike="noStrike" cap="none" normalizeH="0" baseline="0" smtClean="0">
                <a:ln>
                  <a:noFill/>
                </a:ln>
                <a:solidFill>
                  <a:srgbClr val="374151"/>
                </a:solidFill>
                <a:effectLst/>
                <a:latin typeface="Söhne Mono"/>
              </a:rPr>
              <a:t>iloc</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b="1" i="0" u="none" strike="noStrike" cap="none" normalizeH="0" baseline="0" smtClean="0">
                <a:ln>
                  <a:noFill/>
                </a:ln>
                <a:solidFill>
                  <a:srgbClr val="374151"/>
                </a:solidFill>
                <a:effectLst/>
                <a:latin typeface="Söhne Mono"/>
              </a:rPr>
              <a:t>iloc</a:t>
            </a:r>
            <a:r>
              <a:rPr kumimoji="0" lang="en-US" sz="1200" b="0" i="0" u="none" strike="noStrike" cap="none" normalizeH="0" baseline="0" smtClean="0">
                <a:ln>
                  <a:noFill/>
                </a:ln>
                <a:solidFill>
                  <a:srgbClr val="374151"/>
                </a:solidFill>
                <a:effectLst/>
                <a:latin typeface="Söhne"/>
              </a:rPr>
              <a:t> is primarily integer-based indexing, which means you can select data based on the integer positions of rows or columns.</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It accepts integer values or boolean arrays for row and column indexing.</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syntax for using </a:t>
            </a:r>
            <a:r>
              <a:rPr kumimoji="0" lang="en-US" b="1" i="0" u="none" strike="noStrike" cap="none" normalizeH="0" baseline="0" smtClean="0">
                <a:ln>
                  <a:noFill/>
                </a:ln>
                <a:solidFill>
                  <a:srgbClr val="374151"/>
                </a:solidFill>
                <a:effectLst/>
                <a:latin typeface="Söhne Mono"/>
              </a:rPr>
              <a:t>iloc</a:t>
            </a:r>
            <a:r>
              <a:rPr kumimoji="0" lang="en-US" sz="1200" b="0" i="0" u="none" strike="noStrike" cap="none" normalizeH="0" baseline="0" smtClean="0">
                <a:ln>
                  <a:noFill/>
                </a:ln>
                <a:solidFill>
                  <a:srgbClr val="374151"/>
                </a:solidFill>
                <a:effectLst/>
                <a:latin typeface="Söhne"/>
              </a:rPr>
              <a:t> is </a:t>
            </a:r>
            <a:r>
              <a:rPr kumimoji="0" lang="en-US" b="1" i="0" u="none" strike="noStrike" cap="none" normalizeH="0" baseline="0" smtClean="0">
                <a:ln>
                  <a:noFill/>
                </a:ln>
                <a:solidFill>
                  <a:srgbClr val="374151"/>
                </a:solidFill>
                <a:effectLst/>
                <a:latin typeface="Söhne Mono"/>
              </a:rPr>
              <a:t>df.iloc[row_indexer, column_indexer]</a:t>
            </a:r>
            <a:r>
              <a:rPr kumimoji="0" lang="en-US" sz="1200" b="0" i="0" u="none" strike="noStrike" cap="none" normalizeH="0" baseline="0" smtClean="0">
                <a:ln>
                  <a:noFill/>
                </a:ln>
                <a:solidFill>
                  <a:srgbClr val="374151"/>
                </a:solidFill>
                <a:effectLst/>
                <a:latin typeface="Söhne"/>
              </a:rPr>
              <a:t>.</a:t>
            </a:r>
          </a:p>
          <a:p>
            <a:pPr marL="457200" marR="0" lvl="1" indent="0" algn="l" defTabSz="914400" rtl="0" eaLnBrk="0" fontAlgn="base" latinLnBrk="0" hangingPunct="0">
              <a:lnSpc>
                <a:spcPct val="100000"/>
              </a:lnSpc>
              <a:spcBef>
                <a:spcPct val="0"/>
              </a:spcBef>
              <a:spcAft>
                <a:spcPct val="0"/>
              </a:spcAft>
              <a:buClrTx/>
              <a:buSzTx/>
              <a:buFontTx/>
              <a:buChar char="•"/>
              <a:tabLst/>
            </a:pPr>
            <a:r>
              <a:rPr kumimoji="0" lang="en-US" sz="1200" b="0" i="0" u="none" strike="noStrike" cap="none" normalizeH="0" baseline="0" smtClean="0">
                <a:ln>
                  <a:noFill/>
                </a:ln>
                <a:solidFill>
                  <a:srgbClr val="374151"/>
                </a:solidFill>
                <a:effectLst/>
                <a:latin typeface="Söhne"/>
              </a:rPr>
              <a:t>The row and column indexers can be single integers, lists of integers, slices, or boolean arrays.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095266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a:t>i</a:t>
            </a:r>
            <a:r>
              <a:rPr lang="en-US" sz="3200" dirty="0" err="1" smtClean="0"/>
              <a:t>loc</a:t>
            </a:r>
            <a:r>
              <a:rPr lang="en-US" sz="3200" dirty="0" smtClean="0"/>
              <a:t> and </a:t>
            </a:r>
            <a:r>
              <a:rPr lang="en-US" sz="3200" dirty="0" err="1" smtClean="0"/>
              <a:t>loc</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3" name="Rectangle 2"/>
          <p:cNvSpPr/>
          <p:nvPr/>
        </p:nvSpPr>
        <p:spPr>
          <a:xfrm>
            <a:off x="457228" y="867687"/>
            <a:ext cx="7847159" cy="3970318"/>
          </a:xfrm>
          <a:prstGeom prst="rect">
            <a:avLst/>
          </a:prstGeom>
        </p:spPr>
        <p:txBody>
          <a:bodyPr wrap="square">
            <a:spAutoFit/>
          </a:bodyPr>
          <a:lstStyle/>
          <a:p>
            <a:r>
              <a:rPr lang="en-US" dirty="0"/>
              <a:t>import pandas as </a:t>
            </a:r>
            <a:r>
              <a:rPr lang="en-US" dirty="0" err="1"/>
              <a:t>pd</a:t>
            </a:r>
            <a:endParaRPr lang="en-US" dirty="0"/>
          </a:p>
          <a:p>
            <a:r>
              <a:rPr lang="en-US" dirty="0" smtClean="0"/>
              <a:t>data </a:t>
            </a:r>
            <a:r>
              <a:rPr lang="en-US" dirty="0"/>
              <a:t>= {</a:t>
            </a:r>
          </a:p>
          <a:p>
            <a:r>
              <a:rPr lang="en-US" dirty="0"/>
              <a:t>    'Name': ['John', 'Alice', 'Bob', 'Emma', 'Tom'],</a:t>
            </a:r>
          </a:p>
          <a:p>
            <a:r>
              <a:rPr lang="en-US" dirty="0"/>
              <a:t>    'Age': [25, 30, 35, 28, 32],</a:t>
            </a:r>
          </a:p>
          <a:p>
            <a:r>
              <a:rPr lang="en-US" dirty="0"/>
              <a:t>    'City': ['New York', 'London', 'Paris', 'Sydney', 'Tokyo']</a:t>
            </a:r>
          </a:p>
          <a:p>
            <a:r>
              <a:rPr lang="en-US" dirty="0"/>
              <a:t>}</a:t>
            </a:r>
          </a:p>
          <a:p>
            <a:r>
              <a:rPr lang="en-US" dirty="0" err="1"/>
              <a:t>df</a:t>
            </a:r>
            <a:r>
              <a:rPr lang="en-US" dirty="0"/>
              <a:t> = </a:t>
            </a:r>
            <a:r>
              <a:rPr lang="en-US" dirty="0" err="1"/>
              <a:t>pd.DataFrame</a:t>
            </a:r>
            <a:r>
              <a:rPr lang="en-US" dirty="0"/>
              <a:t>(data)</a:t>
            </a:r>
          </a:p>
          <a:p>
            <a:endParaRPr lang="en-US" dirty="0"/>
          </a:p>
          <a:p>
            <a:r>
              <a:rPr lang="en-US" dirty="0"/>
              <a:t># Using </a:t>
            </a:r>
            <a:r>
              <a:rPr lang="en-US" dirty="0" err="1"/>
              <a:t>loc</a:t>
            </a:r>
            <a:r>
              <a:rPr lang="en-US" dirty="0"/>
              <a:t> to select </a:t>
            </a:r>
            <a:r>
              <a:rPr lang="en-US" dirty="0" smtClean="0"/>
              <a:t>data Select </a:t>
            </a:r>
            <a:r>
              <a:rPr lang="en-US" dirty="0"/>
              <a:t>rows with index labels 1 and 3, and columns 'Name' and 'City'</a:t>
            </a:r>
          </a:p>
          <a:p>
            <a:r>
              <a:rPr lang="en-US" dirty="0" err="1"/>
              <a:t>selected_loc</a:t>
            </a:r>
            <a:r>
              <a:rPr lang="en-US" dirty="0"/>
              <a:t> = </a:t>
            </a:r>
            <a:r>
              <a:rPr lang="en-US" dirty="0" err="1"/>
              <a:t>df.loc</a:t>
            </a:r>
            <a:r>
              <a:rPr lang="en-US" dirty="0"/>
              <a:t>[[1, 3], ['Name', 'City']]</a:t>
            </a:r>
          </a:p>
          <a:p>
            <a:r>
              <a:rPr lang="en-US" dirty="0"/>
              <a:t>print("Using </a:t>
            </a:r>
            <a:r>
              <a:rPr lang="en-US" dirty="0" err="1"/>
              <a:t>loc</a:t>
            </a:r>
            <a:r>
              <a:rPr lang="en-US" dirty="0"/>
              <a:t>:")</a:t>
            </a:r>
          </a:p>
          <a:p>
            <a:r>
              <a:rPr lang="en-US" dirty="0"/>
              <a:t>print(</a:t>
            </a:r>
            <a:r>
              <a:rPr lang="en-US" dirty="0" err="1"/>
              <a:t>selected_loc</a:t>
            </a:r>
            <a:r>
              <a:rPr lang="en-US" dirty="0"/>
              <a:t>)</a:t>
            </a:r>
          </a:p>
          <a:p>
            <a:endParaRPr lang="en-US" dirty="0"/>
          </a:p>
          <a:p>
            <a:r>
              <a:rPr lang="en-US" dirty="0"/>
              <a:t># Using </a:t>
            </a:r>
            <a:r>
              <a:rPr lang="en-US" dirty="0" err="1"/>
              <a:t>iloc</a:t>
            </a:r>
            <a:r>
              <a:rPr lang="en-US" dirty="0"/>
              <a:t> to select </a:t>
            </a:r>
            <a:r>
              <a:rPr lang="en-US" dirty="0" smtClean="0"/>
              <a:t>data Select </a:t>
            </a:r>
            <a:r>
              <a:rPr lang="en-US" dirty="0"/>
              <a:t>rows at integer positions 1 and 3, and columns at integer positions 0 and 2</a:t>
            </a:r>
          </a:p>
          <a:p>
            <a:r>
              <a:rPr lang="en-US" dirty="0" err="1"/>
              <a:t>selected_iloc</a:t>
            </a:r>
            <a:r>
              <a:rPr lang="en-US" dirty="0"/>
              <a:t> = </a:t>
            </a:r>
            <a:r>
              <a:rPr lang="en-US" dirty="0" err="1"/>
              <a:t>df.iloc</a:t>
            </a:r>
            <a:r>
              <a:rPr lang="en-US" dirty="0"/>
              <a:t>[[1, 3], [0, 2]]</a:t>
            </a:r>
          </a:p>
          <a:p>
            <a:r>
              <a:rPr lang="en-US" dirty="0"/>
              <a:t>print("\</a:t>
            </a:r>
            <a:r>
              <a:rPr lang="en-US" dirty="0" err="1"/>
              <a:t>nUsing</a:t>
            </a:r>
            <a:r>
              <a:rPr lang="en-US" dirty="0"/>
              <a:t> </a:t>
            </a:r>
            <a:r>
              <a:rPr lang="en-US" dirty="0" err="1"/>
              <a:t>iloc</a:t>
            </a:r>
            <a:r>
              <a:rPr lang="en-US" dirty="0"/>
              <a:t>:")</a:t>
            </a:r>
          </a:p>
          <a:p>
            <a:r>
              <a:rPr lang="en-US" dirty="0"/>
              <a:t>print(</a:t>
            </a:r>
            <a:r>
              <a:rPr lang="en-US" dirty="0" err="1"/>
              <a:t>selected_iloc</a:t>
            </a:r>
            <a:r>
              <a:rPr lang="en-US" dirty="0"/>
              <a:t>)</a:t>
            </a:r>
          </a:p>
        </p:txBody>
      </p:sp>
    </p:spTree>
    <p:extLst>
      <p:ext uri="{BB962C8B-B14F-4D97-AF65-F5344CB8AC3E}">
        <p14:creationId xmlns:p14="http://schemas.microsoft.com/office/powerpoint/2010/main" val="227359026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2" name="Google Shape;616;p61"/>
          <p:cNvSpPr txBox="1">
            <a:spLocks/>
          </p:cNvSpPr>
          <p:nvPr/>
        </p:nvSpPr>
        <p:spPr>
          <a:xfrm>
            <a:off x="0" y="313296"/>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a:t>i</a:t>
            </a:r>
            <a:r>
              <a:rPr lang="en-US" sz="3200" dirty="0" err="1" smtClean="0"/>
              <a:t>loc</a:t>
            </a:r>
            <a:r>
              <a:rPr lang="en-US" sz="3200" dirty="0" smtClean="0"/>
              <a:t> and </a:t>
            </a:r>
            <a:r>
              <a:rPr lang="en-US" sz="3200" dirty="0" err="1" smtClean="0"/>
              <a:t>loc</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2" name="Rectangle 2"/>
          <p:cNvSpPr>
            <a:spLocks noChangeArrowheads="1"/>
          </p:cNvSpPr>
          <p:nvPr/>
        </p:nvSpPr>
        <p:spPr bwMode="auto">
          <a:xfrm>
            <a:off x="365760" y="2485506"/>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8200"/>
                </a:solidFill>
                <a:effectLst/>
                <a:latin typeface="Consolas" panose="020B0609020204030204" pitchFamily="49" charset="0"/>
              </a:rPr>
              <a:t># importing the module</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1" i="0" u="none" strike="noStrike" cap="none" normalizeH="0" baseline="0" smtClean="0">
                <a:ln>
                  <a:noFill/>
                </a:ln>
                <a:solidFill>
                  <a:srgbClr val="006699"/>
                </a:solidFill>
                <a:effectLst/>
                <a:latin typeface="Consolas" panose="020B0609020204030204" pitchFamily="49" charset="0"/>
              </a:rPr>
              <a:t>import</a:t>
            </a:r>
            <a:r>
              <a:rPr kumimoji="0" lang="en-US" sz="7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00"/>
                </a:solidFill>
                <a:effectLst/>
                <a:latin typeface="Consolas" panose="020B0609020204030204" pitchFamily="49" charset="0"/>
              </a:rPr>
              <a:t>pandas as pd</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273239"/>
                </a:solidFill>
                <a:effectLst/>
                <a:latin typeface="Consolas" panose="020B0609020204030204" pitchFamily="49" charset="0"/>
              </a:rPr>
              <a:t> </a:t>
            </a:r>
            <a:endParaRPr kumimoji="0" lang="en-US" sz="1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8200"/>
                </a:solidFill>
                <a:effectLst/>
                <a:latin typeface="Consolas" panose="020B0609020204030204" pitchFamily="49" charset="0"/>
              </a:rPr>
              <a:t># creating a sample dataframe</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0000"/>
                </a:solidFill>
                <a:effectLst/>
                <a:latin typeface="Consolas" panose="020B0609020204030204" pitchFamily="49" charset="0"/>
              </a:rPr>
              <a:t>data </a:t>
            </a:r>
            <a:r>
              <a:rPr kumimoji="0" lang="en-US" sz="1100" b="1" i="0" u="none" strike="noStrike" cap="none" normalizeH="0" baseline="0" smtClean="0">
                <a:ln>
                  <a:noFill/>
                </a:ln>
                <a:solidFill>
                  <a:srgbClr val="006699"/>
                </a:solidFill>
                <a:effectLst/>
                <a:latin typeface="Consolas" panose="020B0609020204030204" pitchFamily="49" charset="0"/>
              </a:rPr>
              <a:t>=</a:t>
            </a:r>
            <a:r>
              <a:rPr kumimoji="0" lang="en-US" sz="7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00"/>
                </a:solidFill>
                <a:effectLst/>
                <a:latin typeface="Consolas" panose="020B0609020204030204" pitchFamily="49" charset="0"/>
              </a:rPr>
              <a:t>pd.DataFrame({</a:t>
            </a:r>
            <a:r>
              <a:rPr kumimoji="0" lang="en-US" sz="1100" b="0" i="0" u="none" strike="noStrike" cap="none" normalizeH="0" baseline="0" smtClean="0">
                <a:ln>
                  <a:noFill/>
                </a:ln>
                <a:solidFill>
                  <a:srgbClr val="0000FF"/>
                </a:solidFill>
                <a:effectLst/>
                <a:latin typeface="Consolas" panose="020B0609020204030204" pitchFamily="49" charset="0"/>
              </a:rPr>
              <a:t>'Brand'</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'Maruti'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'Hyundai'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'Tata'</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'Mahindra'</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'Maruti'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'Hyundai'</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'Renault'</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'Tata'</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'Maruti'</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'Year'</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2012</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2014</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2011</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2015</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2012</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2016</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2014</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2018</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2019</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'Kms Driven'</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50000</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30000</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60000</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25000</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10000</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46000</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31000</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15000</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12000</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'City'</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'Gurgaon'</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'Delhi'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'Mumbai'</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'Delhi'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'Mumbai'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'Delhi'</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'Mumbai'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'Chennai'</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'Ghaziabad'</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00FF"/>
                </a:solidFill>
                <a:effectLst/>
                <a:latin typeface="Consolas" panose="020B0609020204030204" pitchFamily="49" charset="0"/>
              </a:rPr>
              <a:t>'Mileage'</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28</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27</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25</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26</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28</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273239"/>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29</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24</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21</a:t>
            </a:r>
            <a:r>
              <a:rPr kumimoji="0" lang="en-US" sz="1100" b="0" i="0" u="none" strike="noStrike" cap="none" normalizeH="0" baseline="0" smtClean="0">
                <a:ln>
                  <a:noFill/>
                </a:ln>
                <a:solidFill>
                  <a:srgbClr val="000000"/>
                </a:solidFill>
                <a:effectLst/>
                <a:latin typeface="Consolas" panose="020B0609020204030204" pitchFamily="49" charset="0"/>
              </a:rPr>
              <a:t>, </a:t>
            </a:r>
            <a:r>
              <a:rPr kumimoji="0" lang="en-US" sz="1100" b="0" i="0" u="none" strike="noStrike" cap="none" normalizeH="0" baseline="0" smtClean="0">
                <a:ln>
                  <a:noFill/>
                </a:ln>
                <a:solidFill>
                  <a:srgbClr val="009900"/>
                </a:solidFill>
                <a:effectLst/>
                <a:latin typeface="Consolas" panose="020B0609020204030204" pitchFamily="49" charset="0"/>
              </a:rPr>
              <a:t>24</a:t>
            </a:r>
            <a:r>
              <a:rPr kumimoji="0" lang="en-US" sz="1100" b="0" i="0" u="none" strike="noStrike" cap="none" normalizeH="0" baseline="0" smtClean="0">
                <a:ln>
                  <a:noFill/>
                </a:ln>
                <a:solidFill>
                  <a:srgbClr val="000000"/>
                </a:solidFill>
                <a:effectLst/>
                <a:latin typeface="Consolas" panose="020B0609020204030204" pitchFamily="49" charset="0"/>
              </a:rPr>
              <a:t>]})</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smtClean="0">
                <a:ln>
                  <a:noFill/>
                </a:ln>
                <a:solidFill>
                  <a:srgbClr val="273239"/>
                </a:solidFill>
                <a:effectLst/>
                <a:latin typeface="Consolas" panose="020B0609020204030204" pitchFamily="49" charset="0"/>
              </a:rPr>
              <a:t> </a:t>
            </a:r>
            <a:endParaRPr kumimoji="0" lang="en-US" sz="1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8200"/>
                </a:solidFill>
                <a:effectLst/>
                <a:latin typeface="Consolas" panose="020B0609020204030204" pitchFamily="49" charset="0"/>
              </a:rPr>
              <a:t># displaying the DataFrame</a:t>
            </a:r>
            <a:endParaRPr kumimoji="0" lang="en-US" sz="7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100" b="0" i="0" u="none" strike="noStrike" cap="none" normalizeH="0" baseline="0" smtClean="0">
                <a:ln>
                  <a:noFill/>
                </a:ln>
                <a:solidFill>
                  <a:srgbClr val="000000"/>
                </a:solidFill>
                <a:effectLst/>
                <a:latin typeface="Consolas" panose="020B0609020204030204" pitchFamily="49" charset="0"/>
              </a:rPr>
              <a:t>display(data)</a:t>
            </a:r>
            <a:endParaRPr kumimoji="0" lang="en-US" sz="1800" b="0" i="0" u="none" strike="noStrike" cap="none" normalizeH="0" baseline="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6855519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12" name="Google Shape;616;p61"/>
          <p:cNvSpPr txBox="1">
            <a:spLocks/>
          </p:cNvSpPr>
          <p:nvPr/>
        </p:nvSpPr>
        <p:spPr>
          <a:xfrm>
            <a:off x="17725" y="266007"/>
            <a:ext cx="9144000" cy="464468"/>
          </a:xfrm>
          <a:prstGeom prst="rect">
            <a:avLst/>
          </a:prstGeom>
          <a:solidFill>
            <a:srgbClr val="00B0F0"/>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1pPr>
            <a:lvl2pPr marR="0" lvl="1"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2pPr>
            <a:lvl3pPr marR="0" lvl="2"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3pPr>
            <a:lvl4pPr marR="0" lvl="3"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4pPr>
            <a:lvl5pPr marR="0" lvl="4"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5pPr>
            <a:lvl6pPr marR="0" lvl="5"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6pPr>
            <a:lvl7pPr marR="0" lvl="6"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7pPr>
            <a:lvl8pPr marR="0" lvl="7"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8pPr>
            <a:lvl9pPr marR="0" lvl="8" algn="l" rtl="0">
              <a:lnSpc>
                <a:spcPct val="100000"/>
              </a:lnSpc>
              <a:spcBef>
                <a:spcPts val="0"/>
              </a:spcBef>
              <a:spcAft>
                <a:spcPts val="0"/>
              </a:spcAft>
              <a:buClr>
                <a:schemeClr val="dk1"/>
              </a:buClr>
              <a:buSzPts val="4200"/>
              <a:buFont typeface="Economica"/>
              <a:buNone/>
              <a:defRPr sz="4200" b="0" i="0" u="none" strike="noStrike" cap="none">
                <a:solidFill>
                  <a:schemeClr val="dk1"/>
                </a:solidFill>
                <a:latin typeface="Economica"/>
                <a:ea typeface="Economica"/>
                <a:cs typeface="Economica"/>
                <a:sym typeface="Economica"/>
              </a:defRPr>
            </a:lvl9pPr>
          </a:lstStyle>
          <a:p>
            <a:r>
              <a:rPr lang="en-US" sz="3200" dirty="0" err="1"/>
              <a:t>i</a:t>
            </a:r>
            <a:r>
              <a:rPr lang="en-US" sz="3200" dirty="0" err="1" smtClean="0"/>
              <a:t>loc</a:t>
            </a:r>
            <a:r>
              <a:rPr lang="en-US" sz="3200" dirty="0" smtClean="0"/>
              <a:t> and </a:t>
            </a:r>
            <a:r>
              <a:rPr lang="en-US" sz="3200" dirty="0" err="1" smtClean="0"/>
              <a:t>loc</a:t>
            </a:r>
            <a:endParaRPr lang="en-US" sz="3200" dirty="0"/>
          </a:p>
        </p:txBody>
      </p:sp>
      <p:sp>
        <p:nvSpPr>
          <p:cNvPr id="40" name="Rectangle 39"/>
          <p:cNvSpPr/>
          <p:nvPr/>
        </p:nvSpPr>
        <p:spPr bwMode="auto">
          <a:xfrm>
            <a:off x="3084023" y="0"/>
            <a:ext cx="2752724" cy="266007"/>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First Year  B. Tech</a:t>
            </a:r>
          </a:p>
        </p:txBody>
      </p:sp>
      <p:sp>
        <p:nvSpPr>
          <p:cNvPr id="41" name="Rectangle 40"/>
          <p:cNvSpPr/>
          <p:nvPr/>
        </p:nvSpPr>
        <p:spPr bwMode="auto">
          <a:xfrm>
            <a:off x="5836746" y="0"/>
            <a:ext cx="3307253" cy="308956"/>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Course: Essentials of Data Science</a:t>
            </a:r>
          </a:p>
        </p:txBody>
      </p:sp>
      <p:sp>
        <p:nvSpPr>
          <p:cNvPr id="42" name="Rectangle 41"/>
          <p:cNvSpPr/>
          <p:nvPr/>
        </p:nvSpPr>
        <p:spPr bwMode="auto">
          <a:xfrm>
            <a:off x="5836745" y="4838006"/>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r>
              <a:rPr lang="en-US" sz="1000" b="1" cap="small" dirty="0">
                <a:solidFill>
                  <a:schemeClr val="tx1"/>
                </a:solidFill>
              </a:rPr>
              <a:t>11/11/2022                                                                     2</a:t>
            </a:r>
          </a:p>
        </p:txBody>
      </p:sp>
      <p:sp>
        <p:nvSpPr>
          <p:cNvPr id="43" name="Rectangle 42"/>
          <p:cNvSpPr/>
          <p:nvPr/>
        </p:nvSpPr>
        <p:spPr bwMode="auto">
          <a:xfrm>
            <a:off x="3084022" y="4838006"/>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err="1">
                <a:solidFill>
                  <a:schemeClr val="tx1"/>
                </a:solidFill>
              </a:rPr>
              <a:t>Shubhangi</a:t>
            </a:r>
            <a:r>
              <a:rPr lang="en-US" sz="1000" cap="small" dirty="0">
                <a:solidFill>
                  <a:schemeClr val="tx1"/>
                </a:solidFill>
              </a:rPr>
              <a:t> Kale</a:t>
            </a:r>
          </a:p>
        </p:txBody>
      </p:sp>
      <p:sp>
        <p:nvSpPr>
          <p:cNvPr id="44" name="Rectangle 43"/>
          <p:cNvSpPr/>
          <p:nvPr/>
        </p:nvSpPr>
        <p:spPr bwMode="auto">
          <a:xfrm>
            <a:off x="-1" y="4838006"/>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 &amp; Technology </a:t>
            </a:r>
          </a:p>
        </p:txBody>
      </p:sp>
      <p:pic>
        <p:nvPicPr>
          <p:cNvPr id="45" name="image1.png" title="Image">
            <a:extLst>
              <a:ext uri="{FF2B5EF4-FFF2-40B4-BE49-F238E27FC236}">
                <a16:creationId xmlns="" xmlns:a16="http://schemas.microsoft.com/office/drawing/2014/main" id="{0981276C-D129-4D2B-81B9-F0E4FBB8E03C}"/>
              </a:ext>
            </a:extLst>
          </p:cNvPr>
          <p:cNvPicPr/>
          <p:nvPr/>
        </p:nvPicPr>
        <p:blipFill>
          <a:blip r:embed="rId2" cstate="print"/>
          <a:stretch>
            <a:fillRect/>
          </a:stretch>
        </p:blipFill>
        <p:spPr>
          <a:xfrm>
            <a:off x="1" y="-42948"/>
            <a:ext cx="3084022" cy="308956"/>
          </a:xfrm>
          <a:prstGeom prst="rect">
            <a:avLst/>
          </a:prstGeom>
          <a:noFill/>
        </p:spPr>
      </p:pic>
      <p:sp>
        <p:nvSpPr>
          <p:cNvPr id="5" name="Rectangle 4">
            <a:extLst>
              <a:ext uri="{FF2B5EF4-FFF2-40B4-BE49-F238E27FC236}">
                <a16:creationId xmlns="" xmlns:a16="http://schemas.microsoft.com/office/drawing/2014/main" id="{DBB5DF60-A36B-9542-1227-F3C8D57255B4}"/>
              </a:ext>
            </a:extLst>
          </p:cNvPr>
          <p:cNvSpPr/>
          <p:nvPr/>
        </p:nvSpPr>
        <p:spPr bwMode="auto">
          <a:xfrm>
            <a:off x="5854470" y="4834460"/>
            <a:ext cx="3307255" cy="305494"/>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fontAlgn="auto">
              <a:spcBef>
                <a:spcPts val="0"/>
              </a:spcBef>
              <a:spcAft>
                <a:spcPts val="0"/>
              </a:spcAft>
              <a:defRPr/>
            </a:pPr>
            <a:endParaRPr lang="en-US" sz="1000" b="1" cap="small" dirty="0">
              <a:solidFill>
                <a:schemeClr val="tx1"/>
              </a:solidFill>
            </a:endParaRPr>
          </a:p>
        </p:txBody>
      </p:sp>
      <p:sp>
        <p:nvSpPr>
          <p:cNvPr id="6" name="Rectangle 5">
            <a:extLst>
              <a:ext uri="{FF2B5EF4-FFF2-40B4-BE49-F238E27FC236}">
                <a16:creationId xmlns="" xmlns:a16="http://schemas.microsoft.com/office/drawing/2014/main" id="{CEA9B9A5-F40A-EF8C-D8BC-89D45C9AC786}"/>
              </a:ext>
            </a:extLst>
          </p:cNvPr>
          <p:cNvSpPr/>
          <p:nvPr/>
        </p:nvSpPr>
        <p:spPr bwMode="auto">
          <a:xfrm>
            <a:off x="3101748" y="4834461"/>
            <a:ext cx="2752724" cy="305494"/>
          </a:xfrm>
          <a:prstGeom prst="rect">
            <a:avLst/>
          </a:prstGeom>
          <a:solidFill>
            <a:srgbClr val="CCECFF"/>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cap="small" dirty="0">
                <a:solidFill>
                  <a:schemeClr val="tx1"/>
                </a:solidFill>
              </a:rPr>
              <a:t>Team -- EDS</a:t>
            </a:r>
          </a:p>
        </p:txBody>
      </p:sp>
      <p:sp>
        <p:nvSpPr>
          <p:cNvPr id="7" name="Rectangle 6">
            <a:extLst>
              <a:ext uri="{FF2B5EF4-FFF2-40B4-BE49-F238E27FC236}">
                <a16:creationId xmlns="" xmlns:a16="http://schemas.microsoft.com/office/drawing/2014/main" id="{AEDC085E-41C0-DBEC-1AD3-377D6C7B5070}"/>
              </a:ext>
            </a:extLst>
          </p:cNvPr>
          <p:cNvSpPr/>
          <p:nvPr/>
        </p:nvSpPr>
        <p:spPr bwMode="auto">
          <a:xfrm>
            <a:off x="17725" y="4834461"/>
            <a:ext cx="3142211" cy="305493"/>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000" b="1" cap="small" dirty="0">
                <a:solidFill>
                  <a:schemeClr val="tx1"/>
                </a:solidFill>
              </a:rPr>
              <a:t>School of Computer Engineering</a:t>
            </a:r>
          </a:p>
        </p:txBody>
      </p:sp>
      <p:sp>
        <p:nvSpPr>
          <p:cNvPr id="8" name="Rectangle 7"/>
          <p:cNvSpPr/>
          <p:nvPr/>
        </p:nvSpPr>
        <p:spPr>
          <a:xfrm>
            <a:off x="17725" y="1453929"/>
            <a:ext cx="4572000" cy="523220"/>
          </a:xfrm>
          <a:prstGeom prst="rect">
            <a:avLst/>
          </a:prstGeom>
        </p:spPr>
        <p:txBody>
          <a:bodyPr>
            <a:spAutoFit/>
          </a:bodyPr>
          <a:lstStyle/>
          <a:p>
            <a:r>
              <a:rPr lang="en-US" smtClean="0"/>
              <a:t># selecting range of rows from 2 to 5</a:t>
            </a:r>
          </a:p>
          <a:p>
            <a:r>
              <a:rPr lang="en-US" smtClean="0"/>
              <a:t>display(data.loc[2: 5])</a:t>
            </a:r>
            <a:endParaRPr lang="en-US" dirty="0"/>
          </a:p>
        </p:txBody>
      </p:sp>
      <p:sp>
        <p:nvSpPr>
          <p:cNvPr id="9" name="Rectangle 8"/>
          <p:cNvSpPr/>
          <p:nvPr/>
        </p:nvSpPr>
        <p:spPr>
          <a:xfrm>
            <a:off x="17725" y="2179130"/>
            <a:ext cx="4572000" cy="738664"/>
          </a:xfrm>
          <a:prstGeom prst="rect">
            <a:avLst/>
          </a:prstGeom>
        </p:spPr>
        <p:txBody>
          <a:bodyPr>
            <a:spAutoFit/>
          </a:bodyPr>
          <a:lstStyle/>
          <a:p>
            <a:r>
              <a:rPr lang="en-US" dirty="0"/>
              <a:t># updating values of Mileage if Year &lt; 2015</a:t>
            </a:r>
          </a:p>
          <a:p>
            <a:r>
              <a:rPr lang="en-US" dirty="0" err="1"/>
              <a:t>data.loc</a:t>
            </a:r>
            <a:r>
              <a:rPr lang="en-US" dirty="0"/>
              <a:t>[(</a:t>
            </a:r>
            <a:r>
              <a:rPr lang="en-US" dirty="0" err="1"/>
              <a:t>data.Year</a:t>
            </a:r>
            <a:r>
              <a:rPr lang="en-US" dirty="0"/>
              <a:t> &lt; 2015), ['Mileage']] = 22</a:t>
            </a:r>
          </a:p>
          <a:p>
            <a:r>
              <a:rPr lang="en-US" dirty="0"/>
              <a:t>display(data)</a:t>
            </a:r>
          </a:p>
        </p:txBody>
      </p:sp>
      <p:sp>
        <p:nvSpPr>
          <p:cNvPr id="10" name="Rectangle 9"/>
          <p:cNvSpPr/>
          <p:nvPr/>
        </p:nvSpPr>
        <p:spPr>
          <a:xfrm>
            <a:off x="0" y="3141147"/>
            <a:ext cx="4572000" cy="523220"/>
          </a:xfrm>
          <a:prstGeom prst="rect">
            <a:avLst/>
          </a:prstGeom>
        </p:spPr>
        <p:txBody>
          <a:bodyPr>
            <a:spAutoFit/>
          </a:bodyPr>
          <a:lstStyle/>
          <a:p>
            <a:r>
              <a:rPr lang="en-US" dirty="0"/>
              <a:t># selecting 0th, 2nd, 4th, and 7th index rows</a:t>
            </a:r>
          </a:p>
          <a:p>
            <a:r>
              <a:rPr lang="en-US" dirty="0"/>
              <a:t>display(</a:t>
            </a:r>
            <a:r>
              <a:rPr lang="en-US" dirty="0" err="1"/>
              <a:t>data.iloc</a:t>
            </a:r>
            <a:r>
              <a:rPr lang="en-US" dirty="0"/>
              <a:t>[[0, 2, 4, 7]])</a:t>
            </a:r>
          </a:p>
        </p:txBody>
      </p:sp>
      <p:sp>
        <p:nvSpPr>
          <p:cNvPr id="11" name="Rectangle 10"/>
          <p:cNvSpPr/>
          <p:nvPr/>
        </p:nvSpPr>
        <p:spPr>
          <a:xfrm>
            <a:off x="17725" y="4047859"/>
            <a:ext cx="4572000" cy="523220"/>
          </a:xfrm>
          <a:prstGeom prst="rect">
            <a:avLst/>
          </a:prstGeom>
        </p:spPr>
        <p:txBody>
          <a:bodyPr>
            <a:spAutoFit/>
          </a:bodyPr>
          <a:lstStyle/>
          <a:p>
            <a:r>
              <a:rPr lang="en-US" dirty="0"/>
              <a:t># selecting rows from 1 to 4 and columns from 2 to 4</a:t>
            </a:r>
          </a:p>
          <a:p>
            <a:r>
              <a:rPr lang="en-US" dirty="0"/>
              <a:t>display(</a:t>
            </a:r>
            <a:r>
              <a:rPr lang="en-US" dirty="0" err="1"/>
              <a:t>data.iloc</a:t>
            </a:r>
            <a:r>
              <a:rPr lang="en-US" dirty="0"/>
              <a:t>[1: 5, 2: 5])</a:t>
            </a:r>
          </a:p>
        </p:txBody>
      </p:sp>
      <p:sp>
        <p:nvSpPr>
          <p:cNvPr id="13" name="Rectangle 12"/>
          <p:cNvSpPr/>
          <p:nvPr/>
        </p:nvSpPr>
        <p:spPr>
          <a:xfrm>
            <a:off x="17725" y="713493"/>
            <a:ext cx="7081344" cy="523220"/>
          </a:xfrm>
          <a:prstGeom prst="rect">
            <a:avLst/>
          </a:prstGeom>
        </p:spPr>
        <p:txBody>
          <a:bodyPr wrap="square">
            <a:spAutoFit/>
          </a:bodyPr>
          <a:lstStyle/>
          <a:p>
            <a:r>
              <a:rPr lang="en-US" dirty="0"/>
              <a:t># selecting cars with brand '</a:t>
            </a:r>
            <a:r>
              <a:rPr lang="en-US" dirty="0" err="1"/>
              <a:t>Maruti</a:t>
            </a:r>
            <a:r>
              <a:rPr lang="en-US" dirty="0"/>
              <a:t>' and Mileage &gt; 25</a:t>
            </a:r>
          </a:p>
          <a:p>
            <a:r>
              <a:rPr lang="en-US" dirty="0"/>
              <a:t>display(</a:t>
            </a:r>
            <a:r>
              <a:rPr lang="en-US" dirty="0" err="1"/>
              <a:t>data.loc</a:t>
            </a:r>
            <a:r>
              <a:rPr lang="en-US" dirty="0"/>
              <a:t>[(</a:t>
            </a:r>
            <a:r>
              <a:rPr lang="en-US" dirty="0" err="1"/>
              <a:t>data.Brand</a:t>
            </a:r>
            <a:r>
              <a:rPr lang="en-US" dirty="0"/>
              <a:t> == '</a:t>
            </a:r>
            <a:r>
              <a:rPr lang="en-US" dirty="0" err="1"/>
              <a:t>Maruti</a:t>
            </a:r>
            <a:r>
              <a:rPr lang="en-US" dirty="0"/>
              <a:t>') &amp; (</a:t>
            </a:r>
            <a:r>
              <a:rPr lang="en-US" dirty="0" err="1"/>
              <a:t>data.Mileage</a:t>
            </a:r>
            <a:r>
              <a:rPr lang="en-US" dirty="0"/>
              <a:t> &gt; 25)])</a:t>
            </a:r>
          </a:p>
        </p:txBody>
      </p:sp>
    </p:spTree>
    <p:extLst>
      <p:ext uri="{BB962C8B-B14F-4D97-AF65-F5344CB8AC3E}">
        <p14:creationId xmlns:p14="http://schemas.microsoft.com/office/powerpoint/2010/main" val="1471254490"/>
      </p:ext>
    </p:extLst>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1724</TotalTime>
  <Words>7030</Words>
  <Application>Microsoft Office PowerPoint</Application>
  <PresentationFormat>On-screen Show (16:9)</PresentationFormat>
  <Paragraphs>1247</Paragraphs>
  <Slides>70</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70</vt:i4>
      </vt:variant>
    </vt:vector>
  </HeadingPairs>
  <TitlesOfParts>
    <vt:vector size="80" baseType="lpstr">
      <vt:lpstr>Times New Roman</vt:lpstr>
      <vt:lpstr>Economica</vt:lpstr>
      <vt:lpstr>Arial</vt:lpstr>
      <vt:lpstr>Consolas</vt:lpstr>
      <vt:lpstr>Open Sans</vt:lpstr>
      <vt:lpstr>Söhne</vt:lpstr>
      <vt:lpstr>Courier New</vt:lpstr>
      <vt:lpstr>Calibri</vt:lpstr>
      <vt:lpstr>Söhne Mono</vt:lpstr>
      <vt:lpstr>Luxe</vt:lpstr>
      <vt:lpstr>  Unit IV Data Manipulations By Team – Essentials of Data Science School of Computer Engineering, MIT Academy of Engineering, Alandi(D.)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Wangikar</dc:creator>
  <cp:lastModifiedBy>student</cp:lastModifiedBy>
  <cp:revision>137</cp:revision>
  <dcterms:modified xsi:type="dcterms:W3CDTF">2023-06-15T08:06:03Z</dcterms:modified>
</cp:coreProperties>
</file>