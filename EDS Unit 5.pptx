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7"/>
  </p:notesMasterIdLst>
  <p:sldIdLst>
    <p:sldId id="257" r:id="rId2"/>
    <p:sldId id="467" r:id="rId3"/>
    <p:sldId id="476" r:id="rId4"/>
    <p:sldId id="475" r:id="rId5"/>
    <p:sldId id="473" r:id="rId6"/>
    <p:sldId id="477" r:id="rId7"/>
    <p:sldId id="478" r:id="rId8"/>
    <p:sldId id="479" r:id="rId9"/>
    <p:sldId id="463" r:id="rId10"/>
    <p:sldId id="480" r:id="rId11"/>
    <p:sldId id="484" r:id="rId12"/>
    <p:sldId id="481" r:id="rId13"/>
    <p:sldId id="482" r:id="rId14"/>
    <p:sldId id="483" r:id="rId15"/>
    <p:sldId id="464" r:id="rId16"/>
    <p:sldId id="485" r:id="rId17"/>
    <p:sldId id="491" r:id="rId18"/>
    <p:sldId id="486" r:id="rId19"/>
    <p:sldId id="487" r:id="rId20"/>
    <p:sldId id="465" r:id="rId21"/>
    <p:sldId id="489" r:id="rId22"/>
    <p:sldId id="488" r:id="rId23"/>
    <p:sldId id="466" r:id="rId24"/>
    <p:sldId id="492" r:id="rId25"/>
    <p:sldId id="493" r:id="rId26"/>
    <p:sldId id="468" r:id="rId27"/>
    <p:sldId id="494" r:id="rId28"/>
    <p:sldId id="495" r:id="rId29"/>
    <p:sldId id="469" r:id="rId30"/>
    <p:sldId id="496" r:id="rId31"/>
    <p:sldId id="497" r:id="rId32"/>
    <p:sldId id="470" r:id="rId33"/>
    <p:sldId id="498" r:id="rId34"/>
    <p:sldId id="471" r:id="rId35"/>
    <p:sldId id="499" r:id="rId36"/>
    <p:sldId id="500" r:id="rId37"/>
    <p:sldId id="501" r:id="rId38"/>
    <p:sldId id="472" r:id="rId39"/>
    <p:sldId id="502" r:id="rId40"/>
    <p:sldId id="503" r:id="rId41"/>
    <p:sldId id="504" r:id="rId42"/>
    <p:sldId id="505" r:id="rId43"/>
    <p:sldId id="506" r:id="rId44"/>
    <p:sldId id="508" r:id="rId45"/>
    <p:sldId id="507" r:id="rId46"/>
  </p:sldIdLst>
  <p:sldSz cx="9144000" cy="5143500" type="screen16x9"/>
  <p:notesSz cx="6858000" cy="9144000"/>
  <p:embeddedFontLst>
    <p:embeddedFont>
      <p:font typeface="Open Sans" panose="020B0604020202020204" charset="0"/>
      <p:regular r:id="rId48"/>
      <p:bold r:id="rId49"/>
      <p:italic r:id="rId50"/>
      <p:boldItalic r:id="rId51"/>
    </p:embeddedFont>
    <p:embeddedFont>
      <p:font typeface="Economica" panose="020B060402020202020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011395-BAA1-40A3-ABEA-0E591074688D}">
  <a:tblStyle styleId="{B2011395-BAA1-40A3-ABEA-0E59107468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660"/>
  </p:normalViewPr>
  <p:slideViewPr>
    <p:cSldViewPr snapToGrid="0">
      <p:cViewPr varScale="1">
        <p:scale>
          <a:sx n="115" d="100"/>
          <a:sy n="115" d="100"/>
        </p:scale>
        <p:origin x="702"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89320992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dcf12051dc_0_4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dcf12051dc_0_4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0572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47E00FE5-2F44-4954-9A16-64FE40E650AB}" type="slidenum">
              <a:rPr lang="en-US" smtClean="0"/>
              <a:pPr/>
              <a:t>‹#›</a:t>
            </a:fld>
            <a:endParaRPr lang="en-US"/>
          </a:p>
        </p:txBody>
      </p:sp>
    </p:spTree>
    <p:extLst>
      <p:ext uri="{BB962C8B-B14F-4D97-AF65-F5344CB8AC3E}">
        <p14:creationId xmlns:p14="http://schemas.microsoft.com/office/powerpoint/2010/main" val="3732836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bg1">
            <a:lumMod val="95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6" r:id="rId6"/>
    <p:sldLayoutId id="2147483657" r:id="rId7"/>
    <p:sldLayoutId id="2147483661" r:id="rId8"/>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hyperlink" Target="https://www.simplilearn.com/exploratory-data-analysis-article" TargetMode="External"/><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hyperlink" Target="https://cdn.analyticsvidhya.com/wp-content/uploads/2020/03/Screenshot-from-2020-03-06-18-22-42.png" TargetMode="External"/><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a:off x="667168" y="767762"/>
            <a:ext cx="7596600" cy="1530600"/>
          </a:xfrm>
          <a:prstGeom prst="rect">
            <a:avLst/>
          </a:prstGeom>
        </p:spPr>
        <p:txBody>
          <a:bodyPr spcFirstLastPara="1" wrap="square" lIns="91425" tIns="91425" rIns="91425" bIns="91425" anchor="ctr" anchorCtr="0">
            <a:noAutofit/>
          </a:bodyPr>
          <a:lstStyle/>
          <a:p>
            <a:pPr marL="0" lvl="0" indent="0" algn="ctr" rtl="0">
              <a:lnSpc>
                <a:spcPct val="150000"/>
              </a:lnSpc>
              <a:spcBef>
                <a:spcPts val="0"/>
              </a:spcBef>
              <a:spcAft>
                <a:spcPts val="0"/>
              </a:spcAft>
              <a:buNone/>
            </a:pPr>
            <a:r>
              <a:rPr lang="en-US" sz="3700" b="1" dirty="0"/>
              <a:t/>
            </a:r>
            <a:br>
              <a:rPr lang="en-US" sz="3700" b="1" dirty="0"/>
            </a:br>
            <a:r>
              <a:rPr lang="en-US" sz="3700" b="1" dirty="0"/>
              <a:t/>
            </a:r>
            <a:br>
              <a:rPr lang="en-US" sz="3700" b="1" dirty="0"/>
            </a:br>
            <a:r>
              <a:rPr lang="en-US" sz="4400" b="1" dirty="0"/>
              <a:t>Unit </a:t>
            </a:r>
            <a:r>
              <a:rPr lang="en-US" sz="4400" b="1" dirty="0" smtClean="0"/>
              <a:t>V</a:t>
            </a:r>
            <a:r>
              <a:rPr lang="en-US" sz="4400" b="1" dirty="0"/>
              <a:t/>
            </a:r>
            <a:br>
              <a:rPr lang="en-US" sz="4400" b="1" dirty="0"/>
            </a:br>
            <a:r>
              <a:rPr lang="en-US" sz="4400" b="1" smtClean="0"/>
              <a:t>Data Visualizations</a:t>
            </a:r>
            <a:r>
              <a:rPr lang="en-US" sz="4400" b="1" dirty="0"/>
              <a:t/>
            </a:r>
            <a:br>
              <a:rPr lang="en-US" sz="4400" b="1" dirty="0"/>
            </a:br>
            <a:r>
              <a:rPr lang="en-US" sz="3000" dirty="0"/>
              <a:t>By</a:t>
            </a:r>
            <a:br>
              <a:rPr lang="en-US" sz="3000" dirty="0"/>
            </a:br>
            <a:r>
              <a:rPr lang="en-US" sz="3000" dirty="0"/>
              <a:t>Team – Essentials of Data Science</a:t>
            </a:r>
            <a:endParaRPr sz="3000" dirty="0"/>
          </a:p>
          <a:p>
            <a:pPr marL="0" lvl="0" indent="0" algn="ctr" rtl="0">
              <a:lnSpc>
                <a:spcPct val="100000"/>
              </a:lnSpc>
              <a:spcBef>
                <a:spcPts val="1600"/>
              </a:spcBef>
              <a:spcAft>
                <a:spcPts val="1600"/>
              </a:spcAft>
              <a:buNone/>
            </a:pPr>
            <a:r>
              <a:rPr lang="en" sz="3000" dirty="0"/>
              <a:t>School of Computer Engineering,</a:t>
            </a:r>
            <a:br>
              <a:rPr lang="en" sz="3000" dirty="0"/>
            </a:br>
            <a:r>
              <a:rPr lang="en" sz="3000" dirty="0"/>
              <a:t>MIT Academy of Engineering, Alandi(D.) </a:t>
            </a:r>
            <a:endParaRPr sz="2700" dirty="0"/>
          </a:p>
        </p:txBody>
      </p:sp>
      <p:sp>
        <p:nvSpPr>
          <p:cNvPr id="10" name="Rectangle 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11" name="Rectangle 10"/>
          <p:cNvSpPr/>
          <p:nvPr/>
        </p:nvSpPr>
        <p:spPr bwMode="auto">
          <a:xfrm>
            <a:off x="5836746" y="0"/>
            <a:ext cx="3307253" cy="26600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12" name="Rectangle 11"/>
          <p:cNvSpPr/>
          <p:nvPr/>
        </p:nvSpPr>
        <p:spPr bwMode="auto">
          <a:xfrm>
            <a:off x="5836744" y="4838005"/>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1000" b="1" cap="small" dirty="0">
                <a:solidFill>
                  <a:schemeClr val="tx1"/>
                </a:solidFill>
              </a:rPr>
              <a:t>1</a:t>
            </a:r>
          </a:p>
        </p:txBody>
      </p:sp>
      <p:sp>
        <p:nvSpPr>
          <p:cNvPr id="13" name="Rectangle 1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14" name="Rectangle 1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pic>
        <p:nvPicPr>
          <p:cNvPr id="15" name="image1.png" title="Image">
            <a:extLst>
              <a:ext uri="{FF2B5EF4-FFF2-40B4-BE49-F238E27FC236}">
                <a16:creationId xmlns="" xmlns:a16="http://schemas.microsoft.com/office/drawing/2014/main" id="{0981276C-D129-4D2B-81B9-F0E4FBB8E03C}"/>
              </a:ext>
            </a:extLst>
          </p:cNvPr>
          <p:cNvPicPr/>
          <p:nvPr/>
        </p:nvPicPr>
        <p:blipFill>
          <a:blip r:embed="rId3" cstate="print"/>
          <a:stretch>
            <a:fillRect/>
          </a:stretch>
        </p:blipFill>
        <p:spPr>
          <a:xfrm>
            <a:off x="29093" y="0"/>
            <a:ext cx="3084022" cy="308956"/>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Population and Samples </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188191" y="909359"/>
            <a:ext cx="8261751" cy="1384995"/>
          </a:xfrm>
          <a:prstGeom prst="rect">
            <a:avLst/>
          </a:prstGeom>
        </p:spPr>
        <p:txBody>
          <a:bodyPr wrap="square">
            <a:spAutoFit/>
          </a:bodyPr>
          <a:lstStyle/>
          <a:p>
            <a:r>
              <a:rPr lang="en-US" dirty="0">
                <a:solidFill>
                  <a:srgbClr val="272C37"/>
                </a:solidFill>
                <a:latin typeface="Roboto"/>
              </a:rPr>
              <a:t>What is Population?</a:t>
            </a:r>
          </a:p>
          <a:p>
            <a:r>
              <a:rPr lang="en-US" dirty="0">
                <a:solidFill>
                  <a:srgbClr val="51565E"/>
                </a:solidFill>
                <a:latin typeface="Roboto"/>
              </a:rPr>
              <a:t>In statistics, population is the entire set of items from which you draw data for a statistical study. It can be a group of individuals, a set of items, etc. It makes up the data pool for a study.</a:t>
            </a:r>
          </a:p>
          <a:p>
            <a:r>
              <a:rPr lang="en-US" dirty="0">
                <a:solidFill>
                  <a:srgbClr val="51565E"/>
                </a:solidFill>
                <a:latin typeface="Roboto"/>
              </a:rPr>
              <a:t>Generally, population refers to the people who live in a particular area at a specific time. But in statistics, population refers to data on your study of interest. It can be a group of individuals, objects, events, organizations, etc. You use populations to draw conclusions.</a:t>
            </a:r>
          </a:p>
        </p:txBody>
      </p:sp>
      <p:sp>
        <p:nvSpPr>
          <p:cNvPr id="3" name="Rectangle 2"/>
          <p:cNvSpPr/>
          <p:nvPr/>
        </p:nvSpPr>
        <p:spPr>
          <a:xfrm>
            <a:off x="188191" y="2548744"/>
            <a:ext cx="8606674" cy="1169551"/>
          </a:xfrm>
          <a:prstGeom prst="rect">
            <a:avLst/>
          </a:prstGeom>
        </p:spPr>
        <p:txBody>
          <a:bodyPr wrap="square">
            <a:spAutoFit/>
          </a:bodyPr>
          <a:lstStyle/>
          <a:p>
            <a:r>
              <a:rPr lang="en-US" dirty="0">
                <a:solidFill>
                  <a:srgbClr val="272C37"/>
                </a:solidFill>
                <a:latin typeface="Roboto"/>
              </a:rPr>
              <a:t>What is a Sample?</a:t>
            </a:r>
          </a:p>
          <a:p>
            <a:r>
              <a:rPr lang="en-US" dirty="0">
                <a:solidFill>
                  <a:srgbClr val="51565E"/>
                </a:solidFill>
                <a:latin typeface="Roboto"/>
              </a:rPr>
              <a:t>A sample is defined as a smaller and more manageable representation of a larger group. A subset of a larger population that contains characteristics of that population. A sample is used in statistical testing when the population size is too large for all members or observations to be included in the test.</a:t>
            </a:r>
          </a:p>
          <a:p>
            <a:r>
              <a:rPr lang="en-US" dirty="0">
                <a:solidFill>
                  <a:srgbClr val="51565E"/>
                </a:solidFill>
                <a:latin typeface="Roboto"/>
              </a:rPr>
              <a:t>The sample is an unbiased subset of the population that best represents the whole data.</a:t>
            </a:r>
          </a:p>
        </p:txBody>
      </p:sp>
    </p:spTree>
    <p:extLst>
      <p:ext uri="{BB962C8B-B14F-4D97-AF65-F5344CB8AC3E}">
        <p14:creationId xmlns:p14="http://schemas.microsoft.com/office/powerpoint/2010/main" val="420295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Population and Samples </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pic>
        <p:nvPicPr>
          <p:cNvPr id="4" name="Picture 3"/>
          <p:cNvPicPr>
            <a:picLocks noChangeAspect="1"/>
          </p:cNvPicPr>
          <p:nvPr/>
        </p:nvPicPr>
        <p:blipFill>
          <a:blip r:embed="rId3"/>
          <a:stretch>
            <a:fillRect/>
          </a:stretch>
        </p:blipFill>
        <p:spPr>
          <a:xfrm>
            <a:off x="885825" y="1047750"/>
            <a:ext cx="7372350" cy="3048000"/>
          </a:xfrm>
          <a:prstGeom prst="rect">
            <a:avLst/>
          </a:prstGeom>
        </p:spPr>
      </p:pic>
    </p:spTree>
    <p:extLst>
      <p:ext uri="{BB962C8B-B14F-4D97-AF65-F5344CB8AC3E}">
        <p14:creationId xmlns:p14="http://schemas.microsoft.com/office/powerpoint/2010/main" val="3517037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Population and Samples </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3"/>
          <p:cNvSpPr/>
          <p:nvPr/>
        </p:nvSpPr>
        <p:spPr>
          <a:xfrm>
            <a:off x="157942" y="955527"/>
            <a:ext cx="8271163" cy="3416320"/>
          </a:xfrm>
          <a:prstGeom prst="rect">
            <a:avLst/>
          </a:prstGeom>
        </p:spPr>
        <p:txBody>
          <a:bodyPr wrap="square">
            <a:spAutoFit/>
          </a:bodyPr>
          <a:lstStyle/>
          <a:p>
            <a:r>
              <a:rPr lang="en-US" sz="1800" dirty="0">
                <a:solidFill>
                  <a:srgbClr val="272C37"/>
                </a:solidFill>
                <a:latin typeface="Roboto"/>
              </a:rPr>
              <a:t>Samples are used when :</a:t>
            </a:r>
          </a:p>
          <a:p>
            <a:pPr>
              <a:buFont typeface="Arial" panose="020B0604020202020204" pitchFamily="34" charset="0"/>
              <a:buChar char="•"/>
            </a:pPr>
            <a:r>
              <a:rPr lang="en-US" sz="1800" dirty="0">
                <a:solidFill>
                  <a:srgbClr val="51565E"/>
                </a:solidFill>
                <a:latin typeface="Roboto"/>
              </a:rPr>
              <a:t>The population is too large to collect data.</a:t>
            </a:r>
          </a:p>
          <a:p>
            <a:pPr>
              <a:buFont typeface="Arial" panose="020B0604020202020204" pitchFamily="34" charset="0"/>
              <a:buChar char="•"/>
            </a:pPr>
            <a:r>
              <a:rPr lang="en-US" sz="1800" dirty="0">
                <a:solidFill>
                  <a:srgbClr val="51565E"/>
                </a:solidFill>
                <a:latin typeface="Roboto"/>
              </a:rPr>
              <a:t>The data collected is not reliable.</a:t>
            </a:r>
          </a:p>
          <a:p>
            <a:pPr>
              <a:buFont typeface="Arial" panose="020B0604020202020204" pitchFamily="34" charset="0"/>
              <a:buChar char="•"/>
            </a:pPr>
            <a:r>
              <a:rPr lang="en-US" sz="1800" dirty="0">
                <a:solidFill>
                  <a:srgbClr val="51565E"/>
                </a:solidFill>
                <a:latin typeface="Roboto"/>
              </a:rPr>
              <a:t>The population is hypothetical and is unlimited in size. Take the example of a study that documents the results of a new medical procedure. It is unknown how the procedure will affect people across the globe, so a test group is used to find out how people react to it.</a:t>
            </a:r>
          </a:p>
          <a:p>
            <a:r>
              <a:rPr lang="en-US" sz="1800" dirty="0">
                <a:solidFill>
                  <a:srgbClr val="272C37"/>
                </a:solidFill>
                <a:latin typeface="Roboto"/>
              </a:rPr>
              <a:t>A sample should generally :</a:t>
            </a:r>
          </a:p>
          <a:p>
            <a:pPr>
              <a:buFont typeface="Arial" panose="020B0604020202020204" pitchFamily="34" charset="0"/>
              <a:buChar char="•"/>
            </a:pPr>
            <a:r>
              <a:rPr lang="en-US" sz="1800" dirty="0">
                <a:solidFill>
                  <a:srgbClr val="51565E"/>
                </a:solidFill>
                <a:latin typeface="Roboto"/>
              </a:rPr>
              <a:t>Satisfy all different variations present in the population as well as a well-defined selection criterion.</a:t>
            </a:r>
          </a:p>
          <a:p>
            <a:pPr>
              <a:buFont typeface="Arial" panose="020B0604020202020204" pitchFamily="34" charset="0"/>
              <a:buChar char="•"/>
            </a:pPr>
            <a:r>
              <a:rPr lang="en-US" sz="1800" dirty="0">
                <a:solidFill>
                  <a:srgbClr val="51565E"/>
                </a:solidFill>
                <a:latin typeface="Roboto"/>
              </a:rPr>
              <a:t>Be utterly unbiased on the properties of the objects being selected.</a:t>
            </a:r>
          </a:p>
          <a:p>
            <a:pPr>
              <a:buFont typeface="Arial" panose="020B0604020202020204" pitchFamily="34" charset="0"/>
              <a:buChar char="•"/>
            </a:pPr>
            <a:r>
              <a:rPr lang="en-US" sz="1800" dirty="0">
                <a:solidFill>
                  <a:srgbClr val="51565E"/>
                </a:solidFill>
                <a:latin typeface="Roboto"/>
              </a:rPr>
              <a:t>Be random to choose the objects of study fairly.</a:t>
            </a:r>
          </a:p>
        </p:txBody>
      </p:sp>
    </p:spTree>
    <p:extLst>
      <p:ext uri="{BB962C8B-B14F-4D97-AF65-F5344CB8AC3E}">
        <p14:creationId xmlns:p14="http://schemas.microsoft.com/office/powerpoint/2010/main" val="20533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Statistical </a:t>
            </a:r>
            <a:r>
              <a:rPr lang="en-US" sz="3200" dirty="0"/>
              <a:t>Analysis of </a:t>
            </a:r>
            <a:r>
              <a:rPr lang="en-US" sz="3200" dirty="0" smtClean="0"/>
              <a:t>Data</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250480" y="825052"/>
            <a:ext cx="8911245" cy="1754326"/>
          </a:xfrm>
          <a:prstGeom prst="rect">
            <a:avLst/>
          </a:prstGeom>
        </p:spPr>
        <p:txBody>
          <a:bodyPr wrap="square">
            <a:spAutoFit/>
          </a:bodyPr>
          <a:lstStyle/>
          <a:p>
            <a:pPr marL="285750" indent="-285750">
              <a:buFont typeface="Arial" panose="020B0604020202020204" pitchFamily="34" charset="0"/>
              <a:buChar char="•"/>
            </a:pPr>
            <a:r>
              <a:rPr lang="en-US" sz="1800" dirty="0">
                <a:solidFill>
                  <a:srgbClr val="51565E"/>
                </a:solidFill>
                <a:latin typeface="Roboto"/>
              </a:rPr>
              <a:t>Statistical analysis is the process of collecting and analyzing data in order to discern patterns and trends. </a:t>
            </a:r>
            <a:endParaRPr lang="en-US" sz="1800" dirty="0" smtClean="0">
              <a:solidFill>
                <a:srgbClr val="51565E"/>
              </a:solidFill>
              <a:latin typeface="Roboto"/>
            </a:endParaRPr>
          </a:p>
          <a:p>
            <a:pPr marL="285750" indent="-285750">
              <a:buFont typeface="Arial" panose="020B0604020202020204" pitchFamily="34" charset="0"/>
              <a:buChar char="•"/>
            </a:pPr>
            <a:r>
              <a:rPr lang="en-US" sz="1800" dirty="0" smtClean="0">
                <a:solidFill>
                  <a:srgbClr val="51565E"/>
                </a:solidFill>
                <a:latin typeface="Roboto"/>
              </a:rPr>
              <a:t>It </a:t>
            </a:r>
            <a:r>
              <a:rPr lang="en-US" sz="1800" dirty="0">
                <a:solidFill>
                  <a:srgbClr val="51565E"/>
                </a:solidFill>
                <a:latin typeface="Roboto"/>
              </a:rPr>
              <a:t>is a method for removing bias from evaluating data by employing numerical analysis. </a:t>
            </a:r>
            <a:endParaRPr lang="en-US" sz="1800" dirty="0" smtClean="0">
              <a:solidFill>
                <a:srgbClr val="51565E"/>
              </a:solidFill>
              <a:latin typeface="Roboto"/>
            </a:endParaRPr>
          </a:p>
          <a:p>
            <a:pPr marL="285750" indent="-285750">
              <a:buFont typeface="Arial" panose="020B0604020202020204" pitchFamily="34" charset="0"/>
              <a:buChar char="•"/>
            </a:pPr>
            <a:r>
              <a:rPr lang="en-US" sz="1800" dirty="0" smtClean="0">
                <a:solidFill>
                  <a:srgbClr val="51565E"/>
                </a:solidFill>
                <a:latin typeface="Roboto"/>
              </a:rPr>
              <a:t>This </a:t>
            </a:r>
            <a:r>
              <a:rPr lang="en-US" sz="1800" dirty="0">
                <a:solidFill>
                  <a:srgbClr val="51565E"/>
                </a:solidFill>
                <a:latin typeface="Roboto"/>
              </a:rPr>
              <a:t>technique is useful for collecting the interpretations of research, developing statistical models, and planning surveys and studies.</a:t>
            </a:r>
            <a:endParaRPr lang="en-US" sz="1800" dirty="0"/>
          </a:p>
        </p:txBody>
      </p:sp>
    </p:spTree>
    <p:extLst>
      <p:ext uri="{BB962C8B-B14F-4D97-AF65-F5344CB8AC3E}">
        <p14:creationId xmlns:p14="http://schemas.microsoft.com/office/powerpoint/2010/main" val="2325724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Type of Statistical </a:t>
            </a:r>
            <a:r>
              <a:rPr lang="en-US" sz="3200" dirty="0"/>
              <a:t>Analysis of </a:t>
            </a:r>
            <a:r>
              <a:rPr lang="en-US" sz="3200" dirty="0" smtClean="0"/>
              <a:t>Data</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2"/>
          <p:cNvSpPr/>
          <p:nvPr/>
        </p:nvSpPr>
        <p:spPr>
          <a:xfrm>
            <a:off x="133003" y="825052"/>
            <a:ext cx="8744989" cy="1477328"/>
          </a:xfrm>
          <a:prstGeom prst="rect">
            <a:avLst/>
          </a:prstGeom>
        </p:spPr>
        <p:txBody>
          <a:bodyPr wrap="square">
            <a:spAutoFit/>
          </a:bodyPr>
          <a:lstStyle/>
          <a:p>
            <a:pPr marL="285750" indent="-285750">
              <a:buFont typeface="Arial" panose="020B0604020202020204" pitchFamily="34" charset="0"/>
              <a:buChar char="•"/>
            </a:pPr>
            <a:r>
              <a:rPr lang="en-US" sz="1800" dirty="0">
                <a:solidFill>
                  <a:srgbClr val="272C37"/>
                </a:solidFill>
                <a:latin typeface="Roboto"/>
              </a:rPr>
              <a:t>Descriptive Analysis</a:t>
            </a:r>
          </a:p>
          <a:p>
            <a:r>
              <a:rPr lang="en-US" sz="1800" dirty="0">
                <a:solidFill>
                  <a:schemeClr val="tx1"/>
                </a:solidFill>
                <a:latin typeface="Roboto"/>
              </a:rPr>
              <a:t>Descriptive statistical analysis involves collecting, interpreting, analyzing, and summarizing data to present them in the form of charts, graphs, and tables. Rather than drawing conclusions, it simply makes the complex data easy to read and understand.</a:t>
            </a:r>
          </a:p>
        </p:txBody>
      </p:sp>
      <p:sp>
        <p:nvSpPr>
          <p:cNvPr id="4" name="Rectangle 3"/>
          <p:cNvSpPr/>
          <p:nvPr/>
        </p:nvSpPr>
        <p:spPr>
          <a:xfrm>
            <a:off x="133002" y="2302380"/>
            <a:ext cx="8762714" cy="2585323"/>
          </a:xfrm>
          <a:prstGeom prst="rect">
            <a:avLst/>
          </a:prstGeom>
        </p:spPr>
        <p:txBody>
          <a:bodyPr wrap="square">
            <a:spAutoFit/>
          </a:bodyPr>
          <a:lstStyle/>
          <a:p>
            <a:pPr>
              <a:buFont typeface="Arial" panose="020B0604020202020204" pitchFamily="34" charset="0"/>
              <a:buChar char="•"/>
            </a:pPr>
            <a:r>
              <a:rPr lang="en-US" sz="1800" dirty="0">
                <a:solidFill>
                  <a:schemeClr val="tx1"/>
                </a:solidFill>
                <a:latin typeface="Roboto"/>
              </a:rPr>
              <a:t>Inferential Analysis</a:t>
            </a:r>
          </a:p>
          <a:p>
            <a:r>
              <a:rPr lang="en-US" sz="1800" dirty="0">
                <a:solidFill>
                  <a:schemeClr val="tx1"/>
                </a:solidFill>
                <a:latin typeface="Roboto"/>
              </a:rPr>
              <a:t>The inferential statistical analysis focuses on drawing meaningful conclusions on the basis of the data analyzed. It studies the relationship between different variables or makes predictions for the whole population.</a:t>
            </a:r>
          </a:p>
          <a:p>
            <a:pPr>
              <a:buFont typeface="Arial" panose="020B0604020202020204" pitchFamily="34" charset="0"/>
              <a:buChar char="•"/>
            </a:pPr>
            <a:r>
              <a:rPr lang="en-US" sz="1800" dirty="0">
                <a:solidFill>
                  <a:schemeClr val="tx1"/>
                </a:solidFill>
                <a:latin typeface="Roboto"/>
              </a:rPr>
              <a:t>Predictive Analysis</a:t>
            </a:r>
          </a:p>
          <a:p>
            <a:r>
              <a:rPr lang="en-US" sz="1800" dirty="0">
                <a:solidFill>
                  <a:schemeClr val="tx1"/>
                </a:solidFill>
                <a:latin typeface="Roboto"/>
              </a:rPr>
              <a:t>Predictive statistical analysis is a type of statistical analysis that analyzes data to derive past trends and predict future events on the basis of them. It uses machine learning algorithms, data mining, data modelling, and artificial intelligence to conduct the statistical analysis of data</a:t>
            </a:r>
            <a:r>
              <a:rPr lang="en-US" sz="1800" dirty="0" smtClean="0">
                <a:solidFill>
                  <a:schemeClr val="tx1"/>
                </a:solidFill>
                <a:latin typeface="Roboto"/>
              </a:rPr>
              <a:t>.</a:t>
            </a:r>
            <a:endParaRPr lang="en-US" sz="1800" dirty="0">
              <a:solidFill>
                <a:schemeClr val="tx1"/>
              </a:solidFill>
              <a:latin typeface="Roboto"/>
            </a:endParaRPr>
          </a:p>
        </p:txBody>
      </p:sp>
    </p:spTree>
    <p:extLst>
      <p:ext uri="{BB962C8B-B14F-4D97-AF65-F5344CB8AC3E}">
        <p14:creationId xmlns:p14="http://schemas.microsoft.com/office/powerpoint/2010/main" val="3789513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Type of Statistical </a:t>
            </a:r>
            <a:r>
              <a:rPr lang="en-US" sz="3200" dirty="0"/>
              <a:t>Analysis of </a:t>
            </a:r>
            <a:r>
              <a:rPr lang="en-US" sz="3200" dirty="0" smtClean="0"/>
              <a:t>Data</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3"/>
          <p:cNvSpPr/>
          <p:nvPr/>
        </p:nvSpPr>
        <p:spPr>
          <a:xfrm>
            <a:off x="79027" y="957680"/>
            <a:ext cx="8762714" cy="3693319"/>
          </a:xfrm>
          <a:prstGeom prst="rect">
            <a:avLst/>
          </a:prstGeom>
        </p:spPr>
        <p:txBody>
          <a:bodyPr wrap="square">
            <a:spAutoFit/>
          </a:bodyPr>
          <a:lstStyle/>
          <a:p>
            <a:pPr>
              <a:buFont typeface="Arial" panose="020B0604020202020204" pitchFamily="34" charset="0"/>
              <a:buChar char="•"/>
            </a:pPr>
            <a:r>
              <a:rPr lang="en-US" sz="1800" dirty="0" smtClean="0">
                <a:solidFill>
                  <a:srgbClr val="272C37"/>
                </a:solidFill>
                <a:latin typeface="Roboto"/>
              </a:rPr>
              <a:t>Prescriptive </a:t>
            </a:r>
            <a:r>
              <a:rPr lang="en-US" sz="1800" dirty="0">
                <a:solidFill>
                  <a:srgbClr val="272C37"/>
                </a:solidFill>
                <a:latin typeface="Roboto"/>
              </a:rPr>
              <a:t>Analysis</a:t>
            </a:r>
          </a:p>
          <a:p>
            <a:r>
              <a:rPr lang="en-US" sz="1800" dirty="0">
                <a:solidFill>
                  <a:srgbClr val="51565E"/>
                </a:solidFill>
                <a:latin typeface="Roboto"/>
              </a:rPr>
              <a:t>The prescriptive analysis conducts the analysis of data and prescribes the best course of action based on the results. It is a type of statistical analysis that helps you make an informed decision. </a:t>
            </a:r>
          </a:p>
          <a:p>
            <a:pPr>
              <a:buFont typeface="Arial" panose="020B0604020202020204" pitchFamily="34" charset="0"/>
              <a:buChar char="•"/>
            </a:pPr>
            <a:r>
              <a:rPr lang="en-US" sz="1800" dirty="0">
                <a:solidFill>
                  <a:srgbClr val="272C37"/>
                </a:solidFill>
                <a:latin typeface="Roboto"/>
              </a:rPr>
              <a:t>Exploratory Data Analysis</a:t>
            </a:r>
          </a:p>
          <a:p>
            <a:r>
              <a:rPr lang="en-US" sz="1800" dirty="0">
                <a:solidFill>
                  <a:srgbClr val="1179EF"/>
                </a:solidFill>
                <a:latin typeface="Roboto"/>
                <a:hlinkClick r:id="rId3" tooltip="Exploratory analysis"/>
              </a:rPr>
              <a:t>Exploratory analysis</a:t>
            </a:r>
            <a:r>
              <a:rPr lang="en-US" sz="1800" dirty="0">
                <a:solidFill>
                  <a:srgbClr val="51565E"/>
                </a:solidFill>
                <a:latin typeface="Roboto"/>
              </a:rPr>
              <a:t> is similar to inferential analysis, but the difference is that it involves exploring the unknown data associations. It analyzes the potential relationships within the data. </a:t>
            </a:r>
          </a:p>
          <a:p>
            <a:pPr>
              <a:buFont typeface="Arial" panose="020B0604020202020204" pitchFamily="34" charset="0"/>
              <a:buChar char="•"/>
            </a:pPr>
            <a:r>
              <a:rPr lang="en-US" sz="1800" dirty="0">
                <a:solidFill>
                  <a:srgbClr val="272C37"/>
                </a:solidFill>
                <a:latin typeface="Roboto"/>
              </a:rPr>
              <a:t>Causal Analysis</a:t>
            </a:r>
          </a:p>
          <a:p>
            <a:r>
              <a:rPr lang="en-US" sz="1800" dirty="0">
                <a:solidFill>
                  <a:srgbClr val="51565E"/>
                </a:solidFill>
                <a:latin typeface="Roboto"/>
              </a:rPr>
              <a:t>The causal statistical analysis focuses on determining the cause and effect relationship between different variables within the raw data. In simple words, it determines why something happens and its effect on other variables. This methodology can be used by businesses to determine the reason for failure. </a:t>
            </a:r>
          </a:p>
        </p:txBody>
      </p:sp>
    </p:spTree>
    <p:extLst>
      <p:ext uri="{BB962C8B-B14F-4D97-AF65-F5344CB8AC3E}">
        <p14:creationId xmlns:p14="http://schemas.microsoft.com/office/powerpoint/2010/main" val="3750667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Importance of Statistical </a:t>
            </a:r>
            <a:r>
              <a:rPr lang="en-US" sz="3200" dirty="0"/>
              <a:t>Analysis of </a:t>
            </a:r>
            <a:r>
              <a:rPr lang="en-US" sz="3200" dirty="0" smtClean="0"/>
              <a:t>Data</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3"/>
          <p:cNvSpPr/>
          <p:nvPr/>
        </p:nvSpPr>
        <p:spPr>
          <a:xfrm>
            <a:off x="0" y="825052"/>
            <a:ext cx="9063070" cy="3677930"/>
          </a:xfrm>
          <a:prstGeom prst="rect">
            <a:avLst/>
          </a:prstGeom>
        </p:spPr>
        <p:txBody>
          <a:bodyPr wrap="square">
            <a:spAutoFit/>
          </a:bodyPr>
          <a:lstStyle/>
          <a:p>
            <a:pPr marL="285750" indent="-285750">
              <a:buFont typeface="Arial" panose="020B0604020202020204" pitchFamily="34" charset="0"/>
              <a:buChar char="•"/>
            </a:pPr>
            <a:r>
              <a:rPr lang="en-US" sz="1550" dirty="0"/>
              <a:t>The statistical analysis aids in summarizing enormous amounts of data into clearly digestible chunks.</a:t>
            </a:r>
          </a:p>
          <a:p>
            <a:pPr marL="285750" indent="-285750">
              <a:buFont typeface="Arial" panose="020B0604020202020204" pitchFamily="34" charset="0"/>
              <a:buChar char="•"/>
            </a:pPr>
            <a:r>
              <a:rPr lang="en-US" sz="1550" dirty="0"/>
              <a:t>The statistical analysis aids in the effective design of laboratory, field, and survey investigations.</a:t>
            </a:r>
          </a:p>
          <a:p>
            <a:pPr marL="285750" indent="-285750">
              <a:buFont typeface="Arial" panose="020B0604020202020204" pitchFamily="34" charset="0"/>
              <a:buChar char="•"/>
            </a:pPr>
            <a:r>
              <a:rPr lang="en-US" sz="1550" dirty="0"/>
              <a:t>Statistical analysis may help with solid and efficient planning in any subject of study.</a:t>
            </a:r>
          </a:p>
          <a:p>
            <a:pPr marL="285750" indent="-285750">
              <a:buFont typeface="Arial" panose="020B0604020202020204" pitchFamily="34" charset="0"/>
              <a:buChar char="•"/>
            </a:pPr>
            <a:r>
              <a:rPr lang="en-US" sz="1550" dirty="0"/>
              <a:t>Statistical analysis aid in establishing broad generalizations and forecasting how much of something will occur under particular conditions.</a:t>
            </a:r>
          </a:p>
          <a:p>
            <a:pPr marL="285750" indent="-285750">
              <a:buFont typeface="Arial" panose="020B0604020202020204" pitchFamily="34" charset="0"/>
              <a:buChar char="•"/>
            </a:pPr>
            <a:r>
              <a:rPr lang="en-US" sz="1550" dirty="0"/>
              <a:t>Statistical methods, which are effective tools for interpreting numerical data, are applied in practically every field of study. Statistical approaches have been created and are increasingly applied in physical and biological sciences, such as genetics.</a:t>
            </a:r>
          </a:p>
          <a:p>
            <a:pPr marL="285750" indent="-285750">
              <a:buFont typeface="Arial" panose="020B0604020202020204" pitchFamily="34" charset="0"/>
              <a:buChar char="•"/>
            </a:pPr>
            <a:r>
              <a:rPr lang="en-US" sz="1550" dirty="0"/>
              <a:t>Statistical approaches are used in the job of a businessman, a manufacturer, and a researcher. Statistics departments can be found in banks, insurance businesses, and government agencies.</a:t>
            </a:r>
          </a:p>
          <a:p>
            <a:pPr marL="285750" indent="-285750">
              <a:buFont typeface="Arial" panose="020B0604020202020204" pitchFamily="34" charset="0"/>
              <a:buChar char="•"/>
            </a:pPr>
            <a:r>
              <a:rPr lang="en-US" sz="1550" dirty="0"/>
              <a:t>A modern administrator, whether in the public or commercial sector, relies on statistical data to make correct decisions.</a:t>
            </a:r>
          </a:p>
          <a:p>
            <a:pPr marL="285750" indent="-285750">
              <a:buFont typeface="Arial" panose="020B0604020202020204" pitchFamily="34" charset="0"/>
              <a:buChar char="•"/>
            </a:pPr>
            <a:r>
              <a:rPr lang="en-US" sz="1550" dirty="0"/>
              <a:t>Politicians can utilize statistics to support and validate their claims while also explaining the issues they address</a:t>
            </a:r>
            <a:r>
              <a:rPr lang="en-US" sz="1600" dirty="0"/>
              <a:t>.</a:t>
            </a:r>
          </a:p>
        </p:txBody>
      </p:sp>
    </p:spTree>
    <p:extLst>
      <p:ext uri="{BB962C8B-B14F-4D97-AF65-F5344CB8AC3E}">
        <p14:creationId xmlns:p14="http://schemas.microsoft.com/office/powerpoint/2010/main" val="1115119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Normal Distribution Significance of Data Visualization in Data Science</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Content Placeholder 1"/>
          <p:cNvSpPr>
            <a:spLocks noGrp="1"/>
          </p:cNvSpPr>
          <p:nvPr>
            <p:ph idx="1"/>
          </p:nvPr>
        </p:nvSpPr>
        <p:spPr/>
        <p:txBody>
          <a:bodyPr/>
          <a:lstStyle/>
          <a:p>
            <a:endParaRPr lang="en-US"/>
          </a:p>
        </p:txBody>
      </p:sp>
      <p:pic>
        <p:nvPicPr>
          <p:cNvPr id="3" name="Picture 2"/>
          <p:cNvPicPr>
            <a:picLocks noChangeAspect="1"/>
          </p:cNvPicPr>
          <p:nvPr/>
        </p:nvPicPr>
        <p:blipFill>
          <a:blip r:embed="rId3"/>
          <a:stretch>
            <a:fillRect/>
          </a:stretch>
        </p:blipFill>
        <p:spPr>
          <a:xfrm>
            <a:off x="1092431" y="969989"/>
            <a:ext cx="6477000" cy="3590925"/>
          </a:xfrm>
          <a:prstGeom prst="rect">
            <a:avLst/>
          </a:prstGeom>
        </p:spPr>
      </p:pic>
    </p:spTree>
    <p:extLst>
      <p:ext uri="{BB962C8B-B14F-4D97-AF65-F5344CB8AC3E}">
        <p14:creationId xmlns:p14="http://schemas.microsoft.com/office/powerpoint/2010/main" val="497001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Normal Distribution Significance of Data Visualization in Data Science</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8" name="Rectangle 7"/>
          <p:cNvSpPr/>
          <p:nvPr/>
        </p:nvSpPr>
        <p:spPr>
          <a:xfrm>
            <a:off x="810491" y="1224952"/>
            <a:ext cx="7523018" cy="2862322"/>
          </a:xfrm>
          <a:prstGeom prst="rect">
            <a:avLst/>
          </a:prstGeom>
        </p:spPr>
        <p:txBody>
          <a:bodyPr wrap="square">
            <a:spAutoFit/>
          </a:bodyPr>
          <a:lstStyle/>
          <a:p>
            <a:pPr algn="just"/>
            <a:r>
              <a:rPr lang="en-US" sz="1800" dirty="0">
                <a:solidFill>
                  <a:srgbClr val="222222"/>
                </a:solidFill>
                <a:latin typeface="Lato"/>
              </a:rPr>
              <a:t>We call this</a:t>
            </a:r>
            <a:r>
              <a:rPr lang="en-US" sz="1800" b="1" dirty="0">
                <a:solidFill>
                  <a:srgbClr val="222222"/>
                </a:solidFill>
                <a:latin typeface="Lato"/>
              </a:rPr>
              <a:t> Bell-shaped curve</a:t>
            </a:r>
            <a:r>
              <a:rPr lang="en-US" sz="1800" dirty="0">
                <a:solidFill>
                  <a:srgbClr val="222222"/>
                </a:solidFill>
                <a:latin typeface="Lato"/>
              </a:rPr>
              <a:t> a </a:t>
            </a:r>
            <a:r>
              <a:rPr lang="en-US" sz="1800" b="1" dirty="0">
                <a:solidFill>
                  <a:srgbClr val="222222"/>
                </a:solidFill>
                <a:latin typeface="Lato"/>
              </a:rPr>
              <a:t>Normal Distribution.</a:t>
            </a:r>
            <a:r>
              <a:rPr lang="en-US" sz="1800" dirty="0">
                <a:solidFill>
                  <a:srgbClr val="222222"/>
                </a:solidFill>
                <a:latin typeface="Lato"/>
              </a:rPr>
              <a:t> Carl Friedrich Gauss discovered it so sometimes we also call it a </a:t>
            </a:r>
            <a:r>
              <a:rPr lang="en-US" sz="1800" b="1" dirty="0">
                <a:solidFill>
                  <a:srgbClr val="222222"/>
                </a:solidFill>
                <a:latin typeface="Lato"/>
              </a:rPr>
              <a:t>Gaussian Distribution</a:t>
            </a:r>
            <a:r>
              <a:rPr lang="en-US" sz="1800" dirty="0">
                <a:solidFill>
                  <a:srgbClr val="222222"/>
                </a:solidFill>
                <a:latin typeface="Lato"/>
              </a:rPr>
              <a:t> as well.</a:t>
            </a:r>
          </a:p>
          <a:p>
            <a:pPr algn="just"/>
            <a:r>
              <a:rPr lang="en-US" sz="1800" dirty="0">
                <a:solidFill>
                  <a:srgbClr val="222222"/>
                </a:solidFill>
                <a:latin typeface="Lato"/>
              </a:rPr>
              <a:t>We can simplify the Normal Distribution’s Probability Density by using only two parameters: 𝝻 Mean and 𝛔2. This curve is</a:t>
            </a:r>
            <a:r>
              <a:rPr lang="en-US" sz="1800" b="1" dirty="0">
                <a:solidFill>
                  <a:srgbClr val="222222"/>
                </a:solidFill>
                <a:latin typeface="Lato"/>
              </a:rPr>
              <a:t> symmetric</a:t>
            </a:r>
            <a:r>
              <a:rPr lang="en-US" sz="1800" dirty="0">
                <a:solidFill>
                  <a:srgbClr val="222222"/>
                </a:solidFill>
                <a:latin typeface="Lato"/>
              </a:rPr>
              <a:t> around the Mean. Also as you can see for this distribution, the </a:t>
            </a:r>
            <a:r>
              <a:rPr lang="en-US" sz="1800" b="1" dirty="0">
                <a:solidFill>
                  <a:srgbClr val="222222"/>
                </a:solidFill>
                <a:latin typeface="Lato"/>
              </a:rPr>
              <a:t>Mean, Median, and Mode are all the same.</a:t>
            </a:r>
            <a:endParaRPr lang="en-US" sz="1800" dirty="0">
              <a:solidFill>
                <a:srgbClr val="222222"/>
              </a:solidFill>
              <a:latin typeface="Lato"/>
            </a:endParaRPr>
          </a:p>
          <a:p>
            <a:pPr algn="just"/>
            <a:r>
              <a:rPr lang="en-US" sz="1800" dirty="0">
                <a:solidFill>
                  <a:srgbClr val="222222"/>
                </a:solidFill>
                <a:latin typeface="Lato"/>
              </a:rPr>
              <a:t>One more important phenomena of a normal distribution is that it retains the normal shape throughout, unlike other probability distributions that change their properties after a transformation.</a:t>
            </a:r>
          </a:p>
        </p:txBody>
      </p:sp>
    </p:spTree>
    <p:extLst>
      <p:ext uri="{BB962C8B-B14F-4D97-AF65-F5344CB8AC3E}">
        <p14:creationId xmlns:p14="http://schemas.microsoft.com/office/powerpoint/2010/main" val="18981590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Importance of Normal Distribution</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146077" y="914632"/>
            <a:ext cx="8465907" cy="1815882"/>
          </a:xfrm>
          <a:prstGeom prst="rect">
            <a:avLst/>
          </a:prstGeom>
        </p:spPr>
        <p:txBody>
          <a:bodyPr wrap="square">
            <a:spAutoFit/>
          </a:bodyPr>
          <a:lstStyle/>
          <a:p>
            <a:r>
              <a:rPr lang="en-US" dirty="0">
                <a:solidFill>
                  <a:srgbClr val="374151"/>
                </a:solidFill>
                <a:latin typeface="Söhne"/>
              </a:rPr>
              <a:t>The normal distribution, also known as the Gaussian distribution or bell curve, plays a significant role in data science for several reasons. Here are some key reasons why the normal distribution is important in data science</a:t>
            </a:r>
            <a:r>
              <a:rPr lang="en-US" dirty="0" smtClean="0">
                <a:solidFill>
                  <a:srgbClr val="374151"/>
                </a:solidFill>
                <a:latin typeface="Söhne"/>
              </a:rPr>
              <a:t>:</a:t>
            </a:r>
          </a:p>
          <a:p>
            <a:pPr marL="285750" indent="-285750">
              <a:buFont typeface="Arial" panose="020B0604020202020204" pitchFamily="34" charset="0"/>
              <a:buChar char="•"/>
            </a:pPr>
            <a:r>
              <a:rPr lang="en-US" dirty="0"/>
              <a:t>Central Limit </a:t>
            </a:r>
            <a:r>
              <a:rPr lang="en-US" dirty="0" smtClean="0"/>
              <a:t>Theorem</a:t>
            </a:r>
            <a:endParaRPr lang="en-US" dirty="0"/>
          </a:p>
          <a:p>
            <a:pPr marL="285750" indent="-285750">
              <a:buFont typeface="Arial" panose="020B0604020202020204" pitchFamily="34" charset="0"/>
              <a:buChar char="•"/>
            </a:pPr>
            <a:r>
              <a:rPr lang="en-US" dirty="0"/>
              <a:t>Modeling </a:t>
            </a:r>
            <a:r>
              <a:rPr lang="en-US" dirty="0" smtClean="0"/>
              <a:t>Data</a:t>
            </a:r>
          </a:p>
          <a:p>
            <a:pPr marL="285750" indent="-285750">
              <a:buFont typeface="Arial" panose="020B0604020202020204" pitchFamily="34" charset="0"/>
              <a:buChar char="•"/>
            </a:pPr>
            <a:r>
              <a:rPr lang="en-US" dirty="0"/>
              <a:t>Statistical </a:t>
            </a:r>
            <a:r>
              <a:rPr lang="en-US" dirty="0" smtClean="0"/>
              <a:t>Inference</a:t>
            </a:r>
          </a:p>
          <a:p>
            <a:pPr marL="285750" indent="-285750">
              <a:buFont typeface="Arial" panose="020B0604020202020204" pitchFamily="34" charset="0"/>
              <a:buChar char="•"/>
            </a:pPr>
            <a:r>
              <a:rPr lang="en-US" dirty="0"/>
              <a:t>Data </a:t>
            </a:r>
            <a:r>
              <a:rPr lang="en-US" dirty="0" smtClean="0"/>
              <a:t>Transformation</a:t>
            </a:r>
          </a:p>
          <a:p>
            <a:pPr marL="285750" indent="-285750">
              <a:buFont typeface="Arial" panose="020B0604020202020204" pitchFamily="34" charset="0"/>
              <a:buChar char="•"/>
            </a:pPr>
            <a:r>
              <a:rPr lang="en-US" dirty="0"/>
              <a:t>Outlier Detection</a:t>
            </a:r>
            <a:endParaRPr lang="en-US" dirty="0" smtClean="0"/>
          </a:p>
        </p:txBody>
      </p:sp>
    </p:spTree>
    <p:extLst>
      <p:ext uri="{BB962C8B-B14F-4D97-AF65-F5344CB8AC3E}">
        <p14:creationId xmlns:p14="http://schemas.microsoft.com/office/powerpoint/2010/main" val="15073856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Normal Distribution Significance of Data Visualization in Data Science</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a:spLocks noChangeArrowheads="1"/>
          </p:cNvSpPr>
          <p:nvPr/>
        </p:nvSpPr>
        <p:spPr bwMode="auto">
          <a:xfrm>
            <a:off x="143779" y="882484"/>
            <a:ext cx="8792403" cy="13887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1396"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Times New Roman" panose="02020603050405020304" pitchFamily="18" charset="0"/>
                <a:cs typeface="Times New Roman" panose="02020603050405020304" pitchFamily="18" charset="0"/>
              </a:rPr>
              <a:t>What is a Standard Normal Distribution?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222222"/>
                </a:solidFill>
                <a:effectLst/>
                <a:latin typeface="Lato"/>
              </a:rPr>
              <a:t>Standard Normal Distribution is a special case of Normal Distribution when</a:t>
            </a:r>
            <a:r>
              <a:rPr kumimoji="0" lang="en-US" sz="1300" b="1" i="0" u="none" strike="noStrike" cap="none" normalizeH="0" baseline="0" dirty="0" smtClean="0">
                <a:ln>
                  <a:noFill/>
                </a:ln>
                <a:solidFill>
                  <a:srgbClr val="222222"/>
                </a:solidFill>
                <a:effectLst/>
                <a:latin typeface="Lato"/>
              </a:rPr>
              <a:t> 𝜇 = 0</a:t>
            </a:r>
            <a:r>
              <a:rPr kumimoji="0" lang="en-US" sz="1300" b="0" i="0" u="none" strike="noStrike" cap="none" normalizeH="0" baseline="0" dirty="0" smtClean="0">
                <a:ln>
                  <a:noFill/>
                </a:ln>
                <a:solidFill>
                  <a:srgbClr val="222222"/>
                </a:solidFill>
                <a:effectLst/>
                <a:latin typeface="Lato"/>
              </a:rPr>
              <a:t> and</a:t>
            </a:r>
            <a:r>
              <a:rPr kumimoji="0" lang="en-US" sz="1300" b="1" i="0" u="none" strike="noStrike" cap="none" normalizeH="0" baseline="0" dirty="0" smtClean="0">
                <a:ln>
                  <a:noFill/>
                </a:ln>
                <a:solidFill>
                  <a:srgbClr val="222222"/>
                </a:solidFill>
                <a:effectLst/>
                <a:latin typeface="Lato"/>
              </a:rPr>
              <a:t> 𝜎  = 1. </a:t>
            </a:r>
            <a:r>
              <a:rPr kumimoji="0" lang="en-US" sz="1300" b="0" i="0" u="none" strike="noStrike" cap="none" normalizeH="0" baseline="0" dirty="0" smtClean="0">
                <a:ln>
                  <a:noFill/>
                </a:ln>
                <a:solidFill>
                  <a:srgbClr val="222222"/>
                </a:solidFill>
                <a:effectLst/>
                <a:latin typeface="Lato"/>
              </a:rPr>
              <a:t>For any Normal distribution, we can convert it into Standard Normal distribution using the formula:</a:t>
            </a:r>
            <a:endParaRPr kumimoji="0" lang="en-US" sz="7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222222"/>
                </a:solidFill>
                <a:effectLst/>
                <a:latin typeface="Lato"/>
              </a:rPr>
              <a:t>  </a:t>
            </a:r>
            <a:r>
              <a:rPr kumimoji="0" lang="en-US" sz="3000" b="0" i="0" u="none" strike="noStrike" cap="none" normalizeH="0" baseline="0" dirty="0" smtClean="0">
                <a:ln>
                  <a:noFill/>
                </a:ln>
                <a:solidFill>
                  <a:srgbClr val="222222"/>
                </a:solidFill>
                <a:effectLst/>
                <a:latin typeface="Lato"/>
              </a:rPr>
              <a:t> </a:t>
            </a:r>
            <a:r>
              <a:rPr kumimoji="0" lang="en-US" sz="1300" b="0" i="0" u="none" strike="noStrike" cap="none" normalizeH="0" baseline="0" dirty="0" smtClean="0">
                <a:ln>
                  <a:noFill/>
                </a:ln>
                <a:solidFill>
                  <a:srgbClr val="222222"/>
                </a:solidFill>
                <a:effectLst/>
                <a:latin typeface="Lato"/>
              </a:rPr>
              <a:t> </a:t>
            </a:r>
            <a:endParaRPr kumimoji="0" lang="en-US" sz="11500" b="0" i="0" u="none" strike="noStrike" cap="none" normalizeH="0" baseline="0" dirty="0" smtClean="0">
              <a:ln>
                <a:noFill/>
              </a:ln>
              <a:solidFill>
                <a:srgbClr val="222222"/>
              </a:solidFill>
              <a:effectLst/>
              <a:latin typeface="Lato"/>
            </a:endParaRPr>
          </a:p>
        </p:txBody>
      </p:sp>
      <p:pic>
        <p:nvPicPr>
          <p:cNvPr id="2050" name="Picture 2" descr="https://cdn.analyticsvidhya.com/wp-content/uploads/2020/03/Screenshot-from-2020-03-06-17-29-1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8897" y="1649161"/>
            <a:ext cx="1219200" cy="485776"/>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https://cdn.analyticsvidhya.com/wp-content/uploads/2020/03/Screenshot-from-2020-03-06-17-29-1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858" y="2484378"/>
            <a:ext cx="5362575" cy="183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6863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Left Skewed Distribution </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pic>
        <p:nvPicPr>
          <p:cNvPr id="3074" name="Picture 2" descr="normal distribution">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64" y="1612371"/>
            <a:ext cx="5743575" cy="199824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24690" y="794136"/>
            <a:ext cx="7323513" cy="738664"/>
          </a:xfrm>
          <a:prstGeom prst="rect">
            <a:avLst/>
          </a:prstGeom>
        </p:spPr>
        <p:txBody>
          <a:bodyPr wrap="square">
            <a:spAutoFit/>
          </a:bodyPr>
          <a:lstStyle/>
          <a:p>
            <a:r>
              <a:rPr lang="en-US" dirty="0">
                <a:solidFill>
                  <a:srgbClr val="222222"/>
                </a:solidFill>
                <a:latin typeface="Lato"/>
              </a:rPr>
              <a:t>When data points cluster on the right side of the distribution, then the tail would be longer on the left side. This is the property of </a:t>
            </a:r>
            <a:r>
              <a:rPr lang="en-US" b="1" dirty="0">
                <a:solidFill>
                  <a:srgbClr val="222222"/>
                </a:solidFill>
                <a:latin typeface="Lato"/>
              </a:rPr>
              <a:t>Left Skewed Distribution</a:t>
            </a:r>
            <a:r>
              <a:rPr lang="en-US" dirty="0">
                <a:solidFill>
                  <a:srgbClr val="222222"/>
                </a:solidFill>
                <a:latin typeface="Lato"/>
              </a:rPr>
              <a:t>. The tail is longer in the negative direction so we also call it</a:t>
            </a:r>
            <a:r>
              <a:rPr lang="en-US" b="1" dirty="0">
                <a:solidFill>
                  <a:srgbClr val="222222"/>
                </a:solidFill>
                <a:latin typeface="Lato"/>
              </a:rPr>
              <a:t> Negatively Skewed Distribution.</a:t>
            </a:r>
            <a:endParaRPr lang="en-US" dirty="0"/>
          </a:p>
        </p:txBody>
      </p:sp>
      <p:sp>
        <p:nvSpPr>
          <p:cNvPr id="18" name="Rectangle 17"/>
          <p:cNvSpPr/>
          <p:nvPr/>
        </p:nvSpPr>
        <p:spPr>
          <a:xfrm>
            <a:off x="191193" y="3567668"/>
            <a:ext cx="8952806" cy="738664"/>
          </a:xfrm>
          <a:prstGeom prst="rect">
            <a:avLst/>
          </a:prstGeom>
        </p:spPr>
        <p:txBody>
          <a:bodyPr wrap="square">
            <a:spAutoFit/>
          </a:bodyPr>
          <a:lstStyle/>
          <a:p>
            <a:pPr algn="just"/>
            <a:r>
              <a:rPr lang="en-US" dirty="0">
                <a:solidFill>
                  <a:srgbClr val="222222"/>
                </a:solidFill>
                <a:latin typeface="Lato"/>
              </a:rPr>
              <a:t>In the Normal Distribution, Mean, Median and Mode are equal but in a negatively skewed distribution, we express the general relationship between the central tendency measured as:</a:t>
            </a:r>
          </a:p>
          <a:p>
            <a:pPr algn="ctr"/>
            <a:r>
              <a:rPr lang="en-US" b="1" dirty="0">
                <a:solidFill>
                  <a:srgbClr val="222222"/>
                </a:solidFill>
                <a:latin typeface="Lato"/>
              </a:rPr>
              <a:t>Mode &gt; Median &gt; Mean</a:t>
            </a:r>
            <a:endParaRPr lang="en-US" dirty="0">
              <a:solidFill>
                <a:srgbClr val="222222"/>
              </a:solidFill>
              <a:latin typeface="Lato"/>
            </a:endParaRPr>
          </a:p>
        </p:txBody>
      </p:sp>
    </p:spTree>
    <p:extLst>
      <p:ext uri="{BB962C8B-B14F-4D97-AF65-F5344CB8AC3E}">
        <p14:creationId xmlns:p14="http://schemas.microsoft.com/office/powerpoint/2010/main" val="8002543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Right Skewed Distribution </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3"/>
          <p:cNvSpPr/>
          <p:nvPr/>
        </p:nvSpPr>
        <p:spPr>
          <a:xfrm>
            <a:off x="124690" y="794136"/>
            <a:ext cx="7323513" cy="738664"/>
          </a:xfrm>
          <a:prstGeom prst="rect">
            <a:avLst/>
          </a:prstGeom>
        </p:spPr>
        <p:txBody>
          <a:bodyPr wrap="square">
            <a:spAutoFit/>
          </a:bodyPr>
          <a:lstStyle/>
          <a:p>
            <a:r>
              <a:rPr lang="en-US" dirty="0"/>
              <a:t>When data points cluster on the left side of the distribution, then the tail would be longer on the right side. This is the property of </a:t>
            </a:r>
            <a:r>
              <a:rPr lang="en-US" b="1" dirty="0"/>
              <a:t>Right Skewed Distribution</a:t>
            </a:r>
            <a:r>
              <a:rPr lang="en-US" dirty="0"/>
              <a:t>. Here, the tail is longer in the positive direction so we also call it </a:t>
            </a:r>
            <a:r>
              <a:rPr lang="en-US" b="1" dirty="0"/>
              <a:t>Positively Skewed Distribution.</a:t>
            </a:r>
            <a:endParaRPr lang="en-US" dirty="0"/>
          </a:p>
        </p:txBody>
      </p:sp>
      <p:sp>
        <p:nvSpPr>
          <p:cNvPr id="2" name="Rectangle 1"/>
          <p:cNvSpPr/>
          <p:nvPr/>
        </p:nvSpPr>
        <p:spPr>
          <a:xfrm>
            <a:off x="191193" y="3567668"/>
            <a:ext cx="8952806" cy="738664"/>
          </a:xfrm>
          <a:prstGeom prst="rect">
            <a:avLst/>
          </a:prstGeom>
        </p:spPr>
        <p:txBody>
          <a:bodyPr wrap="square">
            <a:spAutoFit/>
          </a:bodyPr>
          <a:lstStyle/>
          <a:p>
            <a:r>
              <a:rPr lang="en-US" dirty="0"/>
              <a:t>In a positively skewed distribution, we express the general relationship between the central tendency measures as:</a:t>
            </a:r>
          </a:p>
          <a:p>
            <a:r>
              <a:rPr lang="en-US" b="1" dirty="0"/>
              <a:t>Mode &lt; Median &lt; Mean</a:t>
            </a:r>
            <a:endParaRPr lang="en-US" dirty="0"/>
          </a:p>
        </p:txBody>
      </p:sp>
      <p:pic>
        <p:nvPicPr>
          <p:cNvPr id="3" name="Picture 2"/>
          <p:cNvPicPr>
            <a:picLocks noChangeAspect="1"/>
          </p:cNvPicPr>
          <p:nvPr/>
        </p:nvPicPr>
        <p:blipFill>
          <a:blip r:embed="rId3"/>
          <a:stretch>
            <a:fillRect/>
          </a:stretch>
        </p:blipFill>
        <p:spPr>
          <a:xfrm>
            <a:off x="1415040" y="1624302"/>
            <a:ext cx="5876925" cy="1848319"/>
          </a:xfrm>
          <a:prstGeom prst="rect">
            <a:avLst/>
          </a:prstGeom>
        </p:spPr>
      </p:pic>
    </p:spTree>
    <p:extLst>
      <p:ext uri="{BB962C8B-B14F-4D97-AF65-F5344CB8AC3E}">
        <p14:creationId xmlns:p14="http://schemas.microsoft.com/office/powerpoint/2010/main" val="37558032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Line Chart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Content Placeholder 1"/>
          <p:cNvSpPr>
            <a:spLocks noGrp="1"/>
          </p:cNvSpPr>
          <p:nvPr>
            <p:ph idx="1"/>
          </p:nvPr>
        </p:nvSpPr>
        <p:spPr/>
        <p:txBody>
          <a:bodyPr/>
          <a:lstStyle/>
          <a:p>
            <a:r>
              <a:rPr lang="en-US" dirty="0"/>
              <a:t>A line chart is a graphical representation of an asset's historical price action that connects a </a:t>
            </a:r>
            <a:r>
              <a:rPr lang="en-US" dirty="0" smtClean="0"/>
              <a:t>series of data points with a continuous line. </a:t>
            </a:r>
          </a:p>
          <a:p>
            <a:r>
              <a:rPr lang="en-US" dirty="0"/>
              <a:t>A line chart displays information as a series of data points connected by straight line segments.</a:t>
            </a:r>
          </a:p>
          <a:p>
            <a:r>
              <a:rPr lang="en-US" dirty="0"/>
              <a:t>A line chart is a way of visually representing an asset's price history using a single, continuous line.</a:t>
            </a:r>
          </a:p>
          <a:p>
            <a:r>
              <a:rPr lang="en-US" dirty="0"/>
              <a:t>Line charts usually only plot the closing prices, thus reducing noise from less critical times in the trading day, such as the open, high, and low prices.</a:t>
            </a:r>
          </a:p>
          <a:p>
            <a:r>
              <a:rPr lang="en-US" dirty="0"/>
              <a:t>Line charts are simplistic and may not fully capture patterns or trends.</a:t>
            </a:r>
          </a:p>
          <a:p>
            <a:pPr marL="114300" indent="0">
              <a:buNone/>
            </a:pPr>
            <a:endParaRPr lang="en-US" dirty="0"/>
          </a:p>
        </p:txBody>
      </p:sp>
    </p:spTree>
    <p:extLst>
      <p:ext uri="{BB962C8B-B14F-4D97-AF65-F5344CB8AC3E}">
        <p14:creationId xmlns:p14="http://schemas.microsoft.com/office/powerpoint/2010/main" val="1144742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Line Chart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485775" y="905381"/>
            <a:ext cx="8172450" cy="3801461"/>
          </a:xfrm>
          <a:prstGeom prst="rect">
            <a:avLst/>
          </a:prstGeom>
        </p:spPr>
      </p:pic>
    </p:spTree>
    <p:extLst>
      <p:ext uri="{BB962C8B-B14F-4D97-AF65-F5344CB8AC3E}">
        <p14:creationId xmlns:p14="http://schemas.microsoft.com/office/powerpoint/2010/main" val="1487119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IN" sz="3200" b="1" dirty="0" smtClean="0"/>
              <a:t>Plot Function</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319279" y="953129"/>
            <a:ext cx="5996854" cy="400110"/>
          </a:xfrm>
          <a:prstGeom prst="rect">
            <a:avLst/>
          </a:prstGeom>
        </p:spPr>
        <p:txBody>
          <a:bodyPr wrap="square">
            <a:spAutoFit/>
          </a:bodyPr>
          <a:lstStyle/>
          <a:p>
            <a:r>
              <a:rPr lang="en-US" sz="2000" dirty="0">
                <a:solidFill>
                  <a:schemeClr val="tx1"/>
                </a:solidFill>
                <a:latin typeface="Söhne Mono"/>
              </a:rPr>
              <a:t>plot([x], y, [</a:t>
            </a:r>
            <a:r>
              <a:rPr lang="en-US" sz="2000" dirty="0" err="1">
                <a:solidFill>
                  <a:schemeClr val="tx1"/>
                </a:solidFill>
                <a:latin typeface="Söhne Mono"/>
              </a:rPr>
              <a:t>fmt</a:t>
            </a:r>
            <a:r>
              <a:rPr lang="en-US" sz="2000" dirty="0">
                <a:solidFill>
                  <a:schemeClr val="tx1"/>
                </a:solidFill>
                <a:latin typeface="Söhne Mono"/>
              </a:rPr>
              <a:t>], *, data=None, **</a:t>
            </a:r>
            <a:r>
              <a:rPr lang="en-US" sz="2000" dirty="0" err="1">
                <a:solidFill>
                  <a:schemeClr val="tx1"/>
                </a:solidFill>
                <a:latin typeface="Söhne Mono"/>
              </a:rPr>
              <a:t>kwargs</a:t>
            </a:r>
            <a:r>
              <a:rPr lang="en-US" sz="2000" dirty="0">
                <a:solidFill>
                  <a:schemeClr val="tx1"/>
                </a:solidFill>
                <a:latin typeface="Söhne Mono"/>
              </a:rPr>
              <a:t>)</a:t>
            </a:r>
            <a:endParaRPr lang="en-US" sz="2000" dirty="0">
              <a:solidFill>
                <a:schemeClr val="tx1"/>
              </a:solidFill>
            </a:endParaRPr>
          </a:p>
        </p:txBody>
      </p:sp>
      <p:sp>
        <p:nvSpPr>
          <p:cNvPr id="8" name="Rectangle 1"/>
          <p:cNvSpPr>
            <a:spLocks noChangeArrowheads="1"/>
          </p:cNvSpPr>
          <p:nvPr/>
        </p:nvSpPr>
        <p:spPr bwMode="auto">
          <a:xfrm>
            <a:off x="211666" y="825052"/>
            <a:ext cx="15042579" cy="4001095"/>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[x]</a:t>
            </a:r>
            <a:r>
              <a:rPr kumimoji="0" lang="en-US" sz="1200" b="0" i="0" u="none" strike="noStrike" cap="none" normalizeH="0" baseline="0" dirty="0" smtClean="0">
                <a:ln>
                  <a:noFill/>
                </a:ln>
                <a:solidFill>
                  <a:srgbClr val="374151"/>
                </a:solidFill>
                <a:effectLst/>
                <a:latin typeface="Söhne"/>
              </a:rPr>
              <a:t> (optional): The x-coordinates of the data points. It can be a sequence or an array-like object. If </a:t>
            </a:r>
            <a:r>
              <a:rPr kumimoji="0" lang="en-US" b="1" i="0" u="none" strike="noStrike" cap="none" normalizeH="0" baseline="0" dirty="0" smtClean="0">
                <a:ln>
                  <a:noFill/>
                </a:ln>
                <a:solidFill>
                  <a:srgbClr val="374151"/>
                </a:solidFill>
                <a:effectLst/>
                <a:latin typeface="Söhne Mono"/>
              </a:rPr>
              <a:t>x</a:t>
            </a:r>
            <a:r>
              <a:rPr kumimoji="0" lang="en-US" sz="1200" b="0" i="0" u="none" strike="noStrike" cap="none" normalizeH="0" baseline="0" dirty="0" smtClean="0">
                <a:ln>
                  <a:noFill/>
                </a:ln>
                <a:solidFill>
                  <a:srgbClr val="374151"/>
                </a:solidFill>
                <a:effectLst/>
                <a:latin typeface="Söhne"/>
              </a:rPr>
              <a:t> is not provided, the index of the </a:t>
            </a:r>
            <a:r>
              <a:rPr kumimoji="0" lang="en-US" b="1" i="0" u="none" strike="noStrike" cap="none" normalizeH="0" baseline="0" dirty="0" smtClean="0">
                <a:ln>
                  <a:noFill/>
                </a:ln>
                <a:solidFill>
                  <a:srgbClr val="374151"/>
                </a:solidFill>
                <a:effectLst/>
                <a:latin typeface="Söhne Mono"/>
              </a:rPr>
              <a:t>y</a:t>
            </a:r>
            <a:r>
              <a:rPr kumimoji="0" lang="en-US" sz="1200" b="0" i="0" u="none" strike="noStrike" cap="none" normalizeH="0" baseline="0" dirty="0" smtClean="0">
                <a:ln>
                  <a:noFill/>
                </a:ln>
                <a:solidFill>
                  <a:srgbClr val="374151"/>
                </a:solidFill>
                <a:effectLst/>
                <a:latin typeface="Söhne"/>
              </a:rPr>
              <a:t> values will be used as the x-coordinates.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y</a:t>
            </a:r>
            <a:r>
              <a:rPr kumimoji="0" lang="en-US" sz="1200" b="0" i="0" u="none" strike="noStrike" cap="none" normalizeH="0" baseline="0" dirty="0" smtClean="0">
                <a:ln>
                  <a:noFill/>
                </a:ln>
                <a:solidFill>
                  <a:srgbClr val="374151"/>
                </a:solidFill>
                <a:effectLst/>
                <a:latin typeface="Söhne"/>
              </a:rPr>
              <a:t>: The y-coordinates of the data points. It can be a sequence or an array-like object.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a:t>
            </a:r>
            <a:r>
              <a:rPr kumimoji="0" lang="en-US" b="1" i="0" u="none" strike="noStrike" cap="none" normalizeH="0" baseline="0" dirty="0" err="1" smtClean="0">
                <a:ln>
                  <a:noFill/>
                </a:ln>
                <a:solidFill>
                  <a:srgbClr val="374151"/>
                </a:solidFill>
                <a:effectLst/>
                <a:latin typeface="Söhne Mono"/>
              </a:rPr>
              <a:t>fmt</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(optional): The format string specifies the line style, marker style, and color of the plot. It is an optional parameter and can be used to customize the appearance of the plot. Here are some examples of format strings: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or </a:t>
            </a:r>
            <a:r>
              <a:rPr kumimoji="0" lang="en-US" b="1" i="0" u="none" strike="noStrike" cap="none" normalizeH="0" baseline="0" dirty="0" smtClean="0">
                <a:ln>
                  <a:noFill/>
                </a:ln>
                <a:solidFill>
                  <a:srgbClr val="374151"/>
                </a:solidFill>
                <a:effectLst/>
                <a:latin typeface="Söhne Mono"/>
              </a:rPr>
              <a:t>'solid'</a:t>
            </a:r>
            <a:r>
              <a:rPr kumimoji="0" lang="en-US" sz="1200" b="0" i="0" u="none" strike="noStrike" cap="none" normalizeH="0" baseline="0" dirty="0" smtClean="0">
                <a:ln>
                  <a:noFill/>
                </a:ln>
                <a:solidFill>
                  <a:srgbClr val="374151"/>
                </a:solidFill>
                <a:effectLst/>
                <a:latin typeface="Söhne"/>
              </a:rPr>
              <a:t>: Solid line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or </a:t>
            </a:r>
            <a:r>
              <a:rPr kumimoji="0" lang="en-US" b="1" i="0" u="none" strike="noStrike" cap="none" normalizeH="0" baseline="0" dirty="0" smtClean="0">
                <a:ln>
                  <a:noFill/>
                </a:ln>
                <a:solidFill>
                  <a:srgbClr val="374151"/>
                </a:solidFill>
                <a:effectLst/>
                <a:latin typeface="Söhne Mono"/>
              </a:rPr>
              <a:t>'dashed'</a:t>
            </a:r>
            <a:r>
              <a:rPr kumimoji="0" lang="en-US" sz="1200" b="0" i="0" u="none" strike="noStrike" cap="none" normalizeH="0" baseline="0" dirty="0" smtClean="0">
                <a:ln>
                  <a:noFill/>
                </a:ln>
                <a:solidFill>
                  <a:srgbClr val="374151"/>
                </a:solidFill>
                <a:effectLst/>
                <a:latin typeface="Söhne"/>
              </a:rPr>
              <a:t>: Dashed line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or </a:t>
            </a:r>
            <a:r>
              <a:rPr kumimoji="0" lang="en-US" b="1" i="0" u="none" strike="noStrike" cap="none" normalizeH="0" baseline="0" dirty="0" smtClean="0">
                <a:ln>
                  <a:noFill/>
                </a:ln>
                <a:solidFill>
                  <a:srgbClr val="374151"/>
                </a:solidFill>
                <a:effectLst/>
                <a:latin typeface="Söhne Mono"/>
              </a:rPr>
              <a:t>'dotted'</a:t>
            </a:r>
            <a:r>
              <a:rPr kumimoji="0" lang="en-US" sz="1200" b="0" i="0" u="none" strike="noStrike" cap="none" normalizeH="0" baseline="0" dirty="0" smtClean="0">
                <a:ln>
                  <a:noFill/>
                </a:ln>
                <a:solidFill>
                  <a:srgbClr val="374151"/>
                </a:solidFill>
                <a:effectLst/>
                <a:latin typeface="Söhne"/>
              </a:rPr>
              <a:t>: Dotted line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or </a:t>
            </a:r>
            <a:r>
              <a:rPr kumimoji="0" lang="en-US" b="1" i="0" u="none" strike="noStrike" cap="none" normalizeH="0" baseline="0" dirty="0" smtClean="0">
                <a:ln>
                  <a:noFill/>
                </a:ln>
                <a:solidFill>
                  <a:srgbClr val="374151"/>
                </a:solidFill>
                <a:effectLst/>
                <a:latin typeface="Söhne Mono"/>
              </a:rPr>
              <a:t>'</a:t>
            </a:r>
            <a:r>
              <a:rPr kumimoji="0" lang="en-US" b="1" i="0" u="none" strike="noStrike" cap="none" normalizeH="0" baseline="0" dirty="0" err="1" smtClean="0">
                <a:ln>
                  <a:noFill/>
                </a:ln>
                <a:solidFill>
                  <a:srgbClr val="374151"/>
                </a:solidFill>
                <a:effectLst/>
                <a:latin typeface="Söhne Mono"/>
              </a:rPr>
              <a:t>dashdot</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Dash-dot line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Point markers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data</a:t>
            </a:r>
            <a:r>
              <a:rPr kumimoji="0" lang="en-US" sz="1200" b="0" i="0" u="none" strike="noStrike" cap="none" normalizeH="0" baseline="0" dirty="0" smtClean="0">
                <a:ln>
                  <a:noFill/>
                </a:ln>
                <a:solidFill>
                  <a:srgbClr val="374151"/>
                </a:solidFill>
                <a:effectLst/>
                <a:latin typeface="Söhne"/>
              </a:rPr>
              <a:t> (optional): If specified, it overrides the default behavior of retrieving the data from the current axes. It can be a dictionary, Pandas </a:t>
            </a:r>
            <a:r>
              <a:rPr kumimoji="0" lang="en-US" sz="1200" b="0" i="0" u="none" strike="noStrike" cap="none" normalizeH="0" baseline="0" dirty="0" err="1" smtClean="0">
                <a:ln>
                  <a:noFill/>
                </a:ln>
                <a:solidFill>
                  <a:srgbClr val="374151"/>
                </a:solidFill>
                <a:effectLst/>
                <a:latin typeface="Söhne"/>
              </a:rPr>
              <a:t>DataFrame</a:t>
            </a:r>
            <a:r>
              <a:rPr kumimoji="0" lang="en-US" sz="1200" b="0" i="0" u="none" strike="noStrike" cap="none" normalizeH="0" baseline="0" dirty="0" smtClean="0">
                <a:ln>
                  <a:noFill/>
                </a:ln>
                <a:solidFill>
                  <a:srgbClr val="374151"/>
                </a:solidFill>
                <a:effectLst/>
                <a:latin typeface="Söhne"/>
              </a:rPr>
              <a:t>, or other data structure containing the x and y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a:t>
            </a:r>
            <a:r>
              <a:rPr kumimoji="0" lang="en-US" b="1" i="0" u="none" strike="noStrike" cap="none" normalizeH="0" baseline="0" dirty="0" err="1" smtClean="0">
                <a:ln>
                  <a:noFill/>
                </a:ln>
                <a:solidFill>
                  <a:srgbClr val="374151"/>
                </a:solidFill>
                <a:effectLst/>
                <a:latin typeface="Söhne Mono"/>
              </a:rPr>
              <a:t>kwargs</a:t>
            </a:r>
            <a:r>
              <a:rPr kumimoji="0" lang="en-US" sz="1200" b="0" i="0" u="none" strike="noStrike" cap="none" normalizeH="0" baseline="0" dirty="0" smtClean="0">
                <a:ln>
                  <a:noFill/>
                </a:ln>
                <a:solidFill>
                  <a:srgbClr val="374151"/>
                </a:solidFill>
                <a:effectLst/>
                <a:latin typeface="Söhne"/>
              </a:rPr>
              <a:t> (optional): Additional keyword arguments can be provided to customize the plot. Some commonly used </a:t>
            </a:r>
            <a:r>
              <a:rPr kumimoji="0" lang="en-US" sz="1200" b="0" i="0" u="none" strike="noStrike" cap="none" normalizeH="0" baseline="0" dirty="0" err="1" smtClean="0">
                <a:ln>
                  <a:noFill/>
                </a:ln>
                <a:solidFill>
                  <a:srgbClr val="374151"/>
                </a:solidFill>
                <a:effectLst/>
                <a:latin typeface="Söhne"/>
              </a:rPr>
              <a:t>kwargs</a:t>
            </a:r>
            <a:r>
              <a:rPr kumimoji="0" lang="en-US" sz="1200" b="0" i="0" u="none" strike="noStrike" cap="none" normalizeH="0" baseline="0" dirty="0" smtClean="0">
                <a:ln>
                  <a:noFill/>
                </a:ln>
                <a:solidFill>
                  <a:srgbClr val="374151"/>
                </a:solidFill>
                <a:effectLst/>
                <a:latin typeface="Söhne"/>
              </a:rPr>
              <a:t> include: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color</a:t>
            </a:r>
            <a:r>
              <a:rPr kumimoji="0" lang="en-US" sz="1200" b="0" i="0" u="none" strike="noStrike" cap="none" normalizeH="0" baseline="0" dirty="0" smtClean="0">
                <a:ln>
                  <a:noFill/>
                </a:ln>
                <a:solidFill>
                  <a:srgbClr val="374151"/>
                </a:solidFill>
                <a:effectLst/>
                <a:latin typeface="Söhne"/>
              </a:rPr>
              <a:t>: Specifies the color of the line or markers. It can be a named color, a hex color code, or a tuple of RGB values.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err="1" smtClean="0">
                <a:ln>
                  <a:noFill/>
                </a:ln>
                <a:solidFill>
                  <a:srgbClr val="374151"/>
                </a:solidFill>
                <a:effectLst/>
                <a:latin typeface="Söhne Mono"/>
              </a:rPr>
              <a:t>linewidth</a:t>
            </a:r>
            <a:r>
              <a:rPr kumimoji="0" lang="en-US" sz="1200" b="0" i="0" u="none" strike="noStrike" cap="none" normalizeH="0" baseline="0" dirty="0" smtClean="0">
                <a:ln>
                  <a:noFill/>
                </a:ln>
                <a:solidFill>
                  <a:srgbClr val="374151"/>
                </a:solidFill>
                <a:effectLst/>
                <a:latin typeface="Söhne"/>
              </a:rPr>
              <a:t> (or </a:t>
            </a:r>
            <a:r>
              <a:rPr kumimoji="0" lang="en-US" b="1" i="0" u="none" strike="noStrike" cap="none" normalizeH="0" baseline="0" dirty="0" err="1" smtClean="0">
                <a:ln>
                  <a:noFill/>
                </a:ln>
                <a:solidFill>
                  <a:srgbClr val="374151"/>
                </a:solidFill>
                <a:effectLst/>
                <a:latin typeface="Söhne Mono"/>
              </a:rPr>
              <a:t>lw</a:t>
            </a:r>
            <a:r>
              <a:rPr kumimoji="0" lang="en-US" sz="1200" b="0" i="0" u="none" strike="noStrike" cap="none" normalizeH="0" baseline="0" dirty="0" smtClean="0">
                <a:ln>
                  <a:noFill/>
                </a:ln>
                <a:solidFill>
                  <a:srgbClr val="374151"/>
                </a:solidFill>
                <a:effectLst/>
                <a:latin typeface="Söhne"/>
              </a:rPr>
              <a:t>): Specifies the line width in points.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marker</a:t>
            </a:r>
            <a:r>
              <a:rPr kumimoji="0" lang="en-US" sz="1200" b="0" i="0" u="none" strike="noStrike" cap="none" normalizeH="0" baseline="0" dirty="0" smtClean="0">
                <a:ln>
                  <a:noFill/>
                </a:ln>
                <a:solidFill>
                  <a:srgbClr val="374151"/>
                </a:solidFill>
                <a:effectLst/>
                <a:latin typeface="Söhne"/>
              </a:rPr>
              <a:t>: Specifies the marker style for scatter plots.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err="1" smtClean="0">
                <a:ln>
                  <a:noFill/>
                </a:ln>
                <a:solidFill>
                  <a:srgbClr val="374151"/>
                </a:solidFill>
                <a:effectLst/>
                <a:latin typeface="Söhne Mono"/>
              </a:rPr>
              <a:t>markersize</a:t>
            </a:r>
            <a:r>
              <a:rPr kumimoji="0" lang="en-US" sz="1200" b="0" i="0" u="none" strike="noStrike" cap="none" normalizeH="0" baseline="0" dirty="0" smtClean="0">
                <a:ln>
                  <a:noFill/>
                </a:ln>
                <a:solidFill>
                  <a:srgbClr val="374151"/>
                </a:solidFill>
                <a:effectLst/>
                <a:latin typeface="Söhne"/>
              </a:rPr>
              <a:t>: Specifies the size of markers in points.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label</a:t>
            </a:r>
            <a:r>
              <a:rPr kumimoji="0" lang="en-US" sz="1200" b="0" i="0" u="none" strike="noStrike" cap="none" normalizeH="0" baseline="0" dirty="0" smtClean="0">
                <a:ln>
                  <a:noFill/>
                </a:ln>
                <a:solidFill>
                  <a:srgbClr val="374151"/>
                </a:solidFill>
                <a:effectLst/>
                <a:latin typeface="Söhne"/>
              </a:rPr>
              <a:t>: Specifies the label for the plot, which can be used for creating a legend.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74151"/>
                </a:solidFill>
                <a:effectLst/>
                <a:latin typeface="Söhne Mono"/>
              </a:rPr>
              <a:t>alpha</a:t>
            </a:r>
            <a:r>
              <a:rPr kumimoji="0" lang="en-US" sz="1200" b="0" i="0" u="none" strike="noStrike" cap="none" normalizeH="0" baseline="0" dirty="0" smtClean="0">
                <a:ln>
                  <a:noFill/>
                </a:ln>
                <a:solidFill>
                  <a:srgbClr val="374151"/>
                </a:solidFill>
                <a:effectLst/>
                <a:latin typeface="Söhne"/>
              </a:rPr>
              <a:t>: Specifies the transparency of the plot, ranging from 0 (completely transparent) to 1 (completely opaque).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4157134" y="1709580"/>
            <a:ext cx="4572000" cy="1169551"/>
          </a:xfrm>
          <a:prstGeom prst="rect">
            <a:avLst/>
          </a:prstGeom>
        </p:spPr>
        <p:txBody>
          <a:bodyPr>
            <a:spAutoFit/>
          </a:bodyPr>
          <a:lstStyle/>
          <a:p>
            <a:pPr marL="457200" lvl="1" eaLnBrk="0" fontAlgn="base" hangingPunct="0">
              <a:spcBef>
                <a:spcPct val="0"/>
              </a:spcBef>
              <a:spcAft>
                <a:spcPct val="0"/>
              </a:spcAft>
              <a:buClrTx/>
              <a:buFontTx/>
              <a:buChar char="•"/>
            </a:pPr>
            <a:r>
              <a:rPr lang="en-US" b="1" dirty="0">
                <a:solidFill>
                  <a:srgbClr val="374151"/>
                </a:solidFill>
                <a:latin typeface="Söhne Mono"/>
              </a:rPr>
              <a:t>'o'</a:t>
            </a:r>
            <a:r>
              <a:rPr lang="en-US" sz="1200" dirty="0">
                <a:solidFill>
                  <a:srgbClr val="374151"/>
                </a:solidFill>
                <a:latin typeface="Söhne"/>
              </a:rPr>
              <a:t>: Circle markers</a:t>
            </a:r>
          </a:p>
          <a:p>
            <a:pPr marL="457200" lvl="1" eaLnBrk="0" fontAlgn="base" hangingPunct="0">
              <a:spcBef>
                <a:spcPct val="0"/>
              </a:spcBef>
              <a:spcAft>
                <a:spcPct val="0"/>
              </a:spcAft>
              <a:buClrTx/>
              <a:buFontTx/>
              <a:buChar char="•"/>
            </a:pPr>
            <a:r>
              <a:rPr lang="en-US" b="1" dirty="0">
                <a:solidFill>
                  <a:srgbClr val="374151"/>
                </a:solidFill>
                <a:latin typeface="Söhne Mono"/>
              </a:rPr>
              <a:t>'s'</a:t>
            </a:r>
            <a:r>
              <a:rPr lang="en-US" sz="1200" dirty="0">
                <a:solidFill>
                  <a:srgbClr val="374151"/>
                </a:solidFill>
                <a:latin typeface="Söhne"/>
              </a:rPr>
              <a:t>: Square markers</a:t>
            </a:r>
          </a:p>
          <a:p>
            <a:pPr marL="457200" lvl="1" eaLnBrk="0" fontAlgn="base" hangingPunct="0">
              <a:spcBef>
                <a:spcPct val="0"/>
              </a:spcBef>
              <a:spcAft>
                <a:spcPct val="0"/>
              </a:spcAft>
              <a:buClrTx/>
              <a:buFontTx/>
              <a:buChar char="•"/>
            </a:pPr>
            <a:r>
              <a:rPr lang="en-US" b="1" dirty="0">
                <a:solidFill>
                  <a:srgbClr val="374151"/>
                </a:solidFill>
                <a:latin typeface="Söhne Mono"/>
              </a:rPr>
              <a:t>'r'</a:t>
            </a:r>
            <a:r>
              <a:rPr lang="en-US" sz="1200" dirty="0">
                <a:solidFill>
                  <a:srgbClr val="374151"/>
                </a:solidFill>
                <a:latin typeface="Söhne"/>
              </a:rPr>
              <a:t>: Red color</a:t>
            </a:r>
          </a:p>
          <a:p>
            <a:pPr marL="457200" lvl="1" eaLnBrk="0" fontAlgn="base" hangingPunct="0">
              <a:spcBef>
                <a:spcPct val="0"/>
              </a:spcBef>
              <a:spcAft>
                <a:spcPct val="0"/>
              </a:spcAft>
              <a:buClrTx/>
              <a:buFontTx/>
              <a:buChar char="•"/>
            </a:pPr>
            <a:r>
              <a:rPr lang="en-US" b="1" dirty="0">
                <a:solidFill>
                  <a:srgbClr val="374151"/>
                </a:solidFill>
                <a:latin typeface="Söhne Mono"/>
              </a:rPr>
              <a:t>'g'</a:t>
            </a:r>
            <a:r>
              <a:rPr lang="en-US" sz="1200" dirty="0">
                <a:solidFill>
                  <a:srgbClr val="374151"/>
                </a:solidFill>
                <a:latin typeface="Söhne"/>
              </a:rPr>
              <a:t>: Green color</a:t>
            </a:r>
          </a:p>
          <a:p>
            <a:pPr marL="457200" lvl="1" eaLnBrk="0" fontAlgn="base" hangingPunct="0">
              <a:spcBef>
                <a:spcPct val="0"/>
              </a:spcBef>
              <a:spcAft>
                <a:spcPct val="0"/>
              </a:spcAft>
              <a:buClrTx/>
              <a:buFontTx/>
              <a:buChar char="•"/>
            </a:pPr>
            <a:r>
              <a:rPr lang="en-US" b="1" dirty="0">
                <a:solidFill>
                  <a:srgbClr val="374151"/>
                </a:solidFill>
                <a:latin typeface="Söhne Mono"/>
              </a:rPr>
              <a:t>'b'</a:t>
            </a:r>
            <a:r>
              <a:rPr lang="en-US" sz="1200" dirty="0">
                <a:solidFill>
                  <a:srgbClr val="374151"/>
                </a:solidFill>
                <a:latin typeface="Söhne"/>
              </a:rPr>
              <a:t>: Blue color</a:t>
            </a:r>
          </a:p>
        </p:txBody>
      </p:sp>
    </p:spTree>
    <p:extLst>
      <p:ext uri="{BB962C8B-B14F-4D97-AF65-F5344CB8AC3E}">
        <p14:creationId xmlns:p14="http://schemas.microsoft.com/office/powerpoint/2010/main" val="2606339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Line Chart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9" name="Rectangle 8"/>
          <p:cNvSpPr/>
          <p:nvPr/>
        </p:nvSpPr>
        <p:spPr>
          <a:xfrm>
            <a:off x="1105593" y="926903"/>
            <a:ext cx="4572000" cy="3754874"/>
          </a:xfrm>
          <a:prstGeom prst="rect">
            <a:avLst/>
          </a:prstGeom>
        </p:spPr>
        <p:txBody>
          <a:bodyPr>
            <a:spAutoFit/>
          </a:bodyPr>
          <a:lstStyle/>
          <a:p>
            <a:r>
              <a:rPr lang="en-US" dirty="0"/>
              <a:t>import </a:t>
            </a:r>
            <a:r>
              <a:rPr lang="en-US" dirty="0" err="1"/>
              <a:t>matplotlib.pyplot</a:t>
            </a:r>
            <a:r>
              <a:rPr lang="en-US" dirty="0"/>
              <a:t> as </a:t>
            </a:r>
            <a:r>
              <a:rPr lang="en-US" dirty="0" err="1"/>
              <a:t>plt</a:t>
            </a:r>
            <a:endParaRPr lang="en-US" dirty="0"/>
          </a:p>
          <a:p>
            <a:endParaRPr lang="en-US" dirty="0"/>
          </a:p>
          <a:p>
            <a:r>
              <a:rPr lang="en-US" dirty="0"/>
              <a:t># Sample data</a:t>
            </a:r>
          </a:p>
          <a:p>
            <a:r>
              <a:rPr lang="en-US" dirty="0"/>
              <a:t>x = [1, 2, 3, 4, 5]  # x-axis values (time)</a:t>
            </a:r>
          </a:p>
          <a:p>
            <a:r>
              <a:rPr lang="en-US" dirty="0"/>
              <a:t>y = [10, 15, 7, 12, 9]  # y-axis values (dependent variable)</a:t>
            </a:r>
          </a:p>
          <a:p>
            <a:endParaRPr lang="en-US" dirty="0"/>
          </a:p>
          <a:p>
            <a:r>
              <a:rPr lang="en-US" dirty="0"/>
              <a:t># Create a line chart</a:t>
            </a:r>
          </a:p>
          <a:p>
            <a:r>
              <a:rPr lang="en-US" dirty="0" err="1"/>
              <a:t>plt.plot</a:t>
            </a:r>
            <a:r>
              <a:rPr lang="en-US" dirty="0"/>
              <a:t>(x, y, marker='o')</a:t>
            </a:r>
          </a:p>
          <a:p>
            <a:endParaRPr lang="en-US" dirty="0"/>
          </a:p>
          <a:p>
            <a:r>
              <a:rPr lang="en-US" dirty="0"/>
              <a:t># Customize the chart</a:t>
            </a:r>
          </a:p>
          <a:p>
            <a:r>
              <a:rPr lang="en-US" dirty="0" err="1"/>
              <a:t>plt.title</a:t>
            </a:r>
            <a:r>
              <a:rPr lang="en-US" dirty="0"/>
              <a:t>("Line Chart Example")</a:t>
            </a:r>
          </a:p>
          <a:p>
            <a:r>
              <a:rPr lang="en-US" dirty="0" err="1"/>
              <a:t>plt.xlabel</a:t>
            </a:r>
            <a:r>
              <a:rPr lang="en-US" dirty="0"/>
              <a:t>("Time")</a:t>
            </a:r>
          </a:p>
          <a:p>
            <a:r>
              <a:rPr lang="en-US" dirty="0" err="1"/>
              <a:t>plt.ylabel</a:t>
            </a:r>
            <a:r>
              <a:rPr lang="en-US" dirty="0"/>
              <a:t>("Dependent Variable")</a:t>
            </a:r>
          </a:p>
          <a:p>
            <a:endParaRPr lang="en-US" dirty="0"/>
          </a:p>
          <a:p>
            <a:r>
              <a:rPr lang="en-US" dirty="0"/>
              <a:t># Display the chart</a:t>
            </a:r>
          </a:p>
          <a:p>
            <a:r>
              <a:rPr lang="en-US" dirty="0" err="1"/>
              <a:t>plt.show</a:t>
            </a:r>
            <a:r>
              <a:rPr lang="en-US" dirty="0"/>
              <a:t>()</a:t>
            </a:r>
          </a:p>
        </p:txBody>
      </p:sp>
      <p:pic>
        <p:nvPicPr>
          <p:cNvPr id="10" name="Picture 9"/>
          <p:cNvPicPr>
            <a:picLocks noChangeAspect="1"/>
          </p:cNvPicPr>
          <p:nvPr/>
        </p:nvPicPr>
        <p:blipFill>
          <a:blip r:embed="rId3"/>
          <a:stretch>
            <a:fillRect/>
          </a:stretch>
        </p:blipFill>
        <p:spPr>
          <a:xfrm>
            <a:off x="5430982" y="1923126"/>
            <a:ext cx="3363884" cy="2442526"/>
          </a:xfrm>
          <a:prstGeom prst="rect">
            <a:avLst/>
          </a:prstGeom>
        </p:spPr>
      </p:pic>
    </p:spTree>
    <p:extLst>
      <p:ext uri="{BB962C8B-B14F-4D97-AF65-F5344CB8AC3E}">
        <p14:creationId xmlns:p14="http://schemas.microsoft.com/office/powerpoint/2010/main" val="1256025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Line </a:t>
            </a:r>
            <a:r>
              <a:rPr lang="en-US" sz="3200" dirty="0" smtClean="0"/>
              <a:t>Chart – Pros and Cons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9" name="Rectangle 8"/>
          <p:cNvSpPr/>
          <p:nvPr/>
        </p:nvSpPr>
        <p:spPr>
          <a:xfrm>
            <a:off x="17725" y="885339"/>
            <a:ext cx="4572000" cy="1169551"/>
          </a:xfrm>
          <a:prstGeom prst="rect">
            <a:avLst/>
          </a:prstGeom>
        </p:spPr>
        <p:txBody>
          <a:bodyPr>
            <a:spAutoFit/>
          </a:bodyPr>
          <a:lstStyle/>
          <a:p>
            <a:r>
              <a:rPr lang="en-US" dirty="0" smtClean="0"/>
              <a:t>Pros</a:t>
            </a:r>
          </a:p>
          <a:p>
            <a:r>
              <a:rPr lang="en-US" dirty="0" smtClean="0"/>
              <a:t>Trend Visualization</a:t>
            </a:r>
            <a:endParaRPr lang="en-US" dirty="0"/>
          </a:p>
          <a:p>
            <a:r>
              <a:rPr lang="en-US" dirty="0"/>
              <a:t>Relationship Between </a:t>
            </a:r>
            <a:r>
              <a:rPr lang="en-US" dirty="0" smtClean="0"/>
              <a:t>Variables</a:t>
            </a:r>
          </a:p>
          <a:p>
            <a:r>
              <a:rPr lang="en-US" dirty="0" smtClean="0"/>
              <a:t>Simplicity </a:t>
            </a:r>
            <a:r>
              <a:rPr lang="en-US" dirty="0"/>
              <a:t>and </a:t>
            </a:r>
            <a:r>
              <a:rPr lang="en-US" dirty="0" smtClean="0"/>
              <a:t>Clarity</a:t>
            </a:r>
            <a:endParaRPr lang="en-US" dirty="0"/>
          </a:p>
          <a:p>
            <a:r>
              <a:rPr lang="en-US" dirty="0"/>
              <a:t>Compact and Space </a:t>
            </a:r>
            <a:r>
              <a:rPr lang="en-US" dirty="0" smtClean="0"/>
              <a:t>Efficient</a:t>
            </a:r>
            <a:endParaRPr lang="en-US" dirty="0"/>
          </a:p>
        </p:txBody>
      </p:sp>
      <p:sp>
        <p:nvSpPr>
          <p:cNvPr id="13" name="Rectangle 12"/>
          <p:cNvSpPr/>
          <p:nvPr/>
        </p:nvSpPr>
        <p:spPr>
          <a:xfrm>
            <a:off x="17725" y="2162465"/>
            <a:ext cx="4572000" cy="1169551"/>
          </a:xfrm>
          <a:prstGeom prst="rect">
            <a:avLst/>
          </a:prstGeom>
        </p:spPr>
        <p:txBody>
          <a:bodyPr>
            <a:spAutoFit/>
          </a:bodyPr>
          <a:lstStyle/>
          <a:p>
            <a:r>
              <a:rPr lang="en-US" dirty="0" smtClean="0"/>
              <a:t>Cons</a:t>
            </a:r>
          </a:p>
          <a:p>
            <a:r>
              <a:rPr lang="en-US" dirty="0"/>
              <a:t>Limited Representation of Categorical </a:t>
            </a:r>
            <a:r>
              <a:rPr lang="en-US" dirty="0" smtClean="0"/>
              <a:t>Data</a:t>
            </a:r>
          </a:p>
          <a:p>
            <a:r>
              <a:rPr lang="en-US" dirty="0"/>
              <a:t>Lack of Precision for Small </a:t>
            </a:r>
            <a:r>
              <a:rPr lang="en-US" dirty="0" smtClean="0"/>
              <a:t>Datasets</a:t>
            </a:r>
          </a:p>
          <a:p>
            <a:r>
              <a:rPr lang="en-US" dirty="0"/>
              <a:t>Ignoring Data </a:t>
            </a:r>
            <a:r>
              <a:rPr lang="en-US" dirty="0" smtClean="0"/>
              <a:t>Distribution</a:t>
            </a:r>
          </a:p>
          <a:p>
            <a:r>
              <a:rPr lang="en-US" dirty="0"/>
              <a:t>Overemphasis on Long-Term </a:t>
            </a:r>
            <a:r>
              <a:rPr lang="en-US" dirty="0" smtClean="0"/>
              <a:t>Trends</a:t>
            </a:r>
          </a:p>
        </p:txBody>
      </p:sp>
    </p:spTree>
    <p:extLst>
      <p:ext uri="{BB962C8B-B14F-4D97-AF65-F5344CB8AC3E}">
        <p14:creationId xmlns:p14="http://schemas.microsoft.com/office/powerpoint/2010/main" val="2124311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Bar Plot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Content Placeholder 1"/>
          <p:cNvSpPr>
            <a:spLocks noGrp="1"/>
          </p:cNvSpPr>
          <p:nvPr>
            <p:ph idx="1"/>
          </p:nvPr>
        </p:nvSpPr>
        <p:spPr>
          <a:xfrm>
            <a:off x="200084" y="777764"/>
            <a:ext cx="8520600" cy="3354000"/>
          </a:xfrm>
        </p:spPr>
        <p:txBody>
          <a:bodyPr/>
          <a:lstStyle/>
          <a:p>
            <a:r>
              <a:rPr lang="en-US" dirty="0"/>
              <a:t>A bar plot or bar chart is a graph that represents the category of data with rectangular bars with lengths and heights that is proportional to the values which they represent. The bar plots can be plotted horizontally or vertically. A bar chart describes the comparisons between the discrete categories. One of the axis of the plot represents the specific categories being compared, while the other axis represents the measured values corresponding to those categories.</a:t>
            </a:r>
          </a:p>
        </p:txBody>
      </p:sp>
      <p:pic>
        <p:nvPicPr>
          <p:cNvPr id="3" name="Picture 2"/>
          <p:cNvPicPr>
            <a:picLocks noChangeAspect="1"/>
          </p:cNvPicPr>
          <p:nvPr/>
        </p:nvPicPr>
        <p:blipFill>
          <a:blip r:embed="rId3"/>
          <a:stretch>
            <a:fillRect/>
          </a:stretch>
        </p:blipFill>
        <p:spPr>
          <a:xfrm>
            <a:off x="4792893" y="2725314"/>
            <a:ext cx="3661151" cy="2112692"/>
          </a:xfrm>
          <a:prstGeom prst="rect">
            <a:avLst/>
          </a:prstGeom>
        </p:spPr>
      </p:pic>
    </p:spTree>
    <p:extLst>
      <p:ext uri="{BB962C8B-B14F-4D97-AF65-F5344CB8AC3E}">
        <p14:creationId xmlns:p14="http://schemas.microsoft.com/office/powerpoint/2010/main" val="149613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Bar </a:t>
            </a:r>
            <a:r>
              <a:rPr lang="en-US" sz="3200" dirty="0"/>
              <a:t>Plot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10" name="Rectangle 9"/>
          <p:cNvSpPr/>
          <p:nvPr/>
        </p:nvSpPr>
        <p:spPr>
          <a:xfrm>
            <a:off x="5004261" y="928675"/>
            <a:ext cx="4572000" cy="3754874"/>
          </a:xfrm>
          <a:prstGeom prst="rect">
            <a:avLst/>
          </a:prstGeom>
        </p:spPr>
        <p:txBody>
          <a:bodyPr>
            <a:spAutoFit/>
          </a:bodyPr>
          <a:lstStyle/>
          <a:p>
            <a:r>
              <a:rPr lang="en-US" dirty="0"/>
              <a:t>import </a:t>
            </a:r>
            <a:r>
              <a:rPr lang="en-US" dirty="0" err="1"/>
              <a:t>matplotlib.pyplot</a:t>
            </a:r>
            <a:r>
              <a:rPr lang="en-US" dirty="0"/>
              <a:t> as </a:t>
            </a:r>
            <a:r>
              <a:rPr lang="en-US" dirty="0" err="1"/>
              <a:t>plt</a:t>
            </a:r>
            <a:endParaRPr lang="en-US" dirty="0"/>
          </a:p>
          <a:p>
            <a:endParaRPr lang="en-US" dirty="0"/>
          </a:p>
          <a:p>
            <a:r>
              <a:rPr lang="en-US" dirty="0"/>
              <a:t># Sample data</a:t>
            </a:r>
          </a:p>
          <a:p>
            <a:r>
              <a:rPr lang="en-US" dirty="0"/>
              <a:t>categories = ['Category 1', 'Category 2', 'Category 3', 'Category 4']</a:t>
            </a:r>
          </a:p>
          <a:p>
            <a:r>
              <a:rPr lang="en-US" dirty="0"/>
              <a:t>values = [25, 40, 30, 50]</a:t>
            </a:r>
          </a:p>
          <a:p>
            <a:endParaRPr lang="en-US" dirty="0"/>
          </a:p>
          <a:p>
            <a:r>
              <a:rPr lang="en-US" dirty="0"/>
              <a:t># Create a bar plot</a:t>
            </a:r>
          </a:p>
          <a:p>
            <a:r>
              <a:rPr lang="en-US" dirty="0" err="1" smtClean="0"/>
              <a:t>plt.barh</a:t>
            </a:r>
            <a:r>
              <a:rPr lang="en-US" dirty="0" smtClean="0"/>
              <a:t>(categories</a:t>
            </a:r>
            <a:r>
              <a:rPr lang="en-US" dirty="0"/>
              <a:t>, values</a:t>
            </a:r>
            <a:r>
              <a:rPr lang="en-US" dirty="0" smtClean="0"/>
              <a:t>)</a:t>
            </a:r>
          </a:p>
          <a:p>
            <a:endParaRPr lang="en-US" dirty="0"/>
          </a:p>
          <a:p>
            <a:r>
              <a:rPr lang="en-US" dirty="0"/>
              <a:t># Customize the plot</a:t>
            </a:r>
          </a:p>
          <a:p>
            <a:r>
              <a:rPr lang="en-US" dirty="0" err="1"/>
              <a:t>plt.title</a:t>
            </a:r>
            <a:r>
              <a:rPr lang="en-US" dirty="0"/>
              <a:t>("Bar Plot Example")</a:t>
            </a:r>
          </a:p>
          <a:p>
            <a:r>
              <a:rPr lang="en-US" dirty="0" err="1"/>
              <a:t>plt.xlabel</a:t>
            </a:r>
            <a:r>
              <a:rPr lang="en-US" dirty="0"/>
              <a:t>("Categories")</a:t>
            </a:r>
          </a:p>
          <a:p>
            <a:r>
              <a:rPr lang="en-US" dirty="0" err="1"/>
              <a:t>plt.ylabel</a:t>
            </a:r>
            <a:r>
              <a:rPr lang="en-US" dirty="0"/>
              <a:t>("Values")</a:t>
            </a:r>
          </a:p>
          <a:p>
            <a:endParaRPr lang="en-US" dirty="0"/>
          </a:p>
          <a:p>
            <a:r>
              <a:rPr lang="en-US" dirty="0"/>
              <a:t># Display the plot</a:t>
            </a:r>
          </a:p>
          <a:p>
            <a:r>
              <a:rPr lang="en-US" dirty="0" err="1"/>
              <a:t>plt.show</a:t>
            </a:r>
            <a:r>
              <a:rPr lang="en-US" dirty="0"/>
              <a:t>()</a:t>
            </a:r>
          </a:p>
        </p:txBody>
      </p:sp>
      <p:sp>
        <p:nvSpPr>
          <p:cNvPr id="18" name="Rectangle 17"/>
          <p:cNvSpPr/>
          <p:nvPr/>
        </p:nvSpPr>
        <p:spPr>
          <a:xfrm>
            <a:off x="725978" y="1079303"/>
            <a:ext cx="4572000" cy="3754874"/>
          </a:xfrm>
          <a:prstGeom prst="rect">
            <a:avLst/>
          </a:prstGeom>
        </p:spPr>
        <p:txBody>
          <a:bodyPr>
            <a:spAutoFit/>
          </a:bodyPr>
          <a:lstStyle/>
          <a:p>
            <a:r>
              <a:rPr lang="en-US" dirty="0"/>
              <a:t>import </a:t>
            </a:r>
            <a:r>
              <a:rPr lang="en-US" dirty="0" err="1"/>
              <a:t>matplotlib.pyplot</a:t>
            </a:r>
            <a:r>
              <a:rPr lang="en-US" dirty="0"/>
              <a:t> as </a:t>
            </a:r>
            <a:r>
              <a:rPr lang="en-US" dirty="0" err="1"/>
              <a:t>plt</a:t>
            </a:r>
            <a:endParaRPr lang="en-US" dirty="0"/>
          </a:p>
          <a:p>
            <a:endParaRPr lang="en-US" dirty="0"/>
          </a:p>
          <a:p>
            <a:r>
              <a:rPr lang="en-US" dirty="0"/>
              <a:t># Sample data</a:t>
            </a:r>
          </a:p>
          <a:p>
            <a:r>
              <a:rPr lang="en-US" dirty="0"/>
              <a:t>categories = ['Category 1', 'Category 2', 'Category 3', 'Category 4']</a:t>
            </a:r>
          </a:p>
          <a:p>
            <a:r>
              <a:rPr lang="en-US" dirty="0"/>
              <a:t>values = [25, 40, 30, 50]</a:t>
            </a:r>
          </a:p>
          <a:p>
            <a:endParaRPr lang="en-US" dirty="0"/>
          </a:p>
          <a:p>
            <a:r>
              <a:rPr lang="en-US" dirty="0"/>
              <a:t># Create a bar plot</a:t>
            </a:r>
          </a:p>
          <a:p>
            <a:r>
              <a:rPr lang="en-US" dirty="0" err="1"/>
              <a:t>plt.bar</a:t>
            </a:r>
            <a:r>
              <a:rPr lang="en-US" dirty="0"/>
              <a:t>(categories, values</a:t>
            </a:r>
            <a:r>
              <a:rPr lang="en-US" dirty="0" smtClean="0"/>
              <a:t>)</a:t>
            </a:r>
          </a:p>
          <a:p>
            <a:endParaRPr lang="en-US" dirty="0"/>
          </a:p>
          <a:p>
            <a:r>
              <a:rPr lang="en-US" dirty="0"/>
              <a:t># Customize the plot</a:t>
            </a:r>
          </a:p>
          <a:p>
            <a:r>
              <a:rPr lang="en-US" dirty="0" err="1"/>
              <a:t>plt.title</a:t>
            </a:r>
            <a:r>
              <a:rPr lang="en-US" dirty="0"/>
              <a:t>("Bar Plot Example")</a:t>
            </a:r>
          </a:p>
          <a:p>
            <a:r>
              <a:rPr lang="en-US" dirty="0" err="1"/>
              <a:t>plt.xlabel</a:t>
            </a:r>
            <a:r>
              <a:rPr lang="en-US" dirty="0"/>
              <a:t>("Categories")</a:t>
            </a:r>
          </a:p>
          <a:p>
            <a:r>
              <a:rPr lang="en-US" dirty="0" err="1"/>
              <a:t>plt.ylabel</a:t>
            </a:r>
            <a:r>
              <a:rPr lang="en-US" dirty="0"/>
              <a:t>("Values")</a:t>
            </a:r>
          </a:p>
          <a:p>
            <a:endParaRPr lang="en-US" dirty="0"/>
          </a:p>
          <a:p>
            <a:r>
              <a:rPr lang="en-US" dirty="0"/>
              <a:t># Display the plot</a:t>
            </a:r>
          </a:p>
          <a:p>
            <a:r>
              <a:rPr lang="en-US" dirty="0" err="1"/>
              <a:t>plt.show</a:t>
            </a:r>
            <a:r>
              <a:rPr lang="en-US" dirty="0"/>
              <a:t>()</a:t>
            </a:r>
          </a:p>
        </p:txBody>
      </p:sp>
      <p:pic>
        <p:nvPicPr>
          <p:cNvPr id="11" name="Picture 10"/>
          <p:cNvPicPr>
            <a:picLocks noChangeAspect="1"/>
          </p:cNvPicPr>
          <p:nvPr/>
        </p:nvPicPr>
        <p:blipFill>
          <a:blip r:embed="rId3"/>
          <a:stretch>
            <a:fillRect/>
          </a:stretch>
        </p:blipFill>
        <p:spPr>
          <a:xfrm>
            <a:off x="3011286" y="3082031"/>
            <a:ext cx="1645814" cy="1348653"/>
          </a:xfrm>
          <a:prstGeom prst="rect">
            <a:avLst/>
          </a:prstGeom>
        </p:spPr>
      </p:pic>
      <p:pic>
        <p:nvPicPr>
          <p:cNvPr id="13" name="Picture 12"/>
          <p:cNvPicPr>
            <a:picLocks noChangeAspect="1"/>
          </p:cNvPicPr>
          <p:nvPr/>
        </p:nvPicPr>
        <p:blipFill>
          <a:blip r:embed="rId4"/>
          <a:stretch>
            <a:fillRect/>
          </a:stretch>
        </p:blipFill>
        <p:spPr>
          <a:xfrm>
            <a:off x="7162039" y="3415266"/>
            <a:ext cx="1907147" cy="1268284"/>
          </a:xfrm>
          <a:prstGeom prst="rect">
            <a:avLst/>
          </a:prstGeom>
        </p:spPr>
      </p:pic>
    </p:spTree>
    <p:extLst>
      <p:ext uri="{BB962C8B-B14F-4D97-AF65-F5344CB8AC3E}">
        <p14:creationId xmlns:p14="http://schemas.microsoft.com/office/powerpoint/2010/main" val="4015185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Bar Plot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8" name="Rectangle 7"/>
          <p:cNvSpPr/>
          <p:nvPr/>
        </p:nvSpPr>
        <p:spPr>
          <a:xfrm>
            <a:off x="141316" y="988457"/>
            <a:ext cx="6350924" cy="1815882"/>
          </a:xfrm>
          <a:prstGeom prst="rect">
            <a:avLst/>
          </a:prstGeom>
        </p:spPr>
        <p:txBody>
          <a:bodyPr wrap="square">
            <a:spAutoFit/>
          </a:bodyPr>
          <a:lstStyle/>
          <a:p>
            <a:r>
              <a:rPr lang="en-US" b="1" dirty="0">
                <a:solidFill>
                  <a:srgbClr val="444444"/>
                </a:solidFill>
                <a:latin typeface="Poppins"/>
              </a:rPr>
              <a:t>Advantages:</a:t>
            </a:r>
            <a:endParaRPr lang="en-US" dirty="0">
              <a:solidFill>
                <a:srgbClr val="444444"/>
              </a:solidFill>
              <a:latin typeface="Poppins"/>
            </a:endParaRPr>
          </a:p>
          <a:p>
            <a:pPr>
              <a:buFont typeface="Arial" panose="020B0604020202020204" pitchFamily="34" charset="0"/>
              <a:buChar char="•"/>
            </a:pPr>
            <a:r>
              <a:rPr lang="en-US" dirty="0">
                <a:solidFill>
                  <a:srgbClr val="444444"/>
                </a:solidFill>
                <a:latin typeface="Poppins"/>
              </a:rPr>
              <a:t>Bar graph </a:t>
            </a:r>
            <a:r>
              <a:rPr lang="en-US" dirty="0" err="1">
                <a:solidFill>
                  <a:srgbClr val="444444"/>
                </a:solidFill>
                <a:latin typeface="Poppins"/>
              </a:rPr>
              <a:t>summarises</a:t>
            </a:r>
            <a:r>
              <a:rPr lang="en-US" dirty="0">
                <a:solidFill>
                  <a:srgbClr val="444444"/>
                </a:solidFill>
                <a:latin typeface="Poppins"/>
              </a:rPr>
              <a:t> the large set of data in simple visual form.</a:t>
            </a:r>
          </a:p>
          <a:p>
            <a:pPr>
              <a:buFont typeface="Arial" panose="020B0604020202020204" pitchFamily="34" charset="0"/>
              <a:buChar char="•"/>
            </a:pPr>
            <a:r>
              <a:rPr lang="en-US" dirty="0">
                <a:solidFill>
                  <a:srgbClr val="444444"/>
                </a:solidFill>
                <a:latin typeface="Poppins"/>
              </a:rPr>
              <a:t>It displays each category of data in the frequency distribution.</a:t>
            </a:r>
          </a:p>
          <a:p>
            <a:pPr>
              <a:buFont typeface="Arial" panose="020B0604020202020204" pitchFamily="34" charset="0"/>
              <a:buChar char="•"/>
            </a:pPr>
            <a:r>
              <a:rPr lang="en-US" dirty="0">
                <a:solidFill>
                  <a:srgbClr val="444444"/>
                </a:solidFill>
                <a:latin typeface="Poppins"/>
              </a:rPr>
              <a:t>It clarifies the trend of data better than the table.</a:t>
            </a:r>
          </a:p>
          <a:p>
            <a:pPr>
              <a:buFont typeface="Arial" panose="020B0604020202020204" pitchFamily="34" charset="0"/>
              <a:buChar char="•"/>
            </a:pPr>
            <a:r>
              <a:rPr lang="en-US" dirty="0">
                <a:solidFill>
                  <a:srgbClr val="444444"/>
                </a:solidFill>
                <a:latin typeface="Poppins"/>
              </a:rPr>
              <a:t>It helps in estimating the key values at a glance.</a:t>
            </a:r>
          </a:p>
          <a:p>
            <a:r>
              <a:rPr lang="en-US" b="1" dirty="0">
                <a:solidFill>
                  <a:srgbClr val="444444"/>
                </a:solidFill>
                <a:latin typeface="Poppins"/>
              </a:rPr>
              <a:t>Disadvantages:</a:t>
            </a:r>
            <a:endParaRPr lang="en-US" dirty="0">
              <a:solidFill>
                <a:srgbClr val="444444"/>
              </a:solidFill>
              <a:latin typeface="Poppins"/>
            </a:endParaRPr>
          </a:p>
          <a:p>
            <a:pPr>
              <a:buFont typeface="Arial" panose="020B0604020202020204" pitchFamily="34" charset="0"/>
              <a:buChar char="•"/>
            </a:pPr>
            <a:r>
              <a:rPr lang="en-US" dirty="0">
                <a:solidFill>
                  <a:srgbClr val="444444"/>
                </a:solidFill>
                <a:latin typeface="Poppins"/>
              </a:rPr>
              <a:t>Sometimes, the bar graph fails to reveal the patterns, cause, effects, etc.</a:t>
            </a:r>
          </a:p>
          <a:p>
            <a:pPr>
              <a:buFont typeface="Arial" panose="020B0604020202020204" pitchFamily="34" charset="0"/>
              <a:buChar char="•"/>
            </a:pPr>
            <a:r>
              <a:rPr lang="en-US" dirty="0">
                <a:solidFill>
                  <a:srgbClr val="444444"/>
                </a:solidFill>
                <a:latin typeface="Poppins"/>
              </a:rPr>
              <a:t>It can be easily manipulated to yield fake information.</a:t>
            </a:r>
          </a:p>
        </p:txBody>
      </p:sp>
    </p:spTree>
    <p:extLst>
      <p:ext uri="{BB962C8B-B14F-4D97-AF65-F5344CB8AC3E}">
        <p14:creationId xmlns:p14="http://schemas.microsoft.com/office/powerpoint/2010/main" val="1832537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Histogram</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Content Placeholder 1"/>
          <p:cNvSpPr>
            <a:spLocks noGrp="1"/>
          </p:cNvSpPr>
          <p:nvPr>
            <p:ph idx="1"/>
          </p:nvPr>
        </p:nvSpPr>
        <p:spPr>
          <a:xfrm>
            <a:off x="217810" y="766539"/>
            <a:ext cx="8520600" cy="3354000"/>
          </a:xfrm>
        </p:spPr>
        <p:txBody>
          <a:bodyPr/>
          <a:lstStyle/>
          <a:p>
            <a:r>
              <a:rPr lang="en-US" sz="1400" dirty="0"/>
              <a:t>A histogram is a graphical representation of the distribution of a dataset. It displays the frequencies or counts of data points within predefined intervals, known as bins, along the x-axis. The height of each bar in the histogram represents the frequency or count of data points falling within that particular bin.</a:t>
            </a:r>
          </a:p>
          <a:p>
            <a:r>
              <a:rPr lang="en-US" sz="1400" dirty="0"/>
              <a:t>The primary purpose of a histogram is to visually illustrate the distribution and pattern of a dataset. It allows us to observe the range, central tendency, and variability of the data. By examining the shape of the histogram, we can identify patterns such as symmetry, </a:t>
            </a:r>
            <a:r>
              <a:rPr lang="en-US" sz="1400" dirty="0" err="1"/>
              <a:t>skewness</a:t>
            </a:r>
            <a:r>
              <a:rPr lang="en-US" sz="1400" dirty="0"/>
              <a:t>, or multimodality in the data.</a:t>
            </a:r>
          </a:p>
          <a:p>
            <a:r>
              <a:rPr lang="en-US" sz="1400" dirty="0"/>
              <a:t>Histograms are commonly used for continuous or numerical data, although they can also be adapted for categorical or discrete data by grouping the categories into bins. They are particularly useful when dealing with large datasets or when exploring the overall distribution of a dataset.</a:t>
            </a:r>
          </a:p>
          <a:p>
            <a:r>
              <a:rPr lang="en-US" sz="1400" dirty="0"/>
              <a:t>Histograms provide a visual summary of the data, making it easier to understand and interpret the underlying characteristics of the dataset. They are widely used in statistics, data analysis, and data visualization to gain insights, identify outliers, detect patterns, and make informed decisions based on the data's distribution.</a:t>
            </a:r>
          </a:p>
          <a:p>
            <a:endParaRPr lang="en-US" sz="1400" dirty="0"/>
          </a:p>
        </p:txBody>
      </p:sp>
    </p:spTree>
    <p:extLst>
      <p:ext uri="{BB962C8B-B14F-4D97-AF65-F5344CB8AC3E}">
        <p14:creationId xmlns:p14="http://schemas.microsoft.com/office/powerpoint/2010/main" val="2476400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Histogram</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2"/>
          <p:cNvSpPr/>
          <p:nvPr/>
        </p:nvSpPr>
        <p:spPr>
          <a:xfrm>
            <a:off x="364067" y="909757"/>
            <a:ext cx="6493933" cy="3323987"/>
          </a:xfrm>
          <a:prstGeom prst="rect">
            <a:avLst/>
          </a:prstGeom>
        </p:spPr>
        <p:txBody>
          <a:bodyPr wrap="square">
            <a:spAutoFit/>
          </a:bodyPr>
          <a:lstStyle/>
          <a:p>
            <a:r>
              <a:rPr lang="en-US" dirty="0"/>
              <a:t>import </a:t>
            </a:r>
            <a:r>
              <a:rPr lang="en-US" dirty="0" err="1"/>
              <a:t>matplotlib.pyplot</a:t>
            </a:r>
            <a:r>
              <a:rPr lang="en-US" dirty="0"/>
              <a:t> as </a:t>
            </a:r>
            <a:r>
              <a:rPr lang="en-US" dirty="0" err="1"/>
              <a:t>plt</a:t>
            </a:r>
            <a:endParaRPr lang="en-US" dirty="0"/>
          </a:p>
          <a:p>
            <a:endParaRPr lang="en-US" dirty="0"/>
          </a:p>
          <a:p>
            <a:r>
              <a:rPr lang="en-US" dirty="0"/>
              <a:t># Example data</a:t>
            </a:r>
          </a:p>
          <a:p>
            <a:r>
              <a:rPr lang="en-US" dirty="0"/>
              <a:t>data = [1, 3, 4, 4, 5, 5, 6, 7, 8, 8, 8, 9, 10]</a:t>
            </a:r>
          </a:p>
          <a:p>
            <a:endParaRPr lang="en-US" dirty="0"/>
          </a:p>
          <a:p>
            <a:r>
              <a:rPr lang="en-US" dirty="0"/>
              <a:t># Plotting the histogram</a:t>
            </a:r>
          </a:p>
          <a:p>
            <a:r>
              <a:rPr lang="en-US" dirty="0" err="1"/>
              <a:t>plt.hist</a:t>
            </a:r>
            <a:r>
              <a:rPr lang="en-US" dirty="0"/>
              <a:t>(data, bins=5, </a:t>
            </a:r>
            <a:r>
              <a:rPr lang="en-US" dirty="0" err="1"/>
              <a:t>edgecolor</a:t>
            </a:r>
            <a:r>
              <a:rPr lang="en-US" dirty="0"/>
              <a:t>='black')</a:t>
            </a:r>
          </a:p>
          <a:p>
            <a:endParaRPr lang="en-US" dirty="0"/>
          </a:p>
          <a:p>
            <a:r>
              <a:rPr lang="en-US" dirty="0"/>
              <a:t># Adding labels and title</a:t>
            </a:r>
          </a:p>
          <a:p>
            <a:r>
              <a:rPr lang="en-US" dirty="0" err="1"/>
              <a:t>plt.xlabel</a:t>
            </a:r>
            <a:r>
              <a:rPr lang="en-US" dirty="0"/>
              <a:t>('Value')</a:t>
            </a:r>
          </a:p>
          <a:p>
            <a:r>
              <a:rPr lang="en-US" dirty="0" err="1"/>
              <a:t>plt.ylabel</a:t>
            </a:r>
            <a:r>
              <a:rPr lang="en-US" dirty="0"/>
              <a:t>('Frequency')</a:t>
            </a:r>
          </a:p>
          <a:p>
            <a:r>
              <a:rPr lang="en-US" dirty="0" err="1"/>
              <a:t>plt.title</a:t>
            </a:r>
            <a:r>
              <a:rPr lang="en-US" dirty="0"/>
              <a:t>('Histogram Example')</a:t>
            </a:r>
          </a:p>
          <a:p>
            <a:endParaRPr lang="en-US" dirty="0"/>
          </a:p>
          <a:p>
            <a:r>
              <a:rPr lang="en-US" dirty="0"/>
              <a:t># Displaying the histogram</a:t>
            </a:r>
          </a:p>
          <a:p>
            <a:r>
              <a:rPr lang="en-US" dirty="0" err="1"/>
              <a:t>plt.show</a:t>
            </a:r>
            <a:r>
              <a:rPr lang="en-US" dirty="0"/>
              <a:t>()</a:t>
            </a:r>
          </a:p>
        </p:txBody>
      </p:sp>
      <p:pic>
        <p:nvPicPr>
          <p:cNvPr id="4" name="Picture 3"/>
          <p:cNvPicPr>
            <a:picLocks noChangeAspect="1"/>
          </p:cNvPicPr>
          <p:nvPr/>
        </p:nvPicPr>
        <p:blipFill>
          <a:blip r:embed="rId3"/>
          <a:stretch>
            <a:fillRect/>
          </a:stretch>
        </p:blipFill>
        <p:spPr>
          <a:xfrm>
            <a:off x="4187825" y="1470225"/>
            <a:ext cx="3482975" cy="2763519"/>
          </a:xfrm>
          <a:prstGeom prst="rect">
            <a:avLst/>
          </a:prstGeom>
        </p:spPr>
      </p:pic>
    </p:spTree>
    <p:extLst>
      <p:ext uri="{BB962C8B-B14F-4D97-AF65-F5344CB8AC3E}">
        <p14:creationId xmlns:p14="http://schemas.microsoft.com/office/powerpoint/2010/main" val="697894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Histogram</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195525" y="948267"/>
            <a:ext cx="8314267" cy="2462213"/>
          </a:xfrm>
          <a:prstGeom prst="rect">
            <a:avLst/>
          </a:prstGeom>
        </p:spPr>
        <p:txBody>
          <a:bodyPr wrap="square">
            <a:spAutoFit/>
          </a:bodyPr>
          <a:lstStyle/>
          <a:p>
            <a:r>
              <a:rPr lang="en-US" dirty="0">
                <a:solidFill>
                  <a:srgbClr val="374151"/>
                </a:solidFill>
                <a:latin typeface="Söhne"/>
              </a:rPr>
              <a:t>Advantages of Histograms:</a:t>
            </a:r>
          </a:p>
          <a:p>
            <a:pPr>
              <a:buFont typeface="+mj-lt"/>
              <a:buAutoNum type="arabicPeriod"/>
            </a:pPr>
            <a:r>
              <a:rPr lang="en-US" dirty="0">
                <a:solidFill>
                  <a:srgbClr val="374151"/>
                </a:solidFill>
                <a:latin typeface="Söhne"/>
              </a:rPr>
              <a:t>Visualizing Data </a:t>
            </a:r>
            <a:r>
              <a:rPr lang="en-US" dirty="0" smtClean="0">
                <a:solidFill>
                  <a:srgbClr val="374151"/>
                </a:solidFill>
                <a:latin typeface="Söhne"/>
              </a:rPr>
              <a:t>Distribution</a:t>
            </a:r>
          </a:p>
          <a:p>
            <a:pPr>
              <a:buFont typeface="+mj-lt"/>
              <a:buAutoNum type="arabicPeriod"/>
            </a:pPr>
            <a:r>
              <a:rPr lang="en-US" dirty="0" smtClean="0">
                <a:solidFill>
                  <a:srgbClr val="374151"/>
                </a:solidFill>
                <a:latin typeface="Söhne"/>
              </a:rPr>
              <a:t>Easy Interpretation</a:t>
            </a:r>
          </a:p>
          <a:p>
            <a:pPr>
              <a:buFont typeface="+mj-lt"/>
              <a:buAutoNum type="arabicPeriod"/>
            </a:pPr>
            <a:r>
              <a:rPr lang="en-US" dirty="0" smtClean="0">
                <a:solidFill>
                  <a:srgbClr val="374151"/>
                </a:solidFill>
                <a:latin typeface="Söhne"/>
              </a:rPr>
              <a:t>Bin Flexibility</a:t>
            </a:r>
          </a:p>
          <a:p>
            <a:pPr>
              <a:buFont typeface="+mj-lt"/>
              <a:buAutoNum type="arabicPeriod"/>
            </a:pPr>
            <a:r>
              <a:rPr lang="en-US" dirty="0" smtClean="0">
                <a:solidFill>
                  <a:srgbClr val="374151"/>
                </a:solidFill>
                <a:latin typeface="Söhne"/>
              </a:rPr>
              <a:t>Useful </a:t>
            </a:r>
            <a:r>
              <a:rPr lang="en-US" dirty="0">
                <a:solidFill>
                  <a:srgbClr val="374151"/>
                </a:solidFill>
                <a:latin typeface="Söhne"/>
              </a:rPr>
              <a:t>for Continuous </a:t>
            </a:r>
            <a:r>
              <a:rPr lang="en-US" dirty="0" smtClean="0">
                <a:solidFill>
                  <a:srgbClr val="374151"/>
                </a:solidFill>
                <a:latin typeface="Söhne"/>
              </a:rPr>
              <a:t>Data</a:t>
            </a:r>
          </a:p>
          <a:p>
            <a:endParaRPr lang="en-US" dirty="0">
              <a:solidFill>
                <a:srgbClr val="374151"/>
              </a:solidFill>
              <a:latin typeface="Söhne"/>
            </a:endParaRPr>
          </a:p>
          <a:p>
            <a:r>
              <a:rPr lang="en-US" dirty="0" smtClean="0">
                <a:solidFill>
                  <a:srgbClr val="374151"/>
                </a:solidFill>
                <a:latin typeface="Söhne"/>
              </a:rPr>
              <a:t>Disadvantage</a:t>
            </a:r>
          </a:p>
          <a:p>
            <a:r>
              <a:rPr lang="en-US" dirty="0" smtClean="0">
                <a:solidFill>
                  <a:srgbClr val="374151"/>
                </a:solidFill>
                <a:latin typeface="Söhne"/>
              </a:rPr>
              <a:t>1.Bin </a:t>
            </a:r>
            <a:r>
              <a:rPr lang="en-US" dirty="0">
                <a:solidFill>
                  <a:srgbClr val="374151"/>
                </a:solidFill>
                <a:latin typeface="Söhne"/>
              </a:rPr>
              <a:t>Selection Bias: </a:t>
            </a:r>
            <a:endParaRPr lang="en-US" dirty="0" smtClean="0">
              <a:solidFill>
                <a:srgbClr val="374151"/>
              </a:solidFill>
              <a:latin typeface="Söhne"/>
            </a:endParaRPr>
          </a:p>
          <a:p>
            <a:r>
              <a:rPr lang="en-US" dirty="0" smtClean="0">
                <a:solidFill>
                  <a:srgbClr val="374151"/>
                </a:solidFill>
                <a:latin typeface="Söhne"/>
              </a:rPr>
              <a:t>2.Information Loss</a:t>
            </a:r>
          </a:p>
          <a:p>
            <a:r>
              <a:rPr lang="en-US" dirty="0" smtClean="0">
                <a:solidFill>
                  <a:srgbClr val="374151"/>
                </a:solidFill>
                <a:latin typeface="Söhne"/>
              </a:rPr>
              <a:t>3.Sensitivity </a:t>
            </a:r>
            <a:r>
              <a:rPr lang="en-US" dirty="0">
                <a:solidFill>
                  <a:srgbClr val="374151"/>
                </a:solidFill>
                <a:latin typeface="Söhne"/>
              </a:rPr>
              <a:t>to Bin </a:t>
            </a:r>
            <a:r>
              <a:rPr lang="en-US" dirty="0" smtClean="0">
                <a:solidFill>
                  <a:srgbClr val="374151"/>
                </a:solidFill>
                <a:latin typeface="Söhne"/>
              </a:rPr>
              <a:t>Width</a:t>
            </a:r>
          </a:p>
          <a:p>
            <a:r>
              <a:rPr lang="en-US" dirty="0" smtClean="0">
                <a:solidFill>
                  <a:srgbClr val="374151"/>
                </a:solidFill>
                <a:latin typeface="Söhne"/>
              </a:rPr>
              <a:t>4.Lack </a:t>
            </a:r>
            <a:r>
              <a:rPr lang="en-US" dirty="0">
                <a:solidFill>
                  <a:srgbClr val="374151"/>
                </a:solidFill>
                <a:latin typeface="Söhne"/>
              </a:rPr>
              <a:t>of Multivariate </a:t>
            </a:r>
            <a:r>
              <a:rPr lang="en-US" dirty="0" smtClean="0">
                <a:solidFill>
                  <a:srgbClr val="374151"/>
                </a:solidFill>
                <a:latin typeface="Söhne"/>
              </a:rPr>
              <a:t>Analysis</a:t>
            </a:r>
            <a:endParaRPr lang="en-US" dirty="0">
              <a:solidFill>
                <a:srgbClr val="374151"/>
              </a:solidFill>
              <a:latin typeface="Söhne"/>
            </a:endParaRPr>
          </a:p>
        </p:txBody>
      </p:sp>
    </p:spTree>
    <p:extLst>
      <p:ext uri="{BB962C8B-B14F-4D97-AF65-F5344CB8AC3E}">
        <p14:creationId xmlns:p14="http://schemas.microsoft.com/office/powerpoint/2010/main" val="2796449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Scatter Plot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Content Placeholder 1"/>
          <p:cNvSpPr>
            <a:spLocks noGrp="1"/>
          </p:cNvSpPr>
          <p:nvPr>
            <p:ph idx="1"/>
          </p:nvPr>
        </p:nvSpPr>
        <p:spPr/>
        <p:txBody>
          <a:bodyPr/>
          <a:lstStyle/>
          <a:p>
            <a:r>
              <a:rPr lang="en-US" dirty="0"/>
              <a:t>A scatter plot is a type of data visualization that displays the relationship between two variables. It consists of a set of points plotted on a two-dimensional plane, with each point representing a unique data observation. The position of each point on the plot corresponds to the values of the two variables being compared.</a:t>
            </a:r>
          </a:p>
          <a:p>
            <a:r>
              <a:rPr lang="en-US" dirty="0"/>
              <a:t>In a scatter plot, one variable is plotted on the x-axis (horizontal axis) and the other variable is plotted on the y-axis (vertical axis). Each data point is then plotted at the intersection of its respective x and y values.</a:t>
            </a:r>
          </a:p>
          <a:p>
            <a:r>
              <a:rPr lang="en-US" dirty="0"/>
              <a:t>The main purpose of a scatter plot is to visually examine the relationship or association between the two variables</a:t>
            </a:r>
          </a:p>
          <a:p>
            <a:endParaRPr lang="en-US" dirty="0"/>
          </a:p>
        </p:txBody>
      </p:sp>
    </p:spTree>
    <p:extLst>
      <p:ext uri="{BB962C8B-B14F-4D97-AF65-F5344CB8AC3E}">
        <p14:creationId xmlns:p14="http://schemas.microsoft.com/office/powerpoint/2010/main" val="2986184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Scatter Plot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3"/>
          <p:cNvSpPr/>
          <p:nvPr/>
        </p:nvSpPr>
        <p:spPr>
          <a:xfrm>
            <a:off x="550333" y="1098368"/>
            <a:ext cx="4572000" cy="3539430"/>
          </a:xfrm>
          <a:prstGeom prst="rect">
            <a:avLst/>
          </a:prstGeom>
        </p:spPr>
        <p:txBody>
          <a:bodyPr>
            <a:spAutoFit/>
          </a:bodyPr>
          <a:lstStyle/>
          <a:p>
            <a:r>
              <a:rPr lang="en-US" dirty="0"/>
              <a:t>import </a:t>
            </a:r>
            <a:r>
              <a:rPr lang="en-US" dirty="0" err="1"/>
              <a:t>matplotlib.pyplot</a:t>
            </a:r>
            <a:r>
              <a:rPr lang="en-US" dirty="0"/>
              <a:t> as </a:t>
            </a:r>
            <a:r>
              <a:rPr lang="en-US" dirty="0" err="1"/>
              <a:t>plt</a:t>
            </a:r>
            <a:endParaRPr lang="en-US" dirty="0"/>
          </a:p>
          <a:p>
            <a:endParaRPr lang="en-US" dirty="0"/>
          </a:p>
          <a:p>
            <a:r>
              <a:rPr lang="en-US" dirty="0"/>
              <a:t># Example data</a:t>
            </a:r>
          </a:p>
          <a:p>
            <a:r>
              <a:rPr lang="en-US" dirty="0"/>
              <a:t>x = [1, 2, 3, 4, 5]  # x-values</a:t>
            </a:r>
          </a:p>
          <a:p>
            <a:r>
              <a:rPr lang="en-US" dirty="0"/>
              <a:t>y = [3, 5, 2, 6, 1]  # y-values</a:t>
            </a:r>
          </a:p>
          <a:p>
            <a:endParaRPr lang="en-US" dirty="0"/>
          </a:p>
          <a:p>
            <a:r>
              <a:rPr lang="en-US" dirty="0"/>
              <a:t># Plotting the scatter plot</a:t>
            </a:r>
          </a:p>
          <a:p>
            <a:r>
              <a:rPr lang="en-US" dirty="0" err="1"/>
              <a:t>plt.scatter</a:t>
            </a:r>
            <a:r>
              <a:rPr lang="en-US" dirty="0"/>
              <a:t>(x, y)</a:t>
            </a:r>
          </a:p>
          <a:p>
            <a:endParaRPr lang="en-US" dirty="0"/>
          </a:p>
          <a:p>
            <a:r>
              <a:rPr lang="en-US" dirty="0"/>
              <a:t># Adding labels and title</a:t>
            </a:r>
          </a:p>
          <a:p>
            <a:r>
              <a:rPr lang="en-US" dirty="0" err="1"/>
              <a:t>plt.xlabel</a:t>
            </a:r>
            <a:r>
              <a:rPr lang="en-US" dirty="0"/>
              <a:t>('X')</a:t>
            </a:r>
          </a:p>
          <a:p>
            <a:r>
              <a:rPr lang="en-US" dirty="0" err="1"/>
              <a:t>plt.ylabel</a:t>
            </a:r>
            <a:r>
              <a:rPr lang="en-US" dirty="0"/>
              <a:t>('Y')</a:t>
            </a:r>
          </a:p>
          <a:p>
            <a:r>
              <a:rPr lang="en-US" dirty="0" err="1"/>
              <a:t>plt.title</a:t>
            </a:r>
            <a:r>
              <a:rPr lang="en-US" dirty="0"/>
              <a:t>('Scatter Plot Example')</a:t>
            </a:r>
          </a:p>
          <a:p>
            <a:endParaRPr lang="en-US" dirty="0"/>
          </a:p>
          <a:p>
            <a:r>
              <a:rPr lang="en-US" dirty="0"/>
              <a:t># Displaying the scatter plot</a:t>
            </a:r>
          </a:p>
          <a:p>
            <a:r>
              <a:rPr lang="en-US" dirty="0" err="1"/>
              <a:t>plt.show</a:t>
            </a:r>
            <a:r>
              <a:rPr lang="en-US" dirty="0"/>
              <a:t>()</a:t>
            </a:r>
          </a:p>
        </p:txBody>
      </p:sp>
      <p:pic>
        <p:nvPicPr>
          <p:cNvPr id="8" name="Picture 7"/>
          <p:cNvPicPr>
            <a:picLocks noChangeAspect="1"/>
          </p:cNvPicPr>
          <p:nvPr/>
        </p:nvPicPr>
        <p:blipFill>
          <a:blip r:embed="rId3"/>
          <a:stretch>
            <a:fillRect/>
          </a:stretch>
        </p:blipFill>
        <p:spPr>
          <a:xfrm>
            <a:off x="3770842" y="1672960"/>
            <a:ext cx="3272143" cy="2390246"/>
          </a:xfrm>
          <a:prstGeom prst="rect">
            <a:avLst/>
          </a:prstGeom>
        </p:spPr>
      </p:pic>
    </p:spTree>
    <p:extLst>
      <p:ext uri="{BB962C8B-B14F-4D97-AF65-F5344CB8AC3E}">
        <p14:creationId xmlns:p14="http://schemas.microsoft.com/office/powerpoint/2010/main" val="589669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Scatter Plot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269384" y="1317355"/>
            <a:ext cx="8382000" cy="2462213"/>
          </a:xfrm>
          <a:prstGeom prst="rect">
            <a:avLst/>
          </a:prstGeom>
        </p:spPr>
        <p:txBody>
          <a:bodyPr wrap="square">
            <a:spAutoFit/>
          </a:bodyPr>
          <a:lstStyle/>
          <a:p>
            <a:r>
              <a:rPr lang="en-US" dirty="0">
                <a:solidFill>
                  <a:srgbClr val="374151"/>
                </a:solidFill>
                <a:latin typeface="Söhne"/>
              </a:rPr>
              <a:t>Advantages of Scatter Plots:</a:t>
            </a:r>
          </a:p>
          <a:p>
            <a:pPr>
              <a:buFont typeface="+mj-lt"/>
              <a:buAutoNum type="arabicPeriod"/>
            </a:pPr>
            <a:r>
              <a:rPr lang="en-US" dirty="0">
                <a:solidFill>
                  <a:srgbClr val="374151"/>
                </a:solidFill>
                <a:latin typeface="Söhne"/>
              </a:rPr>
              <a:t>Relationship </a:t>
            </a:r>
            <a:r>
              <a:rPr lang="en-US" dirty="0" smtClean="0">
                <a:solidFill>
                  <a:srgbClr val="374151"/>
                </a:solidFill>
                <a:latin typeface="Söhne"/>
              </a:rPr>
              <a:t>Visualization</a:t>
            </a:r>
          </a:p>
          <a:p>
            <a:pPr>
              <a:buFont typeface="+mj-lt"/>
              <a:buAutoNum type="arabicPeriod"/>
            </a:pPr>
            <a:r>
              <a:rPr lang="en-US" dirty="0" smtClean="0">
                <a:solidFill>
                  <a:srgbClr val="374151"/>
                </a:solidFill>
                <a:latin typeface="Söhne"/>
              </a:rPr>
              <a:t>Outlier Detection</a:t>
            </a:r>
          </a:p>
          <a:p>
            <a:pPr>
              <a:buFont typeface="+mj-lt"/>
              <a:buAutoNum type="arabicPeriod"/>
            </a:pPr>
            <a:r>
              <a:rPr lang="en-US" dirty="0" smtClean="0">
                <a:solidFill>
                  <a:srgbClr val="374151"/>
                </a:solidFill>
                <a:latin typeface="Söhne"/>
              </a:rPr>
              <a:t>Multivariate Analysis</a:t>
            </a:r>
          </a:p>
          <a:p>
            <a:pPr>
              <a:buFont typeface="+mj-lt"/>
              <a:buAutoNum type="arabicPeriod"/>
            </a:pPr>
            <a:r>
              <a:rPr lang="en-US" dirty="0" smtClean="0">
                <a:solidFill>
                  <a:srgbClr val="374151"/>
                </a:solidFill>
                <a:latin typeface="Söhne"/>
              </a:rPr>
              <a:t>Correlation Assessment</a:t>
            </a:r>
          </a:p>
          <a:p>
            <a:endParaRPr lang="en-US" dirty="0">
              <a:solidFill>
                <a:srgbClr val="374151"/>
              </a:solidFill>
              <a:latin typeface="Söhne"/>
            </a:endParaRPr>
          </a:p>
          <a:p>
            <a:r>
              <a:rPr lang="en-US" dirty="0" smtClean="0">
                <a:solidFill>
                  <a:srgbClr val="374151"/>
                </a:solidFill>
                <a:latin typeface="Söhne"/>
              </a:rPr>
              <a:t>Disadvantages </a:t>
            </a:r>
            <a:r>
              <a:rPr lang="en-US" dirty="0">
                <a:solidFill>
                  <a:srgbClr val="374151"/>
                </a:solidFill>
                <a:latin typeface="Söhne"/>
              </a:rPr>
              <a:t>of Scatter Plots:</a:t>
            </a:r>
          </a:p>
          <a:p>
            <a:pPr>
              <a:buFont typeface="+mj-lt"/>
              <a:buAutoNum type="arabicPeriod"/>
            </a:pPr>
            <a:r>
              <a:rPr lang="en-US" dirty="0">
                <a:solidFill>
                  <a:srgbClr val="374151"/>
                </a:solidFill>
                <a:latin typeface="Söhne"/>
              </a:rPr>
              <a:t>Limited to Continuous </a:t>
            </a:r>
            <a:r>
              <a:rPr lang="en-US" dirty="0" smtClean="0">
                <a:solidFill>
                  <a:srgbClr val="374151"/>
                </a:solidFill>
                <a:latin typeface="Söhne"/>
              </a:rPr>
              <a:t>Variables</a:t>
            </a:r>
          </a:p>
          <a:p>
            <a:pPr>
              <a:buFont typeface="+mj-lt"/>
              <a:buAutoNum type="arabicPeriod"/>
            </a:pPr>
            <a:r>
              <a:rPr lang="en-US" dirty="0" err="1" smtClean="0">
                <a:solidFill>
                  <a:srgbClr val="374151"/>
                </a:solidFill>
                <a:latin typeface="Söhne"/>
              </a:rPr>
              <a:t>Overplotting</a:t>
            </a:r>
            <a:endParaRPr lang="en-US" dirty="0" smtClean="0">
              <a:solidFill>
                <a:srgbClr val="374151"/>
              </a:solidFill>
              <a:latin typeface="Söhne"/>
            </a:endParaRPr>
          </a:p>
          <a:p>
            <a:pPr>
              <a:buFont typeface="+mj-lt"/>
              <a:buAutoNum type="arabicPeriod"/>
            </a:pPr>
            <a:r>
              <a:rPr lang="en-US" dirty="0" smtClean="0">
                <a:solidFill>
                  <a:srgbClr val="374151"/>
                </a:solidFill>
                <a:latin typeface="Söhne"/>
              </a:rPr>
              <a:t>Complexity </a:t>
            </a:r>
            <a:r>
              <a:rPr lang="en-US" dirty="0">
                <a:solidFill>
                  <a:srgbClr val="374151"/>
                </a:solidFill>
                <a:latin typeface="Söhne"/>
              </a:rPr>
              <a:t>in </a:t>
            </a:r>
            <a:r>
              <a:rPr lang="en-US" dirty="0" smtClean="0">
                <a:solidFill>
                  <a:srgbClr val="374151"/>
                </a:solidFill>
                <a:latin typeface="Söhne"/>
              </a:rPr>
              <a:t>Interpretation</a:t>
            </a:r>
          </a:p>
          <a:p>
            <a:pPr>
              <a:buFont typeface="+mj-lt"/>
              <a:buAutoNum type="arabicPeriod"/>
            </a:pPr>
            <a:r>
              <a:rPr lang="en-US" dirty="0" smtClean="0">
                <a:solidFill>
                  <a:srgbClr val="374151"/>
                </a:solidFill>
                <a:latin typeface="Söhne"/>
              </a:rPr>
              <a:t>Limited </a:t>
            </a:r>
            <a:r>
              <a:rPr lang="en-US" dirty="0">
                <a:solidFill>
                  <a:srgbClr val="374151"/>
                </a:solidFill>
                <a:latin typeface="Söhne"/>
              </a:rPr>
              <a:t>for Causal </a:t>
            </a:r>
            <a:r>
              <a:rPr lang="en-US" dirty="0" smtClean="0">
                <a:solidFill>
                  <a:srgbClr val="374151"/>
                </a:solidFill>
                <a:latin typeface="Söhne"/>
              </a:rPr>
              <a:t>Inference</a:t>
            </a:r>
            <a:endParaRPr lang="en-US" dirty="0">
              <a:solidFill>
                <a:srgbClr val="374151"/>
              </a:solidFill>
              <a:latin typeface="Söhne"/>
            </a:endParaRPr>
          </a:p>
        </p:txBody>
      </p:sp>
    </p:spTree>
    <p:extLst>
      <p:ext uri="{BB962C8B-B14F-4D97-AF65-F5344CB8AC3E}">
        <p14:creationId xmlns:p14="http://schemas.microsoft.com/office/powerpoint/2010/main" val="29789592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Pie Chart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1"/>
          <p:cNvSpPr>
            <a:spLocks noGrp="1" noChangeArrowheads="1"/>
          </p:cNvSpPr>
          <p:nvPr>
            <p:ph idx="1"/>
          </p:nvPr>
        </p:nvSpPr>
        <p:spPr bwMode="auto">
          <a:xfrm>
            <a:off x="311699" y="847816"/>
            <a:ext cx="8510568"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000000"/>
                </a:solidFill>
                <a:effectLst/>
                <a:latin typeface="Söhne"/>
              </a:rPr>
              <a:t>A pie chart is a circular statistical graph that is divided into sectors, or "slices," representing the relative proportions or percentages of different categories within a dataset. Each slice of the pie chart corresponds to a specific category, and the size of each slice represents the proportionate value of that category relative to the whole.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000000"/>
                </a:solidFill>
                <a:effectLst/>
                <a:latin typeface="Söhne"/>
              </a:rPr>
              <a:t>Pie charts are commonly used to display categorical data, where the whole pie represents the total or 100% of the data. The length of each slice is determined by the proportion of the category it represents compared to the total.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000000"/>
                </a:solidFill>
                <a:effectLst/>
                <a:latin typeface="Söhne"/>
              </a:rPr>
              <a:t>The primary purpose of a pie chart is to provide a visual representation of the composition or distribution of different categories within a dataset. It allows for a quick and easy comparison of the relative sizes of each category, highlighting the most prominent or significant categories.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000000"/>
                </a:solidFill>
                <a:effectLst/>
                <a:latin typeface="Söhne"/>
              </a:rPr>
              <a:t>Pie charts are particularly useful when the number of categories is small (usually less than six or seven) and when the differences between categories are distinct. They are widely used in fields such as business, marketing, and data analysis to visually present market shares, survey responses, budget allocations, and other similar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000000"/>
                </a:solidFill>
                <a:effectLst/>
                <a:latin typeface="Söhne"/>
              </a:rPr>
              <a:t>It's worth noting that pie charts have some limitations. They can be less effective when the number of categories is large, as the slices can become too small and difficult to distinguish. Additionally, pie charts can be misleading if the proportions or angles of the slices are not accurately represented, making it challenging to interpret the exact values or make precise comparisons.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000000"/>
                </a:solidFill>
                <a:effectLst/>
                <a:latin typeface="Söhne"/>
              </a:rPr>
              <a:t>Overall, pie charts provide a straightforward and intuitive way to visualize the distribution of categorical data, allowing viewers to grasp the relative proportions of different categories at a glance.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2850495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Pie Chart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3"/>
          <p:cNvSpPr/>
          <p:nvPr/>
        </p:nvSpPr>
        <p:spPr>
          <a:xfrm>
            <a:off x="541867" y="998717"/>
            <a:ext cx="4572000" cy="3323987"/>
          </a:xfrm>
          <a:prstGeom prst="rect">
            <a:avLst/>
          </a:prstGeom>
        </p:spPr>
        <p:txBody>
          <a:bodyPr>
            <a:spAutoFit/>
          </a:bodyPr>
          <a:lstStyle/>
          <a:p>
            <a:r>
              <a:rPr lang="en-US" dirty="0"/>
              <a:t>import </a:t>
            </a:r>
            <a:r>
              <a:rPr lang="en-US" dirty="0" err="1"/>
              <a:t>matplotlib.pyplot</a:t>
            </a:r>
            <a:r>
              <a:rPr lang="en-US" dirty="0"/>
              <a:t> as </a:t>
            </a:r>
            <a:r>
              <a:rPr lang="en-US" dirty="0" err="1"/>
              <a:t>plt</a:t>
            </a:r>
            <a:endParaRPr lang="en-US" dirty="0"/>
          </a:p>
          <a:p>
            <a:endParaRPr lang="en-US" dirty="0"/>
          </a:p>
          <a:p>
            <a:r>
              <a:rPr lang="en-US" dirty="0"/>
              <a:t># Example data</a:t>
            </a:r>
          </a:p>
          <a:p>
            <a:r>
              <a:rPr lang="en-US" dirty="0"/>
              <a:t>categories = ['Category 1', 'Category 2', 'Category 3', 'Category 4']</a:t>
            </a:r>
          </a:p>
          <a:p>
            <a:r>
              <a:rPr lang="en-US" dirty="0"/>
              <a:t>values = [35, 20, 15, 30]</a:t>
            </a:r>
          </a:p>
          <a:p>
            <a:endParaRPr lang="en-US" dirty="0"/>
          </a:p>
          <a:p>
            <a:r>
              <a:rPr lang="en-US" dirty="0"/>
              <a:t># Plotting the pie chart</a:t>
            </a:r>
          </a:p>
          <a:p>
            <a:r>
              <a:rPr lang="en-US" dirty="0" err="1"/>
              <a:t>plt.pie</a:t>
            </a:r>
            <a:r>
              <a:rPr lang="en-US" dirty="0"/>
              <a:t>(values, labels=categories, </a:t>
            </a:r>
            <a:r>
              <a:rPr lang="en-US" dirty="0" err="1"/>
              <a:t>autopct</a:t>
            </a:r>
            <a:r>
              <a:rPr lang="en-US" dirty="0"/>
              <a:t>='%1.1f%%')</a:t>
            </a:r>
          </a:p>
          <a:p>
            <a:endParaRPr lang="en-US" dirty="0"/>
          </a:p>
          <a:p>
            <a:r>
              <a:rPr lang="en-US" dirty="0"/>
              <a:t># Adding a title</a:t>
            </a:r>
          </a:p>
          <a:p>
            <a:r>
              <a:rPr lang="en-US" dirty="0" err="1"/>
              <a:t>plt.title</a:t>
            </a:r>
            <a:r>
              <a:rPr lang="en-US" dirty="0"/>
              <a:t>('Pie Chart Example')</a:t>
            </a:r>
          </a:p>
          <a:p>
            <a:endParaRPr lang="en-US" dirty="0"/>
          </a:p>
          <a:p>
            <a:r>
              <a:rPr lang="en-US" dirty="0"/>
              <a:t># Displaying the pie chart</a:t>
            </a:r>
          </a:p>
          <a:p>
            <a:r>
              <a:rPr lang="en-US" dirty="0" err="1"/>
              <a:t>plt.show</a:t>
            </a:r>
            <a:r>
              <a:rPr lang="en-US" dirty="0"/>
              <a:t>()</a:t>
            </a:r>
          </a:p>
        </p:txBody>
      </p:sp>
      <p:pic>
        <p:nvPicPr>
          <p:cNvPr id="8" name="Picture 7"/>
          <p:cNvPicPr>
            <a:picLocks noChangeAspect="1"/>
          </p:cNvPicPr>
          <p:nvPr/>
        </p:nvPicPr>
        <p:blipFill>
          <a:blip r:embed="rId3"/>
          <a:stretch>
            <a:fillRect/>
          </a:stretch>
        </p:blipFill>
        <p:spPr>
          <a:xfrm>
            <a:off x="4972050" y="1015412"/>
            <a:ext cx="3689350" cy="3241111"/>
          </a:xfrm>
          <a:prstGeom prst="rect">
            <a:avLst/>
          </a:prstGeom>
        </p:spPr>
      </p:pic>
    </p:spTree>
    <p:extLst>
      <p:ext uri="{BB962C8B-B14F-4D97-AF65-F5344CB8AC3E}">
        <p14:creationId xmlns:p14="http://schemas.microsoft.com/office/powerpoint/2010/main" val="6132639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Pie Chart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423333" y="901559"/>
            <a:ext cx="4572000" cy="2031325"/>
          </a:xfrm>
          <a:prstGeom prst="rect">
            <a:avLst/>
          </a:prstGeom>
        </p:spPr>
        <p:txBody>
          <a:bodyPr>
            <a:spAutoFit/>
          </a:bodyPr>
          <a:lstStyle/>
          <a:p>
            <a:r>
              <a:rPr lang="en-US" dirty="0">
                <a:solidFill>
                  <a:srgbClr val="374151"/>
                </a:solidFill>
                <a:latin typeface="Söhne"/>
              </a:rPr>
              <a:t>Advantages of Pie Charts:</a:t>
            </a:r>
          </a:p>
          <a:p>
            <a:pPr>
              <a:buFont typeface="+mj-lt"/>
              <a:buAutoNum type="arabicPeriod"/>
            </a:pPr>
            <a:r>
              <a:rPr lang="en-US" dirty="0">
                <a:solidFill>
                  <a:srgbClr val="374151"/>
                </a:solidFill>
                <a:latin typeface="Söhne"/>
              </a:rPr>
              <a:t>Visualizing </a:t>
            </a:r>
            <a:r>
              <a:rPr lang="en-US" dirty="0" smtClean="0">
                <a:solidFill>
                  <a:srgbClr val="374151"/>
                </a:solidFill>
                <a:latin typeface="Söhne"/>
              </a:rPr>
              <a:t>Proportions</a:t>
            </a:r>
            <a:endParaRPr lang="en-US" dirty="0">
              <a:solidFill>
                <a:srgbClr val="374151"/>
              </a:solidFill>
              <a:latin typeface="Söhne"/>
            </a:endParaRPr>
          </a:p>
          <a:p>
            <a:pPr>
              <a:buFont typeface="+mj-lt"/>
              <a:buAutoNum type="arabicPeriod"/>
            </a:pPr>
            <a:r>
              <a:rPr lang="en-US" dirty="0">
                <a:solidFill>
                  <a:srgbClr val="374151"/>
                </a:solidFill>
                <a:latin typeface="Söhne"/>
              </a:rPr>
              <a:t>Simplicity and </a:t>
            </a:r>
            <a:r>
              <a:rPr lang="en-US" dirty="0" smtClean="0">
                <a:solidFill>
                  <a:srgbClr val="374151"/>
                </a:solidFill>
                <a:latin typeface="Söhne"/>
              </a:rPr>
              <a:t>Intuitiveness</a:t>
            </a:r>
            <a:endParaRPr lang="en-US" dirty="0">
              <a:solidFill>
                <a:srgbClr val="374151"/>
              </a:solidFill>
              <a:latin typeface="Söhne"/>
            </a:endParaRPr>
          </a:p>
          <a:p>
            <a:pPr>
              <a:buFont typeface="+mj-lt"/>
              <a:buAutoNum type="arabicPeriod"/>
            </a:pPr>
            <a:r>
              <a:rPr lang="en-US" dirty="0">
                <a:solidFill>
                  <a:srgbClr val="374151"/>
                </a:solidFill>
                <a:latin typeface="Söhne"/>
              </a:rPr>
              <a:t>Highlighting Dominant </a:t>
            </a:r>
            <a:r>
              <a:rPr lang="en-US" dirty="0" smtClean="0">
                <a:solidFill>
                  <a:srgbClr val="374151"/>
                </a:solidFill>
                <a:latin typeface="Söhne"/>
              </a:rPr>
              <a:t>Categories</a:t>
            </a:r>
          </a:p>
          <a:p>
            <a:pPr>
              <a:buFont typeface="+mj-lt"/>
              <a:buAutoNum type="arabicPeriod"/>
            </a:pPr>
            <a:r>
              <a:rPr lang="en-US" dirty="0" smtClean="0">
                <a:solidFill>
                  <a:srgbClr val="374151"/>
                </a:solidFill>
                <a:latin typeface="Söhne"/>
              </a:rPr>
              <a:t>Single </a:t>
            </a:r>
            <a:r>
              <a:rPr lang="en-US" dirty="0">
                <a:solidFill>
                  <a:srgbClr val="374151"/>
                </a:solidFill>
                <a:latin typeface="Söhne"/>
              </a:rPr>
              <a:t>Whole </a:t>
            </a:r>
            <a:r>
              <a:rPr lang="en-US" dirty="0" smtClean="0">
                <a:solidFill>
                  <a:srgbClr val="374151"/>
                </a:solidFill>
                <a:latin typeface="Söhne"/>
              </a:rPr>
              <a:t>Representation</a:t>
            </a:r>
            <a:endParaRPr lang="en-US" dirty="0">
              <a:solidFill>
                <a:srgbClr val="374151"/>
              </a:solidFill>
              <a:latin typeface="Söhne"/>
            </a:endParaRPr>
          </a:p>
          <a:p>
            <a:r>
              <a:rPr lang="en-US" dirty="0">
                <a:solidFill>
                  <a:srgbClr val="374151"/>
                </a:solidFill>
                <a:latin typeface="Söhne"/>
              </a:rPr>
              <a:t>Disadvantages of Pie Charts:</a:t>
            </a:r>
          </a:p>
          <a:p>
            <a:pPr>
              <a:buFont typeface="+mj-lt"/>
              <a:buAutoNum type="arabicPeriod"/>
            </a:pPr>
            <a:r>
              <a:rPr lang="en-US" dirty="0">
                <a:solidFill>
                  <a:srgbClr val="374151"/>
                </a:solidFill>
                <a:latin typeface="Söhne"/>
              </a:rPr>
              <a:t>Limited to Few </a:t>
            </a:r>
            <a:r>
              <a:rPr lang="en-US" dirty="0" smtClean="0">
                <a:solidFill>
                  <a:srgbClr val="374151"/>
                </a:solidFill>
                <a:latin typeface="Söhne"/>
              </a:rPr>
              <a:t>Categories</a:t>
            </a:r>
          </a:p>
          <a:p>
            <a:pPr>
              <a:buFont typeface="+mj-lt"/>
              <a:buAutoNum type="arabicPeriod"/>
            </a:pPr>
            <a:r>
              <a:rPr lang="en-US" dirty="0" smtClean="0">
                <a:solidFill>
                  <a:srgbClr val="374151"/>
                </a:solidFill>
                <a:latin typeface="Söhne"/>
              </a:rPr>
              <a:t>Difficulty </a:t>
            </a:r>
            <a:r>
              <a:rPr lang="en-US" dirty="0">
                <a:solidFill>
                  <a:srgbClr val="374151"/>
                </a:solidFill>
                <a:latin typeface="Söhne"/>
              </a:rPr>
              <a:t>in </a:t>
            </a:r>
            <a:r>
              <a:rPr lang="en-US" dirty="0" smtClean="0">
                <a:solidFill>
                  <a:srgbClr val="374151"/>
                </a:solidFill>
                <a:latin typeface="Söhne"/>
              </a:rPr>
              <a:t>Comparisons</a:t>
            </a:r>
          </a:p>
          <a:p>
            <a:pPr>
              <a:buFont typeface="+mj-lt"/>
              <a:buAutoNum type="arabicPeriod"/>
            </a:pPr>
            <a:r>
              <a:rPr lang="en-US" dirty="0" smtClean="0">
                <a:solidFill>
                  <a:srgbClr val="374151"/>
                </a:solidFill>
                <a:latin typeface="Söhne"/>
              </a:rPr>
              <a:t>Misleading </a:t>
            </a:r>
            <a:r>
              <a:rPr lang="en-US" dirty="0">
                <a:solidFill>
                  <a:srgbClr val="374151"/>
                </a:solidFill>
                <a:latin typeface="Söhne"/>
              </a:rPr>
              <a:t>Visual </a:t>
            </a:r>
            <a:r>
              <a:rPr lang="en-US" dirty="0" smtClean="0">
                <a:solidFill>
                  <a:srgbClr val="374151"/>
                </a:solidFill>
                <a:latin typeface="Söhne"/>
              </a:rPr>
              <a:t>Perception</a:t>
            </a:r>
            <a:endParaRPr lang="en-US" dirty="0">
              <a:solidFill>
                <a:srgbClr val="374151"/>
              </a:solidFill>
              <a:latin typeface="Söhne"/>
            </a:endParaRPr>
          </a:p>
        </p:txBody>
      </p:sp>
    </p:spTree>
    <p:extLst>
      <p:ext uri="{BB962C8B-B14F-4D97-AF65-F5344CB8AC3E}">
        <p14:creationId xmlns:p14="http://schemas.microsoft.com/office/powerpoint/2010/main" val="3591940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Density Plot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3"/>
          <p:cNvSpPr/>
          <p:nvPr/>
        </p:nvSpPr>
        <p:spPr>
          <a:xfrm>
            <a:off x="109165" y="825052"/>
            <a:ext cx="8735577" cy="1815882"/>
          </a:xfrm>
          <a:prstGeom prst="rect">
            <a:avLst/>
          </a:prstGeom>
        </p:spPr>
        <p:txBody>
          <a:bodyPr wrap="square">
            <a:spAutoFit/>
          </a:bodyPr>
          <a:lstStyle/>
          <a:p>
            <a:pPr marL="285750" indent="-285750" fontAlgn="base">
              <a:buFont typeface="Arial" panose="020B0604020202020204" pitchFamily="34" charset="0"/>
              <a:buChar char="•"/>
            </a:pPr>
            <a:r>
              <a:rPr lang="en-US" sz="1600" dirty="0">
                <a:solidFill>
                  <a:srgbClr val="273239"/>
                </a:solidFill>
                <a:latin typeface="Nunito"/>
              </a:rPr>
              <a:t>Density Plot is a type of data visualization tool. It is a variation of the histogram that uses ‘kernel smoothing’ while plotting the values. It is a continuous and smooth version of a histogram inferred from a data</a:t>
            </a:r>
            <a:r>
              <a:rPr lang="en-US" sz="1600" dirty="0" smtClean="0">
                <a:solidFill>
                  <a:srgbClr val="273239"/>
                </a:solidFill>
                <a:latin typeface="Nunito"/>
              </a:rPr>
              <a:t>.</a:t>
            </a:r>
          </a:p>
          <a:p>
            <a:pPr marL="285750" indent="-285750" fontAlgn="base">
              <a:buFont typeface="Arial" panose="020B0604020202020204" pitchFamily="34" charset="0"/>
              <a:buChar char="•"/>
            </a:pPr>
            <a:endParaRPr lang="en-US" sz="1600" dirty="0">
              <a:solidFill>
                <a:srgbClr val="273239"/>
              </a:solidFill>
              <a:latin typeface="Nunito"/>
            </a:endParaRPr>
          </a:p>
          <a:p>
            <a:pPr marL="285750" indent="-285750" fontAlgn="base">
              <a:buFont typeface="Arial" panose="020B0604020202020204" pitchFamily="34" charset="0"/>
              <a:buChar char="•"/>
            </a:pPr>
            <a:r>
              <a:rPr lang="en-US" sz="1600" dirty="0">
                <a:solidFill>
                  <a:srgbClr val="273239"/>
                </a:solidFill>
                <a:latin typeface="Nunito"/>
              </a:rPr>
              <a:t>Density plots uses Kernel Density Estimation (so they are also known as Kernel density estimation plots or KDE) which is a probability density function. The region of plot with a higher peak is the region with maximum data points residing between those values.</a:t>
            </a:r>
          </a:p>
        </p:txBody>
      </p:sp>
      <p:pic>
        <p:nvPicPr>
          <p:cNvPr id="8" name="Picture 7"/>
          <p:cNvPicPr>
            <a:picLocks noChangeAspect="1"/>
          </p:cNvPicPr>
          <p:nvPr/>
        </p:nvPicPr>
        <p:blipFill>
          <a:blip r:embed="rId3"/>
          <a:stretch>
            <a:fillRect/>
          </a:stretch>
        </p:blipFill>
        <p:spPr>
          <a:xfrm>
            <a:off x="6560733" y="2861240"/>
            <a:ext cx="2001376" cy="1976766"/>
          </a:xfrm>
          <a:prstGeom prst="rect">
            <a:avLst/>
          </a:prstGeom>
        </p:spPr>
      </p:pic>
    </p:spTree>
    <p:extLst>
      <p:ext uri="{BB962C8B-B14F-4D97-AF65-F5344CB8AC3E}">
        <p14:creationId xmlns:p14="http://schemas.microsoft.com/office/powerpoint/2010/main" val="2211866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Density Plot</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415636" y="1034625"/>
            <a:ext cx="4572000" cy="3539430"/>
          </a:xfrm>
          <a:prstGeom prst="rect">
            <a:avLst/>
          </a:prstGeom>
        </p:spPr>
        <p:txBody>
          <a:bodyPr>
            <a:spAutoFit/>
          </a:bodyPr>
          <a:lstStyle/>
          <a:p>
            <a:r>
              <a:rPr lang="en-US" dirty="0"/>
              <a:t>import </a:t>
            </a:r>
            <a:r>
              <a:rPr lang="en-US" dirty="0" err="1"/>
              <a:t>matplotlib.pyplot</a:t>
            </a:r>
            <a:r>
              <a:rPr lang="en-US" dirty="0"/>
              <a:t> as </a:t>
            </a:r>
            <a:r>
              <a:rPr lang="en-US" dirty="0" err="1"/>
              <a:t>plt</a:t>
            </a:r>
            <a:endParaRPr lang="en-US" dirty="0"/>
          </a:p>
          <a:p>
            <a:r>
              <a:rPr lang="en-US" dirty="0"/>
              <a:t>import </a:t>
            </a:r>
            <a:r>
              <a:rPr lang="en-US" dirty="0" err="1"/>
              <a:t>numpy</a:t>
            </a:r>
            <a:r>
              <a:rPr lang="en-US" dirty="0"/>
              <a:t> as </a:t>
            </a:r>
            <a:r>
              <a:rPr lang="en-US" dirty="0" err="1"/>
              <a:t>np</a:t>
            </a:r>
            <a:endParaRPr lang="en-US" dirty="0"/>
          </a:p>
          <a:p>
            <a:endParaRPr lang="en-US" dirty="0"/>
          </a:p>
          <a:p>
            <a:r>
              <a:rPr lang="en-US" dirty="0"/>
              <a:t># Generate some random data</a:t>
            </a:r>
          </a:p>
          <a:p>
            <a:r>
              <a:rPr lang="en-US" dirty="0"/>
              <a:t>data = </a:t>
            </a:r>
            <a:r>
              <a:rPr lang="en-US" dirty="0" err="1"/>
              <a:t>np.random.randn</a:t>
            </a:r>
            <a:r>
              <a:rPr lang="en-US" dirty="0"/>
              <a:t>(1000)</a:t>
            </a:r>
          </a:p>
          <a:p>
            <a:endParaRPr lang="en-US" dirty="0"/>
          </a:p>
          <a:p>
            <a:r>
              <a:rPr lang="en-US" dirty="0"/>
              <a:t># Create a density plot</a:t>
            </a:r>
          </a:p>
          <a:p>
            <a:r>
              <a:rPr lang="en-US" dirty="0" err="1"/>
              <a:t>plt.hist</a:t>
            </a:r>
            <a:r>
              <a:rPr lang="en-US" dirty="0"/>
              <a:t>(data, density=True, bins=30, alpha=0.5)</a:t>
            </a:r>
          </a:p>
          <a:p>
            <a:endParaRPr lang="en-US" dirty="0"/>
          </a:p>
          <a:p>
            <a:r>
              <a:rPr lang="en-US" dirty="0"/>
              <a:t># Add labels and title</a:t>
            </a:r>
          </a:p>
          <a:p>
            <a:r>
              <a:rPr lang="en-US" dirty="0" err="1"/>
              <a:t>plt.xlabel</a:t>
            </a:r>
            <a:r>
              <a:rPr lang="en-US" dirty="0"/>
              <a:t>('Value')</a:t>
            </a:r>
          </a:p>
          <a:p>
            <a:r>
              <a:rPr lang="en-US" dirty="0" err="1"/>
              <a:t>plt.ylabel</a:t>
            </a:r>
            <a:r>
              <a:rPr lang="en-US" dirty="0"/>
              <a:t>('Density')</a:t>
            </a:r>
          </a:p>
          <a:p>
            <a:r>
              <a:rPr lang="en-US" dirty="0" err="1"/>
              <a:t>plt.title</a:t>
            </a:r>
            <a:r>
              <a:rPr lang="en-US" dirty="0"/>
              <a:t>('Density Plot')</a:t>
            </a:r>
          </a:p>
          <a:p>
            <a:endParaRPr lang="en-US" dirty="0"/>
          </a:p>
          <a:p>
            <a:r>
              <a:rPr lang="en-US" dirty="0"/>
              <a:t># Show the plot</a:t>
            </a:r>
          </a:p>
          <a:p>
            <a:r>
              <a:rPr lang="en-US" dirty="0" err="1"/>
              <a:t>plt.show</a:t>
            </a:r>
            <a:r>
              <a:rPr lang="en-US" dirty="0"/>
              <a:t>()</a:t>
            </a:r>
          </a:p>
        </p:txBody>
      </p:sp>
      <p:pic>
        <p:nvPicPr>
          <p:cNvPr id="3" name="Picture 2"/>
          <p:cNvPicPr>
            <a:picLocks noChangeAspect="1"/>
          </p:cNvPicPr>
          <p:nvPr/>
        </p:nvPicPr>
        <p:blipFill>
          <a:blip r:embed="rId3"/>
          <a:stretch>
            <a:fillRect/>
          </a:stretch>
        </p:blipFill>
        <p:spPr>
          <a:xfrm>
            <a:off x="5054052" y="1448580"/>
            <a:ext cx="3182588" cy="2516592"/>
          </a:xfrm>
          <a:prstGeom prst="rect">
            <a:avLst/>
          </a:prstGeom>
        </p:spPr>
      </p:pic>
    </p:spTree>
    <p:extLst>
      <p:ext uri="{BB962C8B-B14F-4D97-AF65-F5344CB8AC3E}">
        <p14:creationId xmlns:p14="http://schemas.microsoft.com/office/powerpoint/2010/main" val="2456923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Facet Grids for categorical data</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8" name="Rectangle 7"/>
          <p:cNvSpPr/>
          <p:nvPr/>
        </p:nvSpPr>
        <p:spPr>
          <a:xfrm>
            <a:off x="299259" y="1123471"/>
            <a:ext cx="6359236" cy="3108543"/>
          </a:xfrm>
          <a:prstGeom prst="rect">
            <a:avLst/>
          </a:prstGeom>
        </p:spPr>
        <p:txBody>
          <a:bodyPr wrap="square">
            <a:spAutoFit/>
          </a:bodyPr>
          <a:lstStyle/>
          <a:p>
            <a:pPr marL="285750" indent="-285750">
              <a:buFont typeface="Arial" panose="020B0604020202020204" pitchFamily="34" charset="0"/>
              <a:buChar char="•"/>
            </a:pPr>
            <a:r>
              <a:rPr lang="en-US" dirty="0">
                <a:solidFill>
                  <a:srgbClr val="374151"/>
                </a:solidFill>
                <a:latin typeface="Söhne"/>
              </a:rPr>
              <a:t>A facet grid is a visualization technique that allows you to create a grid of subplots, where each subplot represents a subset of your data based on one or more categorical variables. It enables you to examine and compare different segments of your dataset across multiple dimensions.</a:t>
            </a:r>
          </a:p>
          <a:p>
            <a:pPr marL="285750" indent="-285750">
              <a:buFont typeface="Arial" panose="020B0604020202020204" pitchFamily="34" charset="0"/>
              <a:buChar char="•"/>
            </a:pPr>
            <a:r>
              <a:rPr lang="en-US" dirty="0">
                <a:solidFill>
                  <a:srgbClr val="374151"/>
                </a:solidFill>
                <a:latin typeface="Söhne"/>
              </a:rPr>
              <a:t>In a facet grid, the rows and columns represent different levels or categories of the variables you choose. Each cell in the grid corresponds to a unique combination of the variables, and you can plot different visualizations or charts within each cell to explore patterns and relationships.</a:t>
            </a:r>
          </a:p>
          <a:p>
            <a:pPr marL="285750" indent="-285750">
              <a:buFont typeface="Arial" panose="020B0604020202020204" pitchFamily="34" charset="0"/>
              <a:buChar char="•"/>
            </a:pPr>
            <a:r>
              <a:rPr lang="en-US" dirty="0">
                <a:solidFill>
                  <a:srgbClr val="374151"/>
                </a:solidFill>
                <a:latin typeface="Söhne"/>
              </a:rPr>
              <a:t>Facet grids are particularly useful when you want to examine the relationship between variables within different subsets of your data simultaneously. By organizing the data into a grid, you can easily compare and contrast the distributions, relationships, or trends across various categorical groups.</a:t>
            </a:r>
          </a:p>
        </p:txBody>
      </p:sp>
    </p:spTree>
    <p:extLst>
      <p:ext uri="{BB962C8B-B14F-4D97-AF65-F5344CB8AC3E}">
        <p14:creationId xmlns:p14="http://schemas.microsoft.com/office/powerpoint/2010/main" val="3360042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Facet Grids for categorical data</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2"/>
          <p:cNvSpPr/>
          <p:nvPr/>
        </p:nvSpPr>
        <p:spPr>
          <a:xfrm>
            <a:off x="-1" y="777764"/>
            <a:ext cx="9609513" cy="3970318"/>
          </a:xfrm>
          <a:prstGeom prst="rect">
            <a:avLst/>
          </a:prstGeom>
        </p:spPr>
        <p:txBody>
          <a:bodyPr wrap="square">
            <a:spAutoFit/>
          </a:bodyPr>
          <a:lstStyle/>
          <a:p>
            <a:r>
              <a:rPr lang="en-US" dirty="0">
                <a:solidFill>
                  <a:srgbClr val="AF00DB"/>
                </a:solidFill>
                <a:latin typeface="Courier New" panose="02070309020205020404" pitchFamily="49" charset="0"/>
              </a:rPr>
              <a:t>import</a:t>
            </a:r>
            <a:r>
              <a:rPr lang="en-US" dirty="0">
                <a:latin typeface="Courier New" panose="02070309020205020404" pitchFamily="49" charset="0"/>
              </a:rPr>
              <a:t> </a:t>
            </a:r>
            <a:r>
              <a:rPr lang="en-US" dirty="0" err="1">
                <a:latin typeface="Courier New" panose="02070309020205020404" pitchFamily="49" charset="0"/>
              </a:rPr>
              <a:t>seaborn</a:t>
            </a:r>
            <a:r>
              <a:rPr lang="en-US" dirty="0">
                <a:latin typeface="Courier New" panose="02070309020205020404" pitchFamily="49" charset="0"/>
              </a:rPr>
              <a:t> </a:t>
            </a:r>
            <a:r>
              <a:rPr lang="en-US" dirty="0">
                <a:solidFill>
                  <a:srgbClr val="AF00DB"/>
                </a:solidFill>
                <a:latin typeface="Courier New" panose="02070309020205020404" pitchFamily="49" charset="0"/>
              </a:rPr>
              <a:t>as</a:t>
            </a:r>
            <a:r>
              <a:rPr lang="en-US" dirty="0">
                <a:latin typeface="Courier New" panose="02070309020205020404" pitchFamily="49" charset="0"/>
              </a:rPr>
              <a:t> </a:t>
            </a:r>
            <a:r>
              <a:rPr lang="en-US" dirty="0" err="1">
                <a:latin typeface="Courier New" panose="02070309020205020404" pitchFamily="49" charset="0"/>
              </a:rPr>
              <a:t>sns</a:t>
            </a:r>
            <a:endParaRPr lang="en-US" dirty="0">
              <a:latin typeface="Courier New" panose="02070309020205020404" pitchFamily="49" charset="0"/>
            </a:endParaRP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Load the example Titanic dataset</a:t>
            </a:r>
            <a:endParaRPr lang="en-US" dirty="0">
              <a:latin typeface="Courier New" panose="02070309020205020404" pitchFamily="49" charset="0"/>
            </a:endParaRPr>
          </a:p>
          <a:p>
            <a:r>
              <a:rPr lang="en-US" dirty="0">
                <a:latin typeface="Courier New" panose="02070309020205020404" pitchFamily="49" charset="0"/>
              </a:rPr>
              <a:t>titanic = </a:t>
            </a:r>
            <a:r>
              <a:rPr lang="en-US" dirty="0" err="1">
                <a:latin typeface="Courier New" panose="02070309020205020404" pitchFamily="49" charset="0"/>
              </a:rPr>
              <a:t>sns.load_dataset</a:t>
            </a:r>
            <a:r>
              <a:rPr lang="en-US" dirty="0">
                <a:latin typeface="Courier New" panose="02070309020205020404" pitchFamily="49" charset="0"/>
              </a:rPr>
              <a:t>(</a:t>
            </a:r>
            <a:r>
              <a:rPr lang="en-US" dirty="0">
                <a:solidFill>
                  <a:srgbClr val="A31515"/>
                </a:solidFill>
                <a:latin typeface="Courier New" panose="02070309020205020404" pitchFamily="49" charset="0"/>
              </a:rPr>
              <a:t>'titanic'</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Create a </a:t>
            </a:r>
            <a:r>
              <a:rPr lang="en-US" dirty="0" err="1">
                <a:solidFill>
                  <a:srgbClr val="008000"/>
                </a:solidFill>
                <a:latin typeface="Courier New" panose="02070309020205020404" pitchFamily="49" charset="0"/>
              </a:rPr>
              <a:t>FacetGrid</a:t>
            </a:r>
            <a:r>
              <a:rPr lang="en-US" dirty="0">
                <a:solidFill>
                  <a:srgbClr val="008000"/>
                </a:solidFill>
                <a:latin typeface="Courier New" panose="02070309020205020404" pitchFamily="49" charset="0"/>
              </a:rPr>
              <a:t> with two categorical variables: class and sex</a:t>
            </a:r>
            <a:endParaRPr lang="en-US" dirty="0">
              <a:latin typeface="Courier New" panose="02070309020205020404" pitchFamily="49" charset="0"/>
            </a:endParaRPr>
          </a:p>
          <a:p>
            <a:r>
              <a:rPr lang="en-US" dirty="0">
                <a:latin typeface="Courier New" panose="02070309020205020404" pitchFamily="49" charset="0"/>
              </a:rPr>
              <a:t>grid = </a:t>
            </a:r>
            <a:r>
              <a:rPr lang="en-US" dirty="0" err="1">
                <a:latin typeface="Courier New" panose="02070309020205020404" pitchFamily="49" charset="0"/>
              </a:rPr>
              <a:t>sns.FacetGrid</a:t>
            </a:r>
            <a:r>
              <a:rPr lang="en-US" dirty="0">
                <a:latin typeface="Courier New" panose="02070309020205020404" pitchFamily="49" charset="0"/>
              </a:rPr>
              <a:t>(titanic, row=</a:t>
            </a:r>
            <a:r>
              <a:rPr lang="en-US" dirty="0">
                <a:solidFill>
                  <a:srgbClr val="A31515"/>
                </a:solidFill>
                <a:latin typeface="Courier New" panose="02070309020205020404" pitchFamily="49" charset="0"/>
              </a:rPr>
              <a:t>'class'</a:t>
            </a:r>
            <a:r>
              <a:rPr lang="en-US" dirty="0">
                <a:latin typeface="Courier New" panose="02070309020205020404" pitchFamily="49" charset="0"/>
              </a:rPr>
              <a:t>, col=</a:t>
            </a:r>
            <a:r>
              <a:rPr lang="en-US" dirty="0">
                <a:solidFill>
                  <a:srgbClr val="A31515"/>
                </a:solidFill>
                <a:latin typeface="Courier New" panose="02070309020205020404" pitchFamily="49" charset="0"/>
              </a:rPr>
              <a:t>'sex'</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Map a plot type to the grid using the desired variable: age</a:t>
            </a:r>
            <a:endParaRPr lang="en-US" dirty="0">
              <a:latin typeface="Courier New" panose="02070309020205020404" pitchFamily="49" charset="0"/>
            </a:endParaRPr>
          </a:p>
          <a:p>
            <a:r>
              <a:rPr lang="en-US" dirty="0" err="1">
                <a:latin typeface="Courier New" panose="02070309020205020404" pitchFamily="49" charset="0"/>
              </a:rPr>
              <a:t>grid.</a:t>
            </a:r>
            <a:r>
              <a:rPr lang="en-US" dirty="0" err="1">
                <a:solidFill>
                  <a:srgbClr val="795E26"/>
                </a:solidFill>
                <a:latin typeface="Courier New" panose="02070309020205020404" pitchFamily="49" charset="0"/>
              </a:rPr>
              <a:t>map</a:t>
            </a:r>
            <a:r>
              <a:rPr lang="en-US" dirty="0">
                <a:latin typeface="Courier New" panose="02070309020205020404" pitchFamily="49" charset="0"/>
              </a:rPr>
              <a:t>(</a:t>
            </a:r>
            <a:r>
              <a:rPr lang="en-US" dirty="0" err="1">
                <a:latin typeface="Courier New" panose="02070309020205020404" pitchFamily="49" charset="0"/>
              </a:rPr>
              <a:t>sns.histplot</a:t>
            </a:r>
            <a:r>
              <a:rPr lang="en-US" dirty="0">
                <a:latin typeface="Courier New" panose="02070309020205020404" pitchFamily="49" charset="0"/>
              </a:rPr>
              <a:t>, </a:t>
            </a:r>
            <a:r>
              <a:rPr lang="en-US" dirty="0">
                <a:solidFill>
                  <a:srgbClr val="A31515"/>
                </a:solidFill>
                <a:latin typeface="Courier New" panose="02070309020205020404" pitchFamily="49" charset="0"/>
              </a:rPr>
              <a:t>'age'</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Set common labels for y-axis and x-axis</a:t>
            </a:r>
            <a:endParaRPr lang="en-US" dirty="0">
              <a:latin typeface="Courier New" panose="02070309020205020404" pitchFamily="49" charset="0"/>
            </a:endParaRPr>
          </a:p>
          <a:p>
            <a:r>
              <a:rPr lang="en-US" dirty="0" err="1">
                <a:latin typeface="Courier New" panose="02070309020205020404" pitchFamily="49" charset="0"/>
              </a:rPr>
              <a:t>grid.set_axis_labels</a:t>
            </a:r>
            <a:r>
              <a:rPr lang="en-US" dirty="0">
                <a:latin typeface="Courier New" panose="02070309020205020404" pitchFamily="49" charset="0"/>
              </a:rPr>
              <a:t>(</a:t>
            </a:r>
            <a:r>
              <a:rPr lang="en-US" dirty="0">
                <a:solidFill>
                  <a:srgbClr val="A31515"/>
                </a:solidFill>
                <a:latin typeface="Courier New" panose="02070309020205020404" pitchFamily="49" charset="0"/>
              </a:rPr>
              <a:t>'Age'</a:t>
            </a:r>
            <a:r>
              <a:rPr lang="en-US" dirty="0">
                <a:latin typeface="Courier New" panose="02070309020205020404" pitchFamily="49" charset="0"/>
              </a:rPr>
              <a:t>, </a:t>
            </a:r>
            <a:r>
              <a:rPr lang="en-US" dirty="0">
                <a:solidFill>
                  <a:srgbClr val="A31515"/>
                </a:solidFill>
                <a:latin typeface="Courier New" panose="02070309020205020404" pitchFamily="49" charset="0"/>
              </a:rPr>
              <a:t>'Count'</a:t>
            </a:r>
            <a:r>
              <a:rPr lang="en-US" dirty="0">
                <a:latin typeface="Courier New" panose="02070309020205020404" pitchFamily="49" charset="0"/>
              </a:rPr>
              <a:t>)</a:t>
            </a:r>
          </a:p>
          <a:p>
            <a:endParaRPr lang="en-US" dirty="0" smtClean="0">
              <a:latin typeface="Courier New" panose="02070309020205020404" pitchFamily="49" charset="0"/>
            </a:endParaRPr>
          </a:p>
          <a:p>
            <a:r>
              <a:rPr lang="en-US" dirty="0" err="1" smtClean="0">
                <a:latin typeface="Courier New" panose="02070309020205020404" pitchFamily="49" charset="0"/>
              </a:rPr>
              <a:t>grid.set_titles</a:t>
            </a:r>
            <a:r>
              <a:rPr lang="en-US" dirty="0" smtClean="0">
                <a:latin typeface="Courier New" panose="02070309020205020404" pitchFamily="49" charset="0"/>
              </a:rPr>
              <a:t>(</a:t>
            </a:r>
            <a:r>
              <a:rPr lang="en-US" dirty="0" err="1" smtClean="0">
                <a:latin typeface="Courier New" panose="02070309020205020404" pitchFamily="49" charset="0"/>
              </a:rPr>
              <a:t>row_template</a:t>
            </a:r>
            <a:r>
              <a:rPr lang="en-US" dirty="0">
                <a:latin typeface="Courier New" panose="02070309020205020404" pitchFamily="49" charset="0"/>
              </a:rPr>
              <a:t>=</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row_name</a:t>
            </a:r>
            <a:r>
              <a:rPr lang="en-US" dirty="0">
                <a:solidFill>
                  <a:srgbClr val="A31515"/>
                </a:solidFill>
                <a:latin typeface="Courier New" panose="02070309020205020404" pitchFamily="49" charset="0"/>
              </a:rPr>
              <a:t>} Class'</a:t>
            </a:r>
            <a:r>
              <a:rPr lang="en-US" dirty="0">
                <a:latin typeface="Courier New" panose="02070309020205020404" pitchFamily="49" charset="0"/>
              </a:rPr>
              <a:t>, </a:t>
            </a:r>
            <a:r>
              <a:rPr lang="en-US" dirty="0" err="1" smtClean="0">
                <a:latin typeface="Courier New" panose="02070309020205020404" pitchFamily="49" charset="0"/>
              </a:rPr>
              <a:t>col_template</a:t>
            </a:r>
            <a:r>
              <a:rPr lang="en-US" dirty="0">
                <a:latin typeface="Courier New" panose="02070309020205020404" pitchFamily="49" charset="0"/>
              </a:rPr>
              <a:t>=</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col_name</a:t>
            </a:r>
            <a:r>
              <a:rPr lang="en-US" dirty="0">
                <a:solidFill>
                  <a:srgbClr val="A31515"/>
                </a:solidFill>
                <a:latin typeface="Courier New" panose="02070309020205020404" pitchFamily="49" charset="0"/>
              </a:rPr>
              <a:t>}'</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err="1" smtClean="0">
                <a:latin typeface="Courier New" panose="02070309020205020404" pitchFamily="49" charset="0"/>
              </a:rPr>
              <a:t>plt.show</a:t>
            </a:r>
            <a:r>
              <a:rPr lang="en-US" dirty="0" smtClean="0">
                <a:latin typeface="Courier New" panose="02070309020205020404" pitchFamily="49" charset="0"/>
              </a:rPr>
              <a:t>()</a:t>
            </a:r>
            <a:r>
              <a:rPr lang="en-US" dirty="0">
                <a:solidFill>
                  <a:srgbClr val="008000"/>
                </a:solidFill>
                <a:latin typeface="Courier New" panose="02070309020205020404" pitchFamily="49" charset="0"/>
              </a:rPr>
              <a:t> # Show the plot</a:t>
            </a:r>
            <a:endParaRPr lang="en-US" dirty="0">
              <a:latin typeface="Courier New" panose="02070309020205020404" pitchFamily="49" charset="0"/>
            </a:endParaRPr>
          </a:p>
          <a:p>
            <a:endParaRPr lang="en-US" dirty="0">
              <a:latin typeface="Courier New" panose="02070309020205020404" pitchFamily="49" charset="0"/>
            </a:endParaRPr>
          </a:p>
        </p:txBody>
      </p:sp>
    </p:spTree>
    <p:extLst>
      <p:ext uri="{BB962C8B-B14F-4D97-AF65-F5344CB8AC3E}">
        <p14:creationId xmlns:p14="http://schemas.microsoft.com/office/powerpoint/2010/main" val="27437995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Facet Grids for categorical data</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pic>
        <p:nvPicPr>
          <p:cNvPr id="4" name="Picture 3"/>
          <p:cNvPicPr>
            <a:picLocks noChangeAspect="1"/>
          </p:cNvPicPr>
          <p:nvPr/>
        </p:nvPicPr>
        <p:blipFill>
          <a:blip r:embed="rId3"/>
          <a:stretch>
            <a:fillRect/>
          </a:stretch>
        </p:blipFill>
        <p:spPr>
          <a:xfrm>
            <a:off x="2614614" y="764403"/>
            <a:ext cx="3403802" cy="3997041"/>
          </a:xfrm>
          <a:prstGeom prst="rect">
            <a:avLst/>
          </a:prstGeom>
        </p:spPr>
      </p:pic>
    </p:spTree>
    <p:extLst>
      <p:ext uri="{BB962C8B-B14F-4D97-AF65-F5344CB8AC3E}">
        <p14:creationId xmlns:p14="http://schemas.microsoft.com/office/powerpoint/2010/main" val="8234632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Facet Grids for categorical data</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174568" y="946853"/>
            <a:ext cx="4572000" cy="2031325"/>
          </a:xfrm>
          <a:prstGeom prst="rect">
            <a:avLst/>
          </a:prstGeom>
        </p:spPr>
        <p:txBody>
          <a:bodyPr>
            <a:spAutoFit/>
          </a:bodyPr>
          <a:lstStyle/>
          <a:p>
            <a:r>
              <a:rPr lang="en-US" dirty="0">
                <a:solidFill>
                  <a:srgbClr val="374151"/>
                </a:solidFill>
                <a:latin typeface="Söhne"/>
              </a:rPr>
              <a:t>Advantages of Facet Grid:</a:t>
            </a:r>
          </a:p>
          <a:p>
            <a:pPr>
              <a:buFont typeface="+mj-lt"/>
              <a:buAutoNum type="arabicPeriod"/>
            </a:pPr>
            <a:r>
              <a:rPr lang="en-US" dirty="0" smtClean="0">
                <a:solidFill>
                  <a:srgbClr val="374151"/>
                </a:solidFill>
                <a:latin typeface="Söhne"/>
              </a:rPr>
              <a:t>  Enhanced Comparisons</a:t>
            </a:r>
          </a:p>
          <a:p>
            <a:pPr>
              <a:buFont typeface="+mj-lt"/>
              <a:buAutoNum type="arabicPeriod"/>
            </a:pPr>
            <a:r>
              <a:rPr lang="en-US" dirty="0" smtClean="0"/>
              <a:t>  Multidimensional Insights</a:t>
            </a:r>
          </a:p>
          <a:p>
            <a:pPr>
              <a:buFont typeface="+mj-lt"/>
              <a:buAutoNum type="arabicPeriod"/>
            </a:pPr>
            <a:r>
              <a:rPr lang="en-US" dirty="0" smtClean="0"/>
              <a:t>  Efficient Communication</a:t>
            </a:r>
          </a:p>
          <a:p>
            <a:r>
              <a:rPr lang="en-US" dirty="0"/>
              <a:t>Disadvantages of Facet Grid:</a:t>
            </a:r>
          </a:p>
          <a:p>
            <a:r>
              <a:rPr lang="en-US" dirty="0" smtClean="0"/>
              <a:t>1. Limited Space</a:t>
            </a:r>
          </a:p>
          <a:p>
            <a:r>
              <a:rPr lang="en-US" dirty="0" smtClean="0"/>
              <a:t>2. Potential Overcrowding</a:t>
            </a:r>
          </a:p>
          <a:p>
            <a:r>
              <a:rPr lang="en-US" dirty="0" smtClean="0"/>
              <a:t>3. Complexity </a:t>
            </a:r>
            <a:r>
              <a:rPr lang="en-US" dirty="0"/>
              <a:t>of Interpretation:</a:t>
            </a:r>
          </a:p>
          <a:p>
            <a:endParaRPr lang="en-US" dirty="0">
              <a:solidFill>
                <a:srgbClr val="374151"/>
              </a:solidFill>
              <a:latin typeface="Söhne"/>
            </a:endParaRPr>
          </a:p>
        </p:txBody>
      </p:sp>
    </p:spTree>
    <p:extLst>
      <p:ext uri="{BB962C8B-B14F-4D97-AF65-F5344CB8AC3E}">
        <p14:creationId xmlns:p14="http://schemas.microsoft.com/office/powerpoint/2010/main" val="39586084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Group Plots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1"/>
          <p:cNvSpPr>
            <a:spLocks noGrp="1" noChangeArrowheads="1"/>
          </p:cNvSpPr>
          <p:nvPr>
            <p:ph idx="1"/>
          </p:nvPr>
        </p:nvSpPr>
        <p:spPr bwMode="auto">
          <a:xfrm>
            <a:off x="110736" y="767748"/>
            <a:ext cx="8551126" cy="4063166"/>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374151"/>
                </a:solidFill>
                <a:effectLst/>
                <a:latin typeface="Söhne"/>
              </a:rPr>
              <a:t>Group plots refer to the technique of organizing multiple plots or visualizations together to present information in a cohesive and meaningful manner. Grouping plots allows for easier comparison and analysis of different aspects of the data. There are several ways to achieve group plots, including:</a:t>
            </a:r>
            <a:endParaRPr kumimoji="0" lang="en-US" sz="1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400" b="0" i="0" u="none" strike="noStrike" cap="none" normalizeH="0" baseline="0" dirty="0" smtClean="0">
                <a:ln>
                  <a:noFill/>
                </a:ln>
                <a:solidFill>
                  <a:srgbClr val="374151"/>
                </a:solidFill>
                <a:effectLst/>
                <a:latin typeface="Söhne"/>
              </a:rPr>
              <a:t>Subplots: Subplots involve creating a grid of smaller plots within a larger plot area. With </a:t>
            </a:r>
            <a:r>
              <a:rPr kumimoji="0" lang="en-US" sz="1400" b="0" i="0" u="none" strike="noStrike" cap="none" normalizeH="0" baseline="0" dirty="0" err="1" smtClean="0">
                <a:ln>
                  <a:noFill/>
                </a:ln>
                <a:solidFill>
                  <a:srgbClr val="374151"/>
                </a:solidFill>
                <a:effectLst/>
                <a:latin typeface="Söhne"/>
              </a:rPr>
              <a:t>Matplotlib</a:t>
            </a:r>
            <a:r>
              <a:rPr kumimoji="0" lang="en-US" sz="1400" b="0" i="0" u="none" strike="noStrike" cap="none" normalizeH="0" baseline="0" dirty="0" smtClean="0">
                <a:ln>
                  <a:noFill/>
                </a:ln>
                <a:solidFill>
                  <a:srgbClr val="374151"/>
                </a:solidFill>
                <a:effectLst/>
                <a:latin typeface="Söhne"/>
              </a:rPr>
              <a:t> or other plotting libraries, you can use functions like </a:t>
            </a:r>
            <a:r>
              <a:rPr kumimoji="0" lang="en-US" sz="1400" b="1" i="0" u="none" strike="noStrike" cap="none" normalizeH="0" baseline="0" dirty="0" err="1" smtClean="0">
                <a:ln>
                  <a:noFill/>
                </a:ln>
                <a:solidFill>
                  <a:srgbClr val="374151"/>
                </a:solidFill>
                <a:effectLst/>
                <a:latin typeface="Söhne Mono"/>
              </a:rPr>
              <a:t>plt.subplots</a:t>
            </a:r>
            <a:r>
              <a:rPr kumimoji="0" lang="en-US" sz="1400" b="1" i="0" u="none" strike="noStrike" cap="none" normalizeH="0" baseline="0" dirty="0" smtClean="0">
                <a:ln>
                  <a:noFill/>
                </a:ln>
                <a:solidFill>
                  <a:srgbClr val="374151"/>
                </a:solidFill>
                <a:effectLst/>
                <a:latin typeface="Söhne Mono"/>
              </a:rPr>
              <a:t>()</a:t>
            </a:r>
            <a:r>
              <a:rPr kumimoji="0" lang="en-US" sz="1400" b="0" i="0" u="none" strike="noStrike" cap="none" normalizeH="0" baseline="0" dirty="0" smtClean="0">
                <a:ln>
                  <a:noFill/>
                </a:ln>
                <a:solidFill>
                  <a:srgbClr val="374151"/>
                </a:solidFill>
                <a:effectLst/>
                <a:latin typeface="Söhne"/>
              </a:rPr>
              <a:t> or </a:t>
            </a:r>
            <a:r>
              <a:rPr kumimoji="0" lang="en-US" sz="1400" b="1" i="0" u="none" strike="noStrike" cap="none" normalizeH="0" baseline="0" dirty="0" err="1" smtClean="0">
                <a:ln>
                  <a:noFill/>
                </a:ln>
                <a:solidFill>
                  <a:srgbClr val="374151"/>
                </a:solidFill>
                <a:effectLst/>
                <a:latin typeface="Söhne Mono"/>
              </a:rPr>
              <a:t>plt.subplot</a:t>
            </a:r>
            <a:r>
              <a:rPr kumimoji="0" lang="en-US" sz="1400" b="1" i="0" u="none" strike="noStrike" cap="none" normalizeH="0" baseline="0" dirty="0" smtClean="0">
                <a:ln>
                  <a:noFill/>
                </a:ln>
                <a:solidFill>
                  <a:srgbClr val="374151"/>
                </a:solidFill>
                <a:effectLst/>
                <a:latin typeface="Söhne Mono"/>
              </a:rPr>
              <a:t>()</a:t>
            </a:r>
            <a:r>
              <a:rPr kumimoji="0" lang="en-US" sz="1400" b="0" i="0" u="none" strike="noStrike" cap="none" normalizeH="0" baseline="0" dirty="0" smtClean="0">
                <a:ln>
                  <a:noFill/>
                </a:ln>
                <a:solidFill>
                  <a:srgbClr val="374151"/>
                </a:solidFill>
                <a:effectLst/>
                <a:latin typeface="Söhne"/>
              </a:rPr>
              <a:t> to create subplots and specify their arrangement (e.g., rows and columns). Each subplot can represent a different aspect of the data, allowing for side-by-side comparison.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1400" b="0" i="0" u="none" strike="noStrike" cap="none" normalizeH="0" baseline="0" dirty="0" smtClean="0">
                <a:ln>
                  <a:noFill/>
                </a:ln>
                <a:solidFill>
                  <a:srgbClr val="374151"/>
                </a:solidFill>
                <a:effectLst/>
                <a:latin typeface="Söhne"/>
              </a:rPr>
              <a:t>Facet Grids: Facet grids, commonly implemented in libraries like </a:t>
            </a:r>
            <a:r>
              <a:rPr kumimoji="0" lang="en-US" sz="1400" b="0" i="0" u="none" strike="noStrike" cap="none" normalizeH="0" baseline="0" dirty="0" err="1" smtClean="0">
                <a:ln>
                  <a:noFill/>
                </a:ln>
                <a:solidFill>
                  <a:srgbClr val="374151"/>
                </a:solidFill>
                <a:effectLst/>
                <a:latin typeface="Söhne"/>
              </a:rPr>
              <a:t>Seaborn</a:t>
            </a:r>
            <a:r>
              <a:rPr kumimoji="0" lang="en-US" sz="1400" b="0" i="0" u="none" strike="noStrike" cap="none" normalizeH="0" baseline="0" dirty="0" smtClean="0">
                <a:ln>
                  <a:noFill/>
                </a:ln>
                <a:solidFill>
                  <a:srgbClr val="374151"/>
                </a:solidFill>
                <a:effectLst/>
                <a:latin typeface="Söhne"/>
              </a:rPr>
              <a:t>, allow for organizing multiple subplots based on categorical variables. You can create a grid of subplots, where each subplot represents a unique combination of categorical variables. This facilitates comparisons between different categories and provides insights into relationships within the data.</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1400" b="0" i="0" u="none" strike="noStrike" cap="none" normalizeH="0" baseline="0" dirty="0" err="1" smtClean="0">
                <a:ln>
                  <a:noFill/>
                </a:ln>
                <a:solidFill>
                  <a:srgbClr val="374151"/>
                </a:solidFill>
                <a:effectLst/>
                <a:latin typeface="Söhne"/>
              </a:rPr>
              <a:t>GridSpec</a:t>
            </a:r>
            <a:r>
              <a:rPr kumimoji="0" lang="en-US" sz="1400" b="0" i="0" u="none" strike="noStrike" cap="none" normalizeH="0" baseline="0" dirty="0" smtClean="0">
                <a:ln>
                  <a:noFill/>
                </a:ln>
                <a:solidFill>
                  <a:srgbClr val="374151"/>
                </a:solidFill>
                <a:effectLst/>
                <a:latin typeface="Söhne"/>
              </a:rPr>
              <a:t>: </a:t>
            </a:r>
            <a:r>
              <a:rPr kumimoji="0" lang="en-US" sz="1400" b="0" i="0" u="none" strike="noStrike" cap="none" normalizeH="0" baseline="0" dirty="0" err="1" smtClean="0">
                <a:ln>
                  <a:noFill/>
                </a:ln>
                <a:solidFill>
                  <a:srgbClr val="374151"/>
                </a:solidFill>
                <a:effectLst/>
                <a:latin typeface="Söhne"/>
              </a:rPr>
              <a:t>Matplotlib's</a:t>
            </a:r>
            <a:r>
              <a:rPr kumimoji="0" lang="en-US" sz="1400" b="0" i="0" u="none" strike="noStrike" cap="none" normalizeH="0" baseline="0" dirty="0" smtClean="0">
                <a:ln>
                  <a:noFill/>
                </a:ln>
                <a:solidFill>
                  <a:srgbClr val="374151"/>
                </a:solidFill>
                <a:effectLst/>
                <a:latin typeface="Söhne"/>
              </a:rPr>
              <a:t> </a:t>
            </a:r>
            <a:r>
              <a:rPr kumimoji="0" lang="en-US" sz="1400" b="1" i="0" u="none" strike="noStrike" cap="none" normalizeH="0" baseline="0" dirty="0" err="1" smtClean="0">
                <a:ln>
                  <a:noFill/>
                </a:ln>
                <a:solidFill>
                  <a:srgbClr val="374151"/>
                </a:solidFill>
                <a:effectLst/>
                <a:latin typeface="Söhne Mono"/>
              </a:rPr>
              <a:t>GridSpec</a:t>
            </a:r>
            <a:r>
              <a:rPr kumimoji="0" lang="en-US" sz="1400" b="0" i="0" u="none" strike="noStrike" cap="none" normalizeH="0" baseline="0" dirty="0" smtClean="0">
                <a:ln>
                  <a:noFill/>
                </a:ln>
                <a:solidFill>
                  <a:srgbClr val="374151"/>
                </a:solidFill>
                <a:effectLst/>
                <a:latin typeface="Söhne"/>
              </a:rPr>
              <a:t> module provides a powerful way to create complex subplot layouts. It allows you to define a grid with different-sized cells and position plots within those cells. This flexibility enables you to group plots in custom arrangements and sizes, accommodating complex visualization needs.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sz="1400" b="0" i="0" u="none" strike="noStrike" cap="none" normalizeH="0" baseline="0" dirty="0" smtClean="0">
                <a:ln>
                  <a:noFill/>
                </a:ln>
                <a:solidFill>
                  <a:srgbClr val="374151"/>
                </a:solidFill>
                <a:effectLst/>
                <a:latin typeface="Söhne"/>
              </a:rPr>
              <a:t>Panels or Tabs: In certain interactive plotting environments, such as </a:t>
            </a:r>
            <a:r>
              <a:rPr kumimoji="0" lang="en-US" sz="1400" b="0" i="0" u="none" strike="noStrike" cap="none" normalizeH="0" baseline="0" dirty="0" err="1" smtClean="0">
                <a:ln>
                  <a:noFill/>
                </a:ln>
                <a:solidFill>
                  <a:srgbClr val="374151"/>
                </a:solidFill>
                <a:effectLst/>
                <a:latin typeface="Söhne"/>
              </a:rPr>
              <a:t>Plotly</a:t>
            </a:r>
            <a:r>
              <a:rPr kumimoji="0" lang="en-US" sz="1400" b="0" i="0" u="none" strike="noStrike" cap="none" normalizeH="0" baseline="0" dirty="0" smtClean="0">
                <a:ln>
                  <a:noFill/>
                </a:ln>
                <a:solidFill>
                  <a:srgbClr val="374151"/>
                </a:solidFill>
                <a:effectLst/>
                <a:latin typeface="Söhne"/>
              </a:rPr>
              <a:t> or </a:t>
            </a:r>
            <a:r>
              <a:rPr kumimoji="0" lang="en-US" sz="1400" b="0" i="0" u="none" strike="noStrike" cap="none" normalizeH="0" baseline="0" dirty="0" err="1" smtClean="0">
                <a:ln>
                  <a:noFill/>
                </a:ln>
                <a:solidFill>
                  <a:srgbClr val="374151"/>
                </a:solidFill>
                <a:effectLst/>
                <a:latin typeface="Söhne"/>
              </a:rPr>
              <a:t>Bokeh</a:t>
            </a:r>
            <a:r>
              <a:rPr kumimoji="0" lang="en-US" sz="1400" b="0" i="0" u="none" strike="noStrike" cap="none" normalizeH="0" baseline="0" dirty="0" smtClean="0">
                <a:ln>
                  <a:noFill/>
                </a:ln>
                <a:solidFill>
                  <a:srgbClr val="374151"/>
                </a:solidFill>
                <a:effectLst/>
                <a:latin typeface="Söhne"/>
              </a:rPr>
              <a:t>, you can create panels or tabs to group related plots together. Each panel or tab can display a different set of plots, allowing users to switch between them and explore different aspects of the data.</a:t>
            </a:r>
            <a:endParaRPr kumimoji="0" lang="en-US" sz="1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914928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Group Plots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3"/>
          <p:cNvSpPr/>
          <p:nvPr/>
        </p:nvSpPr>
        <p:spPr>
          <a:xfrm>
            <a:off x="-8313" y="825052"/>
            <a:ext cx="6184669" cy="4185761"/>
          </a:xfrm>
          <a:prstGeom prst="rect">
            <a:avLst/>
          </a:prstGeom>
        </p:spPr>
        <p:txBody>
          <a:bodyPr wrap="square">
            <a:spAutoFit/>
          </a:bodyPr>
          <a:lstStyle/>
          <a:p>
            <a:r>
              <a:rPr lang="en-US" dirty="0">
                <a:solidFill>
                  <a:srgbClr val="AF00DB"/>
                </a:solidFill>
                <a:latin typeface="Courier New" panose="02070309020205020404" pitchFamily="49" charset="0"/>
              </a:rPr>
              <a:t>import</a:t>
            </a:r>
            <a:r>
              <a:rPr lang="en-US" dirty="0">
                <a:latin typeface="Courier New" panose="02070309020205020404" pitchFamily="49" charset="0"/>
              </a:rPr>
              <a:t> </a:t>
            </a:r>
            <a:r>
              <a:rPr lang="en-US" dirty="0" err="1">
                <a:latin typeface="Courier New" panose="02070309020205020404" pitchFamily="49" charset="0"/>
              </a:rPr>
              <a:t>matplotlib.pyplot</a:t>
            </a:r>
            <a:r>
              <a:rPr lang="en-US" dirty="0">
                <a:latin typeface="Courier New" panose="02070309020205020404" pitchFamily="49" charset="0"/>
              </a:rPr>
              <a:t> </a:t>
            </a:r>
            <a:r>
              <a:rPr lang="en-US" dirty="0">
                <a:solidFill>
                  <a:srgbClr val="AF00DB"/>
                </a:solidFill>
                <a:latin typeface="Courier New" panose="02070309020205020404" pitchFamily="49" charset="0"/>
              </a:rPr>
              <a:t>as</a:t>
            </a:r>
            <a:r>
              <a:rPr lang="en-US" dirty="0">
                <a:latin typeface="Courier New" panose="02070309020205020404" pitchFamily="49" charset="0"/>
              </a:rPr>
              <a:t> </a:t>
            </a:r>
            <a:r>
              <a:rPr lang="en-US" dirty="0" err="1">
                <a:latin typeface="Courier New" panose="02070309020205020404" pitchFamily="49" charset="0"/>
              </a:rPr>
              <a:t>plt</a:t>
            </a:r>
            <a:endParaRPr lang="en-US" dirty="0">
              <a:latin typeface="Courier New" panose="02070309020205020404" pitchFamily="49" charset="0"/>
            </a:endParaRPr>
          </a:p>
          <a:p>
            <a:r>
              <a:rPr lang="en-US" dirty="0">
                <a:solidFill>
                  <a:srgbClr val="AF00DB"/>
                </a:solidFill>
                <a:latin typeface="Courier New" panose="02070309020205020404" pitchFamily="49" charset="0"/>
              </a:rPr>
              <a:t>import</a:t>
            </a:r>
            <a:r>
              <a:rPr lang="en-US" dirty="0">
                <a:latin typeface="Courier New" panose="02070309020205020404" pitchFamily="49" charset="0"/>
              </a:rPr>
              <a:t> </a:t>
            </a:r>
            <a:r>
              <a:rPr lang="en-US" dirty="0" err="1">
                <a:latin typeface="Courier New" panose="02070309020205020404" pitchFamily="49" charset="0"/>
              </a:rPr>
              <a:t>numpy</a:t>
            </a:r>
            <a:r>
              <a:rPr lang="en-US" dirty="0">
                <a:latin typeface="Courier New" panose="02070309020205020404" pitchFamily="49" charset="0"/>
              </a:rPr>
              <a:t> </a:t>
            </a:r>
            <a:r>
              <a:rPr lang="en-US" dirty="0">
                <a:solidFill>
                  <a:srgbClr val="AF00DB"/>
                </a:solidFill>
                <a:latin typeface="Courier New" panose="02070309020205020404" pitchFamily="49" charset="0"/>
              </a:rPr>
              <a:t>as</a:t>
            </a:r>
            <a:r>
              <a:rPr lang="en-US" dirty="0">
                <a:latin typeface="Courier New" panose="02070309020205020404" pitchFamily="49" charset="0"/>
              </a:rPr>
              <a:t> </a:t>
            </a:r>
            <a:r>
              <a:rPr lang="en-US" dirty="0" err="1">
                <a:latin typeface="Courier New" panose="02070309020205020404" pitchFamily="49" charset="0"/>
              </a:rPr>
              <a:t>np</a:t>
            </a:r>
            <a:endParaRPr lang="en-US" dirty="0">
              <a:latin typeface="Courier New" panose="02070309020205020404" pitchFamily="49" charset="0"/>
            </a:endParaRP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Generate some random data</a:t>
            </a:r>
            <a:endParaRPr lang="en-US" dirty="0">
              <a:latin typeface="Courier New" panose="02070309020205020404" pitchFamily="49" charset="0"/>
            </a:endParaRPr>
          </a:p>
          <a:p>
            <a:r>
              <a:rPr lang="en-US" dirty="0">
                <a:latin typeface="Courier New" panose="02070309020205020404" pitchFamily="49" charset="0"/>
              </a:rPr>
              <a:t>x = </a:t>
            </a:r>
            <a:r>
              <a:rPr lang="en-US" dirty="0" err="1">
                <a:latin typeface="Courier New" panose="02070309020205020404" pitchFamily="49" charset="0"/>
              </a:rPr>
              <a:t>np.linspace</a:t>
            </a:r>
            <a:r>
              <a:rPr lang="en-US" dirty="0">
                <a:latin typeface="Courier New" panose="02070309020205020404" pitchFamily="49" charset="0"/>
              </a:rPr>
              <a:t>(</a:t>
            </a:r>
            <a:r>
              <a:rPr lang="en-US" dirty="0">
                <a:solidFill>
                  <a:srgbClr val="098156"/>
                </a:solidFill>
                <a:latin typeface="Courier New" panose="02070309020205020404" pitchFamily="49" charset="0"/>
              </a:rPr>
              <a:t>0</a:t>
            </a:r>
            <a:r>
              <a:rPr lang="en-US" dirty="0">
                <a:latin typeface="Courier New" panose="02070309020205020404" pitchFamily="49" charset="0"/>
              </a:rPr>
              <a:t>, </a:t>
            </a:r>
            <a:r>
              <a:rPr lang="en-US" dirty="0">
                <a:solidFill>
                  <a:srgbClr val="098156"/>
                </a:solidFill>
                <a:latin typeface="Courier New" panose="02070309020205020404" pitchFamily="49" charset="0"/>
              </a:rPr>
              <a:t>10</a:t>
            </a:r>
            <a:r>
              <a:rPr lang="en-US" dirty="0">
                <a:latin typeface="Courier New" panose="02070309020205020404" pitchFamily="49" charset="0"/>
              </a:rPr>
              <a:t>, </a:t>
            </a:r>
            <a:r>
              <a:rPr lang="en-US" dirty="0">
                <a:solidFill>
                  <a:srgbClr val="098156"/>
                </a:solidFill>
                <a:latin typeface="Courier New" panose="02070309020205020404" pitchFamily="49" charset="0"/>
              </a:rPr>
              <a:t>100</a:t>
            </a:r>
            <a:r>
              <a:rPr lang="en-US" dirty="0">
                <a:latin typeface="Courier New" panose="02070309020205020404" pitchFamily="49" charset="0"/>
              </a:rPr>
              <a:t>)</a:t>
            </a:r>
          </a:p>
          <a:p>
            <a:r>
              <a:rPr lang="en-US" dirty="0">
                <a:latin typeface="Courier New" panose="02070309020205020404" pitchFamily="49" charset="0"/>
              </a:rPr>
              <a:t>y1 = </a:t>
            </a:r>
            <a:r>
              <a:rPr lang="en-US" dirty="0" err="1">
                <a:latin typeface="Courier New" panose="02070309020205020404" pitchFamily="49" charset="0"/>
              </a:rPr>
              <a:t>np.sin</a:t>
            </a:r>
            <a:r>
              <a:rPr lang="en-US" dirty="0">
                <a:latin typeface="Courier New" panose="02070309020205020404" pitchFamily="49" charset="0"/>
              </a:rPr>
              <a:t>(x)</a:t>
            </a:r>
          </a:p>
          <a:p>
            <a:r>
              <a:rPr lang="en-US" dirty="0">
                <a:latin typeface="Courier New" panose="02070309020205020404" pitchFamily="49" charset="0"/>
              </a:rPr>
              <a:t>y2 = </a:t>
            </a:r>
            <a:r>
              <a:rPr lang="en-US" dirty="0" err="1">
                <a:latin typeface="Courier New" panose="02070309020205020404" pitchFamily="49" charset="0"/>
              </a:rPr>
              <a:t>np.cos</a:t>
            </a:r>
            <a:r>
              <a:rPr lang="en-US" dirty="0">
                <a:latin typeface="Courier New" panose="02070309020205020404" pitchFamily="49" charset="0"/>
              </a:rPr>
              <a:t>(x)</a:t>
            </a:r>
          </a:p>
          <a:p>
            <a:r>
              <a:rPr lang="en-US" dirty="0">
                <a:latin typeface="Courier New" panose="02070309020205020404" pitchFamily="49" charset="0"/>
              </a:rPr>
              <a:t>y3 = </a:t>
            </a:r>
            <a:r>
              <a:rPr lang="en-US" dirty="0" err="1">
                <a:latin typeface="Courier New" panose="02070309020205020404" pitchFamily="49" charset="0"/>
              </a:rPr>
              <a:t>np.tan</a:t>
            </a:r>
            <a:r>
              <a:rPr lang="en-US" dirty="0">
                <a:latin typeface="Courier New" panose="02070309020205020404" pitchFamily="49" charset="0"/>
              </a:rPr>
              <a:t>(x)</a:t>
            </a: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Create a figure with subplots</a:t>
            </a:r>
            <a:endParaRPr lang="en-US" dirty="0">
              <a:latin typeface="Courier New" panose="02070309020205020404" pitchFamily="49" charset="0"/>
            </a:endParaRPr>
          </a:p>
          <a:p>
            <a:r>
              <a:rPr lang="en-US" dirty="0">
                <a:latin typeface="Courier New" panose="02070309020205020404" pitchFamily="49" charset="0"/>
              </a:rPr>
              <a:t>fig, axes = </a:t>
            </a:r>
            <a:r>
              <a:rPr lang="en-US" dirty="0" err="1">
                <a:latin typeface="Courier New" panose="02070309020205020404" pitchFamily="49" charset="0"/>
              </a:rPr>
              <a:t>plt.subplots</a:t>
            </a:r>
            <a:r>
              <a:rPr lang="en-US" dirty="0">
                <a:latin typeface="Courier New" panose="02070309020205020404" pitchFamily="49" charset="0"/>
              </a:rPr>
              <a:t>(</a:t>
            </a:r>
            <a:r>
              <a:rPr lang="en-US" dirty="0">
                <a:solidFill>
                  <a:srgbClr val="098156"/>
                </a:solidFill>
                <a:latin typeface="Courier New" panose="02070309020205020404" pitchFamily="49" charset="0"/>
              </a:rPr>
              <a:t>3</a:t>
            </a:r>
            <a:r>
              <a:rPr lang="en-US" dirty="0">
                <a:latin typeface="Courier New" panose="02070309020205020404" pitchFamily="49" charset="0"/>
              </a:rPr>
              <a:t>, </a:t>
            </a:r>
            <a:r>
              <a:rPr lang="en-US" dirty="0">
                <a:solidFill>
                  <a:srgbClr val="098156"/>
                </a:solidFill>
                <a:latin typeface="Courier New" panose="02070309020205020404" pitchFamily="49" charset="0"/>
              </a:rPr>
              <a:t>1</a:t>
            </a:r>
            <a:r>
              <a:rPr lang="en-US" dirty="0">
                <a:latin typeface="Courier New" panose="02070309020205020404" pitchFamily="49" charset="0"/>
              </a:rPr>
              <a:t>, </a:t>
            </a:r>
            <a:r>
              <a:rPr lang="en-US" dirty="0" err="1">
                <a:latin typeface="Courier New" panose="02070309020205020404" pitchFamily="49" charset="0"/>
              </a:rPr>
              <a:t>figsize</a:t>
            </a:r>
            <a:r>
              <a:rPr lang="en-US" dirty="0">
                <a:latin typeface="Courier New" panose="02070309020205020404" pitchFamily="49" charset="0"/>
              </a:rPr>
              <a:t>=(</a:t>
            </a:r>
            <a:r>
              <a:rPr lang="en-US" dirty="0">
                <a:solidFill>
                  <a:srgbClr val="098156"/>
                </a:solidFill>
                <a:latin typeface="Courier New" panose="02070309020205020404" pitchFamily="49" charset="0"/>
              </a:rPr>
              <a:t>8</a:t>
            </a:r>
            <a:r>
              <a:rPr lang="en-US" dirty="0">
                <a:latin typeface="Courier New" panose="02070309020205020404" pitchFamily="49" charset="0"/>
              </a:rPr>
              <a:t>, </a:t>
            </a:r>
            <a:r>
              <a:rPr lang="en-US" dirty="0">
                <a:solidFill>
                  <a:srgbClr val="098156"/>
                </a:solidFill>
                <a:latin typeface="Courier New" panose="02070309020205020404" pitchFamily="49" charset="0"/>
              </a:rPr>
              <a:t>10</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Plot data on each subplot</a:t>
            </a:r>
            <a:endParaRPr lang="en-US" dirty="0">
              <a:latin typeface="Courier New" panose="02070309020205020404" pitchFamily="49" charset="0"/>
            </a:endParaRPr>
          </a:p>
          <a:p>
            <a:r>
              <a:rPr lang="en-US" dirty="0">
                <a:latin typeface="Courier New" panose="02070309020205020404" pitchFamily="49" charset="0"/>
              </a:rPr>
              <a:t>axes[</a:t>
            </a:r>
            <a:r>
              <a:rPr lang="en-US" dirty="0">
                <a:solidFill>
                  <a:srgbClr val="098156"/>
                </a:solidFill>
                <a:latin typeface="Courier New" panose="02070309020205020404" pitchFamily="49" charset="0"/>
              </a:rPr>
              <a:t>0</a:t>
            </a:r>
            <a:r>
              <a:rPr lang="en-US" dirty="0">
                <a:latin typeface="Courier New" panose="02070309020205020404" pitchFamily="49" charset="0"/>
              </a:rPr>
              <a:t>].plot(x, y1, color=</a:t>
            </a:r>
            <a:r>
              <a:rPr lang="en-US" dirty="0">
                <a:solidFill>
                  <a:srgbClr val="A31515"/>
                </a:solidFill>
                <a:latin typeface="Courier New" panose="02070309020205020404" pitchFamily="49" charset="0"/>
              </a:rPr>
              <a:t>'red'</a:t>
            </a:r>
            <a:r>
              <a:rPr lang="en-US" dirty="0">
                <a:latin typeface="Courier New" panose="02070309020205020404" pitchFamily="49" charset="0"/>
              </a:rPr>
              <a:t>)</a:t>
            </a:r>
          </a:p>
          <a:p>
            <a:r>
              <a:rPr lang="en-US" dirty="0">
                <a:latin typeface="Courier New" panose="02070309020205020404" pitchFamily="49" charset="0"/>
              </a:rPr>
              <a:t>axes[</a:t>
            </a:r>
            <a:r>
              <a:rPr lang="en-US" dirty="0">
                <a:solidFill>
                  <a:srgbClr val="098156"/>
                </a:solidFill>
                <a:latin typeface="Courier New" panose="02070309020205020404" pitchFamily="49" charset="0"/>
              </a:rPr>
              <a:t>0</a:t>
            </a:r>
            <a:r>
              <a:rPr lang="en-US" dirty="0">
                <a:latin typeface="Courier New" panose="02070309020205020404" pitchFamily="49" charset="0"/>
              </a:rPr>
              <a:t>].</a:t>
            </a:r>
            <a:r>
              <a:rPr lang="en-US" dirty="0" err="1">
                <a:latin typeface="Courier New" panose="02070309020205020404" pitchFamily="49" charset="0"/>
              </a:rPr>
              <a:t>set_title</a:t>
            </a:r>
            <a:r>
              <a:rPr lang="en-US" dirty="0">
                <a:latin typeface="Courier New" panose="02070309020205020404" pitchFamily="49" charset="0"/>
              </a:rPr>
              <a:t>(</a:t>
            </a:r>
            <a:r>
              <a:rPr lang="en-US" dirty="0">
                <a:solidFill>
                  <a:srgbClr val="A31515"/>
                </a:solidFill>
                <a:latin typeface="Courier New" panose="02070309020205020404" pitchFamily="49" charset="0"/>
              </a:rPr>
              <a:t>'Plot 1: Sin(x)'</a:t>
            </a:r>
            <a:r>
              <a:rPr lang="en-US" dirty="0">
                <a:latin typeface="Courier New" panose="02070309020205020404" pitchFamily="49" charset="0"/>
              </a:rPr>
              <a:t>)</a:t>
            </a:r>
          </a:p>
          <a:p>
            <a:r>
              <a:rPr lang="en-US" dirty="0">
                <a:latin typeface="Courier New" panose="02070309020205020404" pitchFamily="49" charset="0"/>
              </a:rPr>
              <a:t>axes[</a:t>
            </a:r>
            <a:r>
              <a:rPr lang="en-US" dirty="0">
                <a:solidFill>
                  <a:srgbClr val="098156"/>
                </a:solidFill>
                <a:latin typeface="Courier New" panose="02070309020205020404" pitchFamily="49" charset="0"/>
              </a:rPr>
              <a:t>0</a:t>
            </a:r>
            <a:r>
              <a:rPr lang="en-US" dirty="0">
                <a:latin typeface="Courier New" panose="02070309020205020404" pitchFamily="49" charset="0"/>
              </a:rPr>
              <a:t>].</a:t>
            </a:r>
            <a:r>
              <a:rPr lang="en-US" dirty="0" err="1">
                <a:latin typeface="Courier New" panose="02070309020205020404" pitchFamily="49" charset="0"/>
              </a:rPr>
              <a:t>set_xlabel</a:t>
            </a:r>
            <a:r>
              <a:rPr lang="en-US" dirty="0">
                <a:latin typeface="Courier New" panose="02070309020205020404" pitchFamily="49" charset="0"/>
              </a:rPr>
              <a:t>(</a:t>
            </a:r>
            <a:r>
              <a:rPr lang="en-US" dirty="0">
                <a:solidFill>
                  <a:srgbClr val="A31515"/>
                </a:solidFill>
                <a:latin typeface="Courier New" panose="02070309020205020404" pitchFamily="49" charset="0"/>
              </a:rPr>
              <a:t>'x'</a:t>
            </a:r>
            <a:r>
              <a:rPr lang="en-US" dirty="0">
                <a:latin typeface="Courier New" panose="02070309020205020404" pitchFamily="49" charset="0"/>
              </a:rPr>
              <a:t>)</a:t>
            </a:r>
          </a:p>
          <a:p>
            <a:r>
              <a:rPr lang="en-US" dirty="0">
                <a:latin typeface="Courier New" panose="02070309020205020404" pitchFamily="49" charset="0"/>
              </a:rPr>
              <a:t>axes[</a:t>
            </a:r>
            <a:r>
              <a:rPr lang="en-US" dirty="0">
                <a:solidFill>
                  <a:srgbClr val="098156"/>
                </a:solidFill>
                <a:latin typeface="Courier New" panose="02070309020205020404" pitchFamily="49" charset="0"/>
              </a:rPr>
              <a:t>0</a:t>
            </a:r>
            <a:r>
              <a:rPr lang="en-US" dirty="0">
                <a:latin typeface="Courier New" panose="02070309020205020404" pitchFamily="49" charset="0"/>
              </a:rPr>
              <a:t>].</a:t>
            </a:r>
            <a:r>
              <a:rPr lang="en-US" dirty="0" err="1">
                <a:latin typeface="Courier New" panose="02070309020205020404" pitchFamily="49" charset="0"/>
              </a:rPr>
              <a:t>set_ylabel</a:t>
            </a:r>
            <a:r>
              <a:rPr lang="en-US" dirty="0">
                <a:latin typeface="Courier New" panose="02070309020205020404" pitchFamily="49" charset="0"/>
              </a:rPr>
              <a:t>(</a:t>
            </a:r>
            <a:r>
              <a:rPr lang="en-US" dirty="0">
                <a:solidFill>
                  <a:srgbClr val="A31515"/>
                </a:solidFill>
                <a:latin typeface="Courier New" panose="02070309020205020404" pitchFamily="49" charset="0"/>
              </a:rPr>
              <a:t>'y'</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endParaRPr lang="en-US" dirty="0">
              <a:latin typeface="Courier New" panose="02070309020205020404" pitchFamily="49" charset="0"/>
            </a:endParaRPr>
          </a:p>
        </p:txBody>
      </p:sp>
      <p:pic>
        <p:nvPicPr>
          <p:cNvPr id="9" name="Picture 8"/>
          <p:cNvPicPr>
            <a:picLocks noChangeAspect="1"/>
          </p:cNvPicPr>
          <p:nvPr/>
        </p:nvPicPr>
        <p:blipFill>
          <a:blip r:embed="rId3"/>
          <a:stretch>
            <a:fillRect/>
          </a:stretch>
        </p:blipFill>
        <p:spPr>
          <a:xfrm>
            <a:off x="5531020" y="821507"/>
            <a:ext cx="3372023" cy="3880268"/>
          </a:xfrm>
          <a:prstGeom prst="rect">
            <a:avLst/>
          </a:prstGeom>
        </p:spPr>
      </p:pic>
    </p:spTree>
    <p:extLst>
      <p:ext uri="{BB962C8B-B14F-4D97-AF65-F5344CB8AC3E}">
        <p14:creationId xmlns:p14="http://schemas.microsoft.com/office/powerpoint/2010/main" val="2076369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a:t>Group Plots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3"/>
          <p:cNvSpPr/>
          <p:nvPr/>
        </p:nvSpPr>
        <p:spPr>
          <a:xfrm>
            <a:off x="-8313" y="825052"/>
            <a:ext cx="6184669" cy="3970318"/>
          </a:xfrm>
          <a:prstGeom prst="rect">
            <a:avLst/>
          </a:prstGeom>
        </p:spPr>
        <p:txBody>
          <a:bodyPr wrap="square">
            <a:spAutoFit/>
          </a:bodyPr>
          <a:lstStyle/>
          <a:p>
            <a:r>
              <a:rPr lang="en-US" dirty="0">
                <a:latin typeface="Courier New" panose="02070309020205020404" pitchFamily="49" charset="0"/>
              </a:rPr>
              <a:t/>
            </a:r>
            <a:br>
              <a:rPr lang="en-US" dirty="0">
                <a:latin typeface="Courier New" panose="02070309020205020404" pitchFamily="49" charset="0"/>
              </a:rPr>
            </a:br>
            <a:r>
              <a:rPr lang="en-US" dirty="0">
                <a:latin typeface="Courier New" panose="02070309020205020404" pitchFamily="49" charset="0"/>
              </a:rPr>
              <a:t>axes[</a:t>
            </a:r>
            <a:r>
              <a:rPr lang="en-US" dirty="0">
                <a:solidFill>
                  <a:srgbClr val="098156"/>
                </a:solidFill>
                <a:latin typeface="Courier New" panose="02070309020205020404" pitchFamily="49" charset="0"/>
              </a:rPr>
              <a:t>1</a:t>
            </a:r>
            <a:r>
              <a:rPr lang="en-US" dirty="0">
                <a:latin typeface="Courier New" panose="02070309020205020404" pitchFamily="49" charset="0"/>
              </a:rPr>
              <a:t>].plot(x, y2, color=</a:t>
            </a:r>
            <a:r>
              <a:rPr lang="en-US" dirty="0">
                <a:solidFill>
                  <a:srgbClr val="A31515"/>
                </a:solidFill>
                <a:latin typeface="Courier New" panose="02070309020205020404" pitchFamily="49" charset="0"/>
              </a:rPr>
              <a:t>'green'</a:t>
            </a:r>
            <a:r>
              <a:rPr lang="en-US" dirty="0">
                <a:latin typeface="Courier New" panose="02070309020205020404" pitchFamily="49" charset="0"/>
              </a:rPr>
              <a:t>)</a:t>
            </a:r>
          </a:p>
          <a:p>
            <a:r>
              <a:rPr lang="en-US" dirty="0">
                <a:latin typeface="Courier New" panose="02070309020205020404" pitchFamily="49" charset="0"/>
              </a:rPr>
              <a:t>axes[</a:t>
            </a:r>
            <a:r>
              <a:rPr lang="en-US" dirty="0">
                <a:solidFill>
                  <a:srgbClr val="098156"/>
                </a:solidFill>
                <a:latin typeface="Courier New" panose="02070309020205020404" pitchFamily="49" charset="0"/>
              </a:rPr>
              <a:t>1</a:t>
            </a:r>
            <a:r>
              <a:rPr lang="en-US" dirty="0">
                <a:latin typeface="Courier New" panose="02070309020205020404" pitchFamily="49" charset="0"/>
              </a:rPr>
              <a:t>].</a:t>
            </a:r>
            <a:r>
              <a:rPr lang="en-US" dirty="0" err="1">
                <a:latin typeface="Courier New" panose="02070309020205020404" pitchFamily="49" charset="0"/>
              </a:rPr>
              <a:t>set_title</a:t>
            </a:r>
            <a:r>
              <a:rPr lang="en-US" dirty="0">
                <a:latin typeface="Courier New" panose="02070309020205020404" pitchFamily="49" charset="0"/>
              </a:rPr>
              <a:t>(</a:t>
            </a:r>
            <a:r>
              <a:rPr lang="en-US" dirty="0">
                <a:solidFill>
                  <a:srgbClr val="A31515"/>
                </a:solidFill>
                <a:latin typeface="Courier New" panose="02070309020205020404" pitchFamily="49" charset="0"/>
              </a:rPr>
              <a:t>'Plot 2: Cos(x)'</a:t>
            </a:r>
            <a:r>
              <a:rPr lang="en-US" dirty="0">
                <a:latin typeface="Courier New" panose="02070309020205020404" pitchFamily="49" charset="0"/>
              </a:rPr>
              <a:t>)</a:t>
            </a:r>
          </a:p>
          <a:p>
            <a:r>
              <a:rPr lang="en-US" dirty="0">
                <a:latin typeface="Courier New" panose="02070309020205020404" pitchFamily="49" charset="0"/>
              </a:rPr>
              <a:t>axes[</a:t>
            </a:r>
            <a:r>
              <a:rPr lang="en-US" dirty="0">
                <a:solidFill>
                  <a:srgbClr val="098156"/>
                </a:solidFill>
                <a:latin typeface="Courier New" panose="02070309020205020404" pitchFamily="49" charset="0"/>
              </a:rPr>
              <a:t>1</a:t>
            </a:r>
            <a:r>
              <a:rPr lang="en-US" dirty="0">
                <a:latin typeface="Courier New" panose="02070309020205020404" pitchFamily="49" charset="0"/>
              </a:rPr>
              <a:t>].</a:t>
            </a:r>
            <a:r>
              <a:rPr lang="en-US" dirty="0" err="1">
                <a:latin typeface="Courier New" panose="02070309020205020404" pitchFamily="49" charset="0"/>
              </a:rPr>
              <a:t>set_xlabel</a:t>
            </a:r>
            <a:r>
              <a:rPr lang="en-US" dirty="0">
                <a:latin typeface="Courier New" panose="02070309020205020404" pitchFamily="49" charset="0"/>
              </a:rPr>
              <a:t>(</a:t>
            </a:r>
            <a:r>
              <a:rPr lang="en-US" dirty="0">
                <a:solidFill>
                  <a:srgbClr val="A31515"/>
                </a:solidFill>
                <a:latin typeface="Courier New" panose="02070309020205020404" pitchFamily="49" charset="0"/>
              </a:rPr>
              <a:t>'x'</a:t>
            </a:r>
            <a:r>
              <a:rPr lang="en-US" dirty="0">
                <a:latin typeface="Courier New" panose="02070309020205020404" pitchFamily="49" charset="0"/>
              </a:rPr>
              <a:t>)</a:t>
            </a:r>
          </a:p>
          <a:p>
            <a:r>
              <a:rPr lang="en-US" dirty="0">
                <a:latin typeface="Courier New" panose="02070309020205020404" pitchFamily="49" charset="0"/>
              </a:rPr>
              <a:t>axes[</a:t>
            </a:r>
            <a:r>
              <a:rPr lang="en-US" dirty="0">
                <a:solidFill>
                  <a:srgbClr val="098156"/>
                </a:solidFill>
                <a:latin typeface="Courier New" panose="02070309020205020404" pitchFamily="49" charset="0"/>
              </a:rPr>
              <a:t>1</a:t>
            </a:r>
            <a:r>
              <a:rPr lang="en-US" dirty="0">
                <a:latin typeface="Courier New" panose="02070309020205020404" pitchFamily="49" charset="0"/>
              </a:rPr>
              <a:t>].</a:t>
            </a:r>
            <a:r>
              <a:rPr lang="en-US" dirty="0" err="1">
                <a:latin typeface="Courier New" panose="02070309020205020404" pitchFamily="49" charset="0"/>
              </a:rPr>
              <a:t>set_ylabel</a:t>
            </a:r>
            <a:r>
              <a:rPr lang="en-US" dirty="0">
                <a:latin typeface="Courier New" panose="02070309020205020404" pitchFamily="49" charset="0"/>
              </a:rPr>
              <a:t>(</a:t>
            </a:r>
            <a:r>
              <a:rPr lang="en-US" dirty="0">
                <a:solidFill>
                  <a:srgbClr val="A31515"/>
                </a:solidFill>
                <a:latin typeface="Courier New" panose="02070309020205020404" pitchFamily="49" charset="0"/>
              </a:rPr>
              <a:t>'y'</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a:latin typeface="Courier New" panose="02070309020205020404" pitchFamily="49" charset="0"/>
              </a:rPr>
              <a:t>axes[</a:t>
            </a:r>
            <a:r>
              <a:rPr lang="en-US" dirty="0">
                <a:solidFill>
                  <a:srgbClr val="098156"/>
                </a:solidFill>
                <a:latin typeface="Courier New" panose="02070309020205020404" pitchFamily="49" charset="0"/>
              </a:rPr>
              <a:t>2</a:t>
            </a:r>
            <a:r>
              <a:rPr lang="en-US" dirty="0">
                <a:latin typeface="Courier New" panose="02070309020205020404" pitchFamily="49" charset="0"/>
              </a:rPr>
              <a:t>].plot(x, y3, color=</a:t>
            </a:r>
            <a:r>
              <a:rPr lang="en-US" dirty="0">
                <a:solidFill>
                  <a:srgbClr val="A31515"/>
                </a:solidFill>
                <a:latin typeface="Courier New" panose="02070309020205020404" pitchFamily="49" charset="0"/>
              </a:rPr>
              <a:t>'blue'</a:t>
            </a:r>
            <a:r>
              <a:rPr lang="en-US" dirty="0">
                <a:latin typeface="Courier New" panose="02070309020205020404" pitchFamily="49" charset="0"/>
              </a:rPr>
              <a:t>)</a:t>
            </a:r>
          </a:p>
          <a:p>
            <a:r>
              <a:rPr lang="en-US" dirty="0">
                <a:latin typeface="Courier New" panose="02070309020205020404" pitchFamily="49" charset="0"/>
              </a:rPr>
              <a:t>axes[</a:t>
            </a:r>
            <a:r>
              <a:rPr lang="en-US" dirty="0">
                <a:solidFill>
                  <a:srgbClr val="098156"/>
                </a:solidFill>
                <a:latin typeface="Courier New" panose="02070309020205020404" pitchFamily="49" charset="0"/>
              </a:rPr>
              <a:t>2</a:t>
            </a:r>
            <a:r>
              <a:rPr lang="en-US" dirty="0">
                <a:latin typeface="Courier New" panose="02070309020205020404" pitchFamily="49" charset="0"/>
              </a:rPr>
              <a:t>].</a:t>
            </a:r>
            <a:r>
              <a:rPr lang="en-US" dirty="0" err="1">
                <a:latin typeface="Courier New" panose="02070309020205020404" pitchFamily="49" charset="0"/>
              </a:rPr>
              <a:t>set_title</a:t>
            </a:r>
            <a:r>
              <a:rPr lang="en-US" dirty="0">
                <a:latin typeface="Courier New" panose="02070309020205020404" pitchFamily="49" charset="0"/>
              </a:rPr>
              <a:t>(</a:t>
            </a:r>
            <a:r>
              <a:rPr lang="en-US" dirty="0">
                <a:solidFill>
                  <a:srgbClr val="A31515"/>
                </a:solidFill>
                <a:latin typeface="Courier New" panose="02070309020205020404" pitchFamily="49" charset="0"/>
              </a:rPr>
              <a:t>'Plot 3: Tan(x)'</a:t>
            </a:r>
            <a:r>
              <a:rPr lang="en-US" dirty="0">
                <a:latin typeface="Courier New" panose="02070309020205020404" pitchFamily="49" charset="0"/>
              </a:rPr>
              <a:t>)</a:t>
            </a:r>
          </a:p>
          <a:p>
            <a:r>
              <a:rPr lang="en-US" dirty="0">
                <a:latin typeface="Courier New" panose="02070309020205020404" pitchFamily="49" charset="0"/>
              </a:rPr>
              <a:t>axes[</a:t>
            </a:r>
            <a:r>
              <a:rPr lang="en-US" dirty="0">
                <a:solidFill>
                  <a:srgbClr val="098156"/>
                </a:solidFill>
                <a:latin typeface="Courier New" panose="02070309020205020404" pitchFamily="49" charset="0"/>
              </a:rPr>
              <a:t>2</a:t>
            </a:r>
            <a:r>
              <a:rPr lang="en-US" dirty="0">
                <a:latin typeface="Courier New" panose="02070309020205020404" pitchFamily="49" charset="0"/>
              </a:rPr>
              <a:t>].</a:t>
            </a:r>
            <a:r>
              <a:rPr lang="en-US" dirty="0" err="1">
                <a:latin typeface="Courier New" panose="02070309020205020404" pitchFamily="49" charset="0"/>
              </a:rPr>
              <a:t>set_xlabel</a:t>
            </a:r>
            <a:r>
              <a:rPr lang="en-US" dirty="0">
                <a:latin typeface="Courier New" panose="02070309020205020404" pitchFamily="49" charset="0"/>
              </a:rPr>
              <a:t>(</a:t>
            </a:r>
            <a:r>
              <a:rPr lang="en-US" dirty="0">
                <a:solidFill>
                  <a:srgbClr val="A31515"/>
                </a:solidFill>
                <a:latin typeface="Courier New" panose="02070309020205020404" pitchFamily="49" charset="0"/>
              </a:rPr>
              <a:t>'x'</a:t>
            </a:r>
            <a:r>
              <a:rPr lang="en-US" dirty="0">
                <a:latin typeface="Courier New" panose="02070309020205020404" pitchFamily="49" charset="0"/>
              </a:rPr>
              <a:t>)</a:t>
            </a:r>
          </a:p>
          <a:p>
            <a:r>
              <a:rPr lang="en-US" dirty="0">
                <a:latin typeface="Courier New" panose="02070309020205020404" pitchFamily="49" charset="0"/>
              </a:rPr>
              <a:t>axes[</a:t>
            </a:r>
            <a:r>
              <a:rPr lang="en-US" dirty="0">
                <a:solidFill>
                  <a:srgbClr val="098156"/>
                </a:solidFill>
                <a:latin typeface="Courier New" panose="02070309020205020404" pitchFamily="49" charset="0"/>
              </a:rPr>
              <a:t>2</a:t>
            </a:r>
            <a:r>
              <a:rPr lang="en-US" dirty="0">
                <a:latin typeface="Courier New" panose="02070309020205020404" pitchFamily="49" charset="0"/>
              </a:rPr>
              <a:t>].</a:t>
            </a:r>
            <a:r>
              <a:rPr lang="en-US" dirty="0" err="1">
                <a:latin typeface="Courier New" panose="02070309020205020404" pitchFamily="49" charset="0"/>
              </a:rPr>
              <a:t>set_ylabel</a:t>
            </a:r>
            <a:r>
              <a:rPr lang="en-US" dirty="0">
                <a:latin typeface="Courier New" panose="02070309020205020404" pitchFamily="49" charset="0"/>
              </a:rPr>
              <a:t>(</a:t>
            </a:r>
            <a:r>
              <a:rPr lang="en-US" dirty="0">
                <a:solidFill>
                  <a:srgbClr val="A31515"/>
                </a:solidFill>
                <a:latin typeface="Courier New" panose="02070309020205020404" pitchFamily="49" charset="0"/>
              </a:rPr>
              <a:t>'y'</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Adjust spacing between subplots</a:t>
            </a:r>
            <a:endParaRPr lang="en-US" dirty="0">
              <a:latin typeface="Courier New" panose="02070309020205020404" pitchFamily="49" charset="0"/>
            </a:endParaRPr>
          </a:p>
          <a:p>
            <a:r>
              <a:rPr lang="en-US" dirty="0" err="1">
                <a:latin typeface="Courier New" panose="02070309020205020404" pitchFamily="49" charset="0"/>
              </a:rPr>
              <a:t>plt.tight_layout</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Show the plot</a:t>
            </a:r>
            <a:endParaRPr lang="en-US" dirty="0">
              <a:latin typeface="Courier New" panose="02070309020205020404" pitchFamily="49" charset="0"/>
            </a:endParaRPr>
          </a:p>
          <a:p>
            <a:r>
              <a:rPr lang="en-US" dirty="0" err="1">
                <a:latin typeface="Courier New" panose="02070309020205020404" pitchFamily="49" charset="0"/>
              </a:rPr>
              <a:t>plt.show</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endParaRPr lang="en-US" dirty="0">
              <a:latin typeface="Courier New" panose="02070309020205020404" pitchFamily="49" charset="0"/>
            </a:endParaRPr>
          </a:p>
        </p:txBody>
      </p:sp>
    </p:spTree>
    <p:extLst>
      <p:ext uri="{BB962C8B-B14F-4D97-AF65-F5344CB8AC3E}">
        <p14:creationId xmlns:p14="http://schemas.microsoft.com/office/powerpoint/2010/main" val="18015788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Panels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3"/>
          <p:cNvSpPr/>
          <p:nvPr/>
        </p:nvSpPr>
        <p:spPr>
          <a:xfrm>
            <a:off x="-17725" y="732568"/>
            <a:ext cx="6558742" cy="5047536"/>
          </a:xfrm>
          <a:prstGeom prst="rect">
            <a:avLst/>
          </a:prstGeom>
        </p:spPr>
        <p:txBody>
          <a:bodyPr wrap="square">
            <a:spAutoFit/>
          </a:bodyPr>
          <a:lstStyle/>
          <a:p>
            <a:r>
              <a:rPr lang="en-US" dirty="0"/>
              <a:t>import </a:t>
            </a:r>
            <a:r>
              <a:rPr lang="en-US" dirty="0" err="1"/>
              <a:t>plotly.graph_objects</a:t>
            </a:r>
            <a:r>
              <a:rPr lang="en-US" dirty="0"/>
              <a:t> as go</a:t>
            </a:r>
          </a:p>
          <a:p>
            <a:r>
              <a:rPr lang="en-US" dirty="0"/>
              <a:t>import </a:t>
            </a:r>
            <a:r>
              <a:rPr lang="en-US" dirty="0" err="1"/>
              <a:t>plotly.subplots</a:t>
            </a:r>
            <a:r>
              <a:rPr lang="en-US" dirty="0"/>
              <a:t> as </a:t>
            </a:r>
            <a:r>
              <a:rPr lang="en-US" dirty="0" err="1"/>
              <a:t>sp</a:t>
            </a:r>
            <a:endParaRPr lang="en-US" dirty="0"/>
          </a:p>
          <a:p>
            <a:r>
              <a:rPr lang="en-US" dirty="0"/>
              <a:t/>
            </a:r>
            <a:br>
              <a:rPr lang="en-US" dirty="0"/>
            </a:br>
            <a:r>
              <a:rPr lang="en-US" dirty="0"/>
              <a:t># Create data for the panels</a:t>
            </a:r>
          </a:p>
          <a:p>
            <a:r>
              <a:rPr lang="en-US" dirty="0"/>
              <a:t>x = [1, 2, 3, 4, 5</a:t>
            </a:r>
            <a:r>
              <a:rPr lang="en-US" dirty="0" smtClean="0"/>
              <a:t>]; y1 </a:t>
            </a:r>
            <a:r>
              <a:rPr lang="en-US" dirty="0"/>
              <a:t>= [1, 4, 9, 16, 25</a:t>
            </a:r>
            <a:r>
              <a:rPr lang="en-US" dirty="0" smtClean="0"/>
              <a:t>]; y2 </a:t>
            </a:r>
            <a:r>
              <a:rPr lang="en-US" dirty="0"/>
              <a:t>= [10, 8, 6, 4, 2</a:t>
            </a:r>
            <a:r>
              <a:rPr lang="en-US" dirty="0" smtClean="0"/>
              <a:t>]; y3 </a:t>
            </a:r>
            <a:r>
              <a:rPr lang="en-US" dirty="0"/>
              <a:t>= [1, 8, 27, 64, 125]</a:t>
            </a:r>
          </a:p>
          <a:p>
            <a:r>
              <a:rPr lang="en-US" dirty="0"/>
              <a:t/>
            </a:r>
            <a:br>
              <a:rPr lang="en-US" dirty="0"/>
            </a:br>
            <a:r>
              <a:rPr lang="en-US" dirty="0"/>
              <a:t># Create subplots with panels</a:t>
            </a:r>
          </a:p>
          <a:p>
            <a:r>
              <a:rPr lang="en-US" dirty="0"/>
              <a:t>fig = </a:t>
            </a:r>
            <a:r>
              <a:rPr lang="en-US" dirty="0" err="1"/>
              <a:t>sp.make_subplots</a:t>
            </a:r>
            <a:r>
              <a:rPr lang="en-US" dirty="0"/>
              <a:t>(rows=1, cols=3, </a:t>
            </a:r>
            <a:r>
              <a:rPr lang="en-US" dirty="0" err="1"/>
              <a:t>subplot_titles</a:t>
            </a:r>
            <a:r>
              <a:rPr lang="en-US" dirty="0"/>
              <a:t>=('Panel 1', 'Panel 2', 'Panel 3'))</a:t>
            </a:r>
          </a:p>
          <a:p>
            <a:r>
              <a:rPr lang="en-US" dirty="0"/>
              <a:t/>
            </a:r>
            <a:br>
              <a:rPr lang="en-US" dirty="0"/>
            </a:br>
            <a:r>
              <a:rPr lang="en-US" dirty="0"/>
              <a:t># Add traces to each panel</a:t>
            </a:r>
          </a:p>
          <a:p>
            <a:r>
              <a:rPr lang="en-US" dirty="0" err="1"/>
              <a:t>fig.add_trace</a:t>
            </a:r>
            <a:r>
              <a:rPr lang="en-US" dirty="0"/>
              <a:t>(</a:t>
            </a:r>
            <a:r>
              <a:rPr lang="en-US" dirty="0" err="1"/>
              <a:t>go.Scatter</a:t>
            </a:r>
            <a:r>
              <a:rPr lang="en-US" dirty="0"/>
              <a:t>(x=x, y=y1, name='Trace 1'), row=1, col=1)</a:t>
            </a:r>
          </a:p>
          <a:p>
            <a:r>
              <a:rPr lang="en-US" dirty="0" err="1"/>
              <a:t>fig.add_trace</a:t>
            </a:r>
            <a:r>
              <a:rPr lang="en-US" dirty="0"/>
              <a:t>(</a:t>
            </a:r>
            <a:r>
              <a:rPr lang="en-US" dirty="0" err="1"/>
              <a:t>go.Scatter</a:t>
            </a:r>
            <a:r>
              <a:rPr lang="en-US" dirty="0"/>
              <a:t>(x=x, y=y2, name='Trace 2'), row=1, col=2)</a:t>
            </a:r>
          </a:p>
          <a:p>
            <a:r>
              <a:rPr lang="en-US" dirty="0" err="1"/>
              <a:t>fig.add_trace</a:t>
            </a:r>
            <a:r>
              <a:rPr lang="en-US" dirty="0"/>
              <a:t>(</a:t>
            </a:r>
            <a:r>
              <a:rPr lang="en-US" dirty="0" err="1"/>
              <a:t>go.Scatter</a:t>
            </a:r>
            <a:r>
              <a:rPr lang="en-US" dirty="0"/>
              <a:t>(x=x, y=y3, name='Trace 3'), row=1, col=3)</a:t>
            </a:r>
          </a:p>
          <a:p>
            <a:r>
              <a:rPr lang="en-US" dirty="0"/>
              <a:t/>
            </a:r>
            <a:br>
              <a:rPr lang="en-US" dirty="0"/>
            </a:br>
            <a:r>
              <a:rPr lang="en-US" dirty="0"/>
              <a:t># Update layout and display the plot</a:t>
            </a:r>
          </a:p>
          <a:p>
            <a:r>
              <a:rPr lang="en-US" dirty="0" err="1"/>
              <a:t>fig.update_layout</a:t>
            </a:r>
            <a:r>
              <a:rPr lang="en-US" dirty="0"/>
              <a:t>(</a:t>
            </a:r>
            <a:r>
              <a:rPr lang="en-US" dirty="0" err="1"/>
              <a:t>showlegend</a:t>
            </a:r>
            <a:r>
              <a:rPr lang="en-US" dirty="0"/>
              <a:t>=True)</a:t>
            </a:r>
          </a:p>
          <a:p>
            <a:r>
              <a:rPr lang="en-US" dirty="0" err="1"/>
              <a:t>fig.show</a:t>
            </a:r>
            <a:r>
              <a:rPr lang="en-US" dirty="0"/>
              <a:t>()</a:t>
            </a:r>
          </a:p>
          <a:p>
            <a:r>
              <a:rPr lang="en-US" dirty="0"/>
              <a:t/>
            </a:r>
            <a:br>
              <a:rPr lang="en-US" dirty="0"/>
            </a:br>
            <a:endParaRPr lang="en-US" dirty="0"/>
          </a:p>
          <a:p>
            <a:r>
              <a:rPr lang="en-US" dirty="0">
                <a:latin typeface="Courier New" panose="02070309020205020404" pitchFamily="49" charset="0"/>
              </a:rPr>
              <a:t/>
            </a:r>
            <a:br>
              <a:rPr lang="en-US" dirty="0">
                <a:latin typeface="Courier New" panose="02070309020205020404" pitchFamily="49" charset="0"/>
              </a:rPr>
            </a:br>
            <a:endParaRPr lang="en-US" dirty="0">
              <a:latin typeface="Courier New" panose="02070309020205020404" pitchFamily="49" charset="0"/>
            </a:endParaRPr>
          </a:p>
        </p:txBody>
      </p:sp>
    </p:spTree>
    <p:extLst>
      <p:ext uri="{BB962C8B-B14F-4D97-AF65-F5344CB8AC3E}">
        <p14:creationId xmlns:p14="http://schemas.microsoft.com/office/powerpoint/2010/main" val="35200905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Panels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pic>
        <p:nvPicPr>
          <p:cNvPr id="2" name="Picture 1"/>
          <p:cNvPicPr>
            <a:picLocks noChangeAspect="1"/>
          </p:cNvPicPr>
          <p:nvPr/>
        </p:nvPicPr>
        <p:blipFill>
          <a:blip r:embed="rId3"/>
          <a:stretch>
            <a:fillRect/>
          </a:stretch>
        </p:blipFill>
        <p:spPr>
          <a:xfrm>
            <a:off x="1160462" y="1099020"/>
            <a:ext cx="6222472" cy="3223683"/>
          </a:xfrm>
          <a:prstGeom prst="rect">
            <a:avLst/>
          </a:prstGeom>
        </p:spPr>
      </p:pic>
    </p:spTree>
    <p:extLst>
      <p:ext uri="{BB962C8B-B14F-4D97-AF65-F5344CB8AC3E}">
        <p14:creationId xmlns:p14="http://schemas.microsoft.com/office/powerpoint/2010/main" val="16248976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Panels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2"/>
          <p:cNvSpPr/>
          <p:nvPr/>
        </p:nvSpPr>
        <p:spPr>
          <a:xfrm>
            <a:off x="130553" y="825052"/>
            <a:ext cx="8822253" cy="4185761"/>
          </a:xfrm>
          <a:prstGeom prst="rect">
            <a:avLst/>
          </a:prstGeom>
        </p:spPr>
        <p:txBody>
          <a:bodyPr wrap="square">
            <a:spAutoFit/>
          </a:bodyPr>
          <a:lstStyle/>
          <a:p>
            <a:r>
              <a:rPr lang="en-US" dirty="0">
                <a:solidFill>
                  <a:srgbClr val="AF00DB"/>
                </a:solidFill>
                <a:latin typeface="Courier New" panose="02070309020205020404" pitchFamily="49" charset="0"/>
              </a:rPr>
              <a:t>import</a:t>
            </a:r>
            <a:r>
              <a:rPr lang="en-US" dirty="0">
                <a:latin typeface="Courier New" panose="02070309020205020404" pitchFamily="49" charset="0"/>
              </a:rPr>
              <a:t> </a:t>
            </a:r>
            <a:r>
              <a:rPr lang="en-US" dirty="0" err="1">
                <a:latin typeface="Courier New" panose="02070309020205020404" pitchFamily="49" charset="0"/>
              </a:rPr>
              <a:t>matplotlib.pyplot</a:t>
            </a:r>
            <a:r>
              <a:rPr lang="en-US" dirty="0">
                <a:latin typeface="Courier New" panose="02070309020205020404" pitchFamily="49" charset="0"/>
              </a:rPr>
              <a:t> </a:t>
            </a:r>
            <a:r>
              <a:rPr lang="en-US" dirty="0">
                <a:solidFill>
                  <a:srgbClr val="AF00DB"/>
                </a:solidFill>
                <a:latin typeface="Courier New" panose="02070309020205020404" pitchFamily="49" charset="0"/>
              </a:rPr>
              <a:t>as</a:t>
            </a:r>
            <a:r>
              <a:rPr lang="en-US" dirty="0">
                <a:latin typeface="Courier New" panose="02070309020205020404" pitchFamily="49" charset="0"/>
              </a:rPr>
              <a:t> </a:t>
            </a:r>
            <a:r>
              <a:rPr lang="en-US" dirty="0" err="1">
                <a:latin typeface="Courier New" panose="02070309020205020404" pitchFamily="49" charset="0"/>
              </a:rPr>
              <a:t>plt</a:t>
            </a:r>
            <a:endParaRPr lang="en-US" dirty="0">
              <a:latin typeface="Courier New" panose="02070309020205020404" pitchFamily="49" charset="0"/>
            </a:endParaRPr>
          </a:p>
          <a:p>
            <a:r>
              <a:rPr lang="en-US" dirty="0">
                <a:solidFill>
                  <a:srgbClr val="AF00DB"/>
                </a:solidFill>
                <a:latin typeface="Courier New" panose="02070309020205020404" pitchFamily="49" charset="0"/>
              </a:rPr>
              <a:t>import</a:t>
            </a:r>
            <a:r>
              <a:rPr lang="en-US" dirty="0">
                <a:latin typeface="Courier New" panose="02070309020205020404" pitchFamily="49" charset="0"/>
              </a:rPr>
              <a:t> </a:t>
            </a:r>
            <a:r>
              <a:rPr lang="en-US" dirty="0" err="1">
                <a:latin typeface="Courier New" panose="02070309020205020404" pitchFamily="49" charset="0"/>
              </a:rPr>
              <a:t>matplotlib.gridspec</a:t>
            </a:r>
            <a:r>
              <a:rPr lang="en-US" dirty="0">
                <a:latin typeface="Courier New" panose="02070309020205020404" pitchFamily="49" charset="0"/>
              </a:rPr>
              <a:t> </a:t>
            </a:r>
            <a:r>
              <a:rPr lang="en-US" dirty="0">
                <a:solidFill>
                  <a:srgbClr val="AF00DB"/>
                </a:solidFill>
                <a:latin typeface="Courier New" panose="02070309020205020404" pitchFamily="49" charset="0"/>
              </a:rPr>
              <a:t>as</a:t>
            </a:r>
            <a:r>
              <a:rPr lang="en-US" dirty="0">
                <a:latin typeface="Courier New" panose="02070309020205020404" pitchFamily="49" charset="0"/>
              </a:rPr>
              <a:t> </a:t>
            </a:r>
            <a:r>
              <a:rPr lang="en-US" dirty="0" err="1">
                <a:latin typeface="Courier New" panose="02070309020205020404" pitchFamily="49" charset="0"/>
              </a:rPr>
              <a:t>gridspec</a:t>
            </a:r>
            <a:endParaRPr lang="en-US" dirty="0">
              <a:latin typeface="Courier New" panose="02070309020205020404" pitchFamily="49" charset="0"/>
            </a:endParaRPr>
          </a:p>
          <a:p>
            <a:r>
              <a:rPr lang="en-US" dirty="0">
                <a:solidFill>
                  <a:srgbClr val="AF00DB"/>
                </a:solidFill>
                <a:latin typeface="Courier New" panose="02070309020205020404" pitchFamily="49" charset="0"/>
              </a:rPr>
              <a:t>import</a:t>
            </a:r>
            <a:r>
              <a:rPr lang="en-US" dirty="0">
                <a:latin typeface="Courier New" panose="02070309020205020404" pitchFamily="49" charset="0"/>
              </a:rPr>
              <a:t> </a:t>
            </a:r>
            <a:r>
              <a:rPr lang="en-US" dirty="0" err="1">
                <a:latin typeface="Courier New" panose="02070309020205020404" pitchFamily="49" charset="0"/>
              </a:rPr>
              <a:t>numpy</a:t>
            </a:r>
            <a:r>
              <a:rPr lang="en-US" dirty="0">
                <a:latin typeface="Courier New" panose="02070309020205020404" pitchFamily="49" charset="0"/>
              </a:rPr>
              <a:t> </a:t>
            </a:r>
            <a:r>
              <a:rPr lang="en-US" dirty="0">
                <a:solidFill>
                  <a:srgbClr val="AF00DB"/>
                </a:solidFill>
                <a:latin typeface="Courier New" panose="02070309020205020404" pitchFamily="49" charset="0"/>
              </a:rPr>
              <a:t>as</a:t>
            </a:r>
            <a:r>
              <a:rPr lang="en-US" dirty="0">
                <a:latin typeface="Courier New" panose="02070309020205020404" pitchFamily="49" charset="0"/>
              </a:rPr>
              <a:t> </a:t>
            </a:r>
            <a:r>
              <a:rPr lang="en-US" dirty="0" err="1">
                <a:latin typeface="Courier New" panose="02070309020205020404" pitchFamily="49" charset="0"/>
              </a:rPr>
              <a:t>np</a:t>
            </a:r>
            <a:endParaRPr lang="en-US" dirty="0">
              <a:latin typeface="Courier New" panose="02070309020205020404" pitchFamily="49" charset="0"/>
            </a:endParaRP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Generate some random data</a:t>
            </a:r>
            <a:endParaRPr lang="en-US" dirty="0">
              <a:latin typeface="Courier New" panose="02070309020205020404" pitchFamily="49" charset="0"/>
            </a:endParaRPr>
          </a:p>
          <a:p>
            <a:r>
              <a:rPr lang="en-US" dirty="0">
                <a:latin typeface="Courier New" panose="02070309020205020404" pitchFamily="49" charset="0"/>
              </a:rPr>
              <a:t>x = </a:t>
            </a:r>
            <a:r>
              <a:rPr lang="en-US" dirty="0" err="1">
                <a:latin typeface="Courier New" panose="02070309020205020404" pitchFamily="49" charset="0"/>
              </a:rPr>
              <a:t>np.linspace</a:t>
            </a:r>
            <a:r>
              <a:rPr lang="en-US" dirty="0">
                <a:latin typeface="Courier New" panose="02070309020205020404" pitchFamily="49" charset="0"/>
              </a:rPr>
              <a:t>(</a:t>
            </a:r>
            <a:r>
              <a:rPr lang="en-US" dirty="0">
                <a:solidFill>
                  <a:srgbClr val="098156"/>
                </a:solidFill>
                <a:latin typeface="Courier New" panose="02070309020205020404" pitchFamily="49" charset="0"/>
              </a:rPr>
              <a:t>0</a:t>
            </a:r>
            <a:r>
              <a:rPr lang="en-US" dirty="0">
                <a:latin typeface="Courier New" panose="02070309020205020404" pitchFamily="49" charset="0"/>
              </a:rPr>
              <a:t>, </a:t>
            </a:r>
            <a:r>
              <a:rPr lang="en-US" dirty="0">
                <a:solidFill>
                  <a:srgbClr val="098156"/>
                </a:solidFill>
                <a:latin typeface="Courier New" panose="02070309020205020404" pitchFamily="49" charset="0"/>
              </a:rPr>
              <a:t>10</a:t>
            </a:r>
            <a:r>
              <a:rPr lang="en-US" dirty="0">
                <a:latin typeface="Courier New" panose="02070309020205020404" pitchFamily="49" charset="0"/>
              </a:rPr>
              <a:t>, </a:t>
            </a:r>
            <a:r>
              <a:rPr lang="en-US" dirty="0">
                <a:solidFill>
                  <a:srgbClr val="098156"/>
                </a:solidFill>
                <a:latin typeface="Courier New" panose="02070309020205020404" pitchFamily="49" charset="0"/>
              </a:rPr>
              <a:t>100</a:t>
            </a:r>
            <a:r>
              <a:rPr lang="en-US" dirty="0">
                <a:latin typeface="Courier New" panose="02070309020205020404" pitchFamily="49" charset="0"/>
              </a:rPr>
              <a:t>)</a:t>
            </a:r>
          </a:p>
          <a:p>
            <a:r>
              <a:rPr lang="en-US" dirty="0">
                <a:latin typeface="Courier New" panose="02070309020205020404" pitchFamily="49" charset="0"/>
              </a:rPr>
              <a:t>y1 = </a:t>
            </a:r>
            <a:r>
              <a:rPr lang="en-US" dirty="0" err="1">
                <a:latin typeface="Courier New" panose="02070309020205020404" pitchFamily="49" charset="0"/>
              </a:rPr>
              <a:t>np.sin</a:t>
            </a:r>
            <a:r>
              <a:rPr lang="en-US" dirty="0">
                <a:latin typeface="Courier New" panose="02070309020205020404" pitchFamily="49" charset="0"/>
              </a:rPr>
              <a:t>(x)</a:t>
            </a:r>
          </a:p>
          <a:p>
            <a:r>
              <a:rPr lang="en-US" dirty="0">
                <a:latin typeface="Courier New" panose="02070309020205020404" pitchFamily="49" charset="0"/>
              </a:rPr>
              <a:t>y2 = </a:t>
            </a:r>
            <a:r>
              <a:rPr lang="en-US" dirty="0" err="1">
                <a:latin typeface="Courier New" panose="02070309020205020404" pitchFamily="49" charset="0"/>
              </a:rPr>
              <a:t>np.cos</a:t>
            </a:r>
            <a:r>
              <a:rPr lang="en-US" dirty="0">
                <a:latin typeface="Courier New" panose="02070309020205020404" pitchFamily="49" charset="0"/>
              </a:rPr>
              <a:t>(x)</a:t>
            </a:r>
          </a:p>
          <a:p>
            <a:r>
              <a:rPr lang="en-US" dirty="0">
                <a:latin typeface="Courier New" panose="02070309020205020404" pitchFamily="49" charset="0"/>
              </a:rPr>
              <a:t>y3 = </a:t>
            </a:r>
            <a:r>
              <a:rPr lang="en-US" dirty="0" err="1">
                <a:latin typeface="Courier New" panose="02070309020205020404" pitchFamily="49" charset="0"/>
              </a:rPr>
              <a:t>np.tan</a:t>
            </a:r>
            <a:r>
              <a:rPr lang="en-US" dirty="0">
                <a:latin typeface="Courier New" panose="02070309020205020404" pitchFamily="49" charset="0"/>
              </a:rPr>
              <a:t>(x)</a:t>
            </a: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Create a </a:t>
            </a:r>
            <a:r>
              <a:rPr lang="en-US" dirty="0" err="1">
                <a:solidFill>
                  <a:srgbClr val="008000"/>
                </a:solidFill>
                <a:latin typeface="Courier New" panose="02070309020205020404" pitchFamily="49" charset="0"/>
              </a:rPr>
              <a:t>GridSpec</a:t>
            </a:r>
            <a:r>
              <a:rPr lang="en-US" dirty="0">
                <a:solidFill>
                  <a:srgbClr val="008000"/>
                </a:solidFill>
                <a:latin typeface="Courier New" panose="02070309020205020404" pitchFamily="49" charset="0"/>
              </a:rPr>
              <a:t> with different-sized cells</a:t>
            </a:r>
            <a:endParaRPr lang="en-US" dirty="0">
              <a:latin typeface="Courier New" panose="02070309020205020404" pitchFamily="49" charset="0"/>
            </a:endParaRPr>
          </a:p>
          <a:p>
            <a:r>
              <a:rPr lang="en-US" dirty="0" err="1">
                <a:latin typeface="Courier New" panose="02070309020205020404" pitchFamily="49" charset="0"/>
              </a:rPr>
              <a:t>gs</a:t>
            </a:r>
            <a:r>
              <a:rPr lang="en-US" dirty="0">
                <a:latin typeface="Courier New" panose="02070309020205020404" pitchFamily="49" charset="0"/>
              </a:rPr>
              <a:t> = </a:t>
            </a:r>
            <a:r>
              <a:rPr lang="en-US" dirty="0" err="1">
                <a:latin typeface="Courier New" panose="02070309020205020404" pitchFamily="49" charset="0"/>
              </a:rPr>
              <a:t>gridspec.GridSpec</a:t>
            </a:r>
            <a:r>
              <a:rPr lang="en-US" dirty="0">
                <a:latin typeface="Courier New" panose="02070309020205020404" pitchFamily="49" charset="0"/>
              </a:rPr>
              <a:t>(</a:t>
            </a:r>
            <a:r>
              <a:rPr lang="en-US" dirty="0">
                <a:solidFill>
                  <a:srgbClr val="098156"/>
                </a:solidFill>
                <a:latin typeface="Courier New" panose="02070309020205020404" pitchFamily="49" charset="0"/>
              </a:rPr>
              <a:t>2</a:t>
            </a:r>
            <a:r>
              <a:rPr lang="en-US" dirty="0">
                <a:latin typeface="Courier New" panose="02070309020205020404" pitchFamily="49" charset="0"/>
              </a:rPr>
              <a:t>, </a:t>
            </a:r>
            <a:r>
              <a:rPr lang="en-US" dirty="0">
                <a:solidFill>
                  <a:srgbClr val="098156"/>
                </a:solidFill>
                <a:latin typeface="Courier New" panose="02070309020205020404" pitchFamily="49" charset="0"/>
              </a:rPr>
              <a:t>2</a:t>
            </a:r>
            <a:r>
              <a:rPr lang="en-US" dirty="0">
                <a:latin typeface="Courier New" panose="02070309020205020404" pitchFamily="49" charset="0"/>
              </a:rPr>
              <a:t>, </a:t>
            </a:r>
            <a:r>
              <a:rPr lang="en-US" dirty="0" err="1">
                <a:latin typeface="Courier New" panose="02070309020205020404" pitchFamily="49" charset="0"/>
              </a:rPr>
              <a:t>width_ratios</a:t>
            </a:r>
            <a:r>
              <a:rPr lang="en-US" dirty="0">
                <a:latin typeface="Courier New" panose="02070309020205020404" pitchFamily="49" charset="0"/>
              </a:rPr>
              <a:t>=[</a:t>
            </a:r>
            <a:r>
              <a:rPr lang="en-US" dirty="0">
                <a:solidFill>
                  <a:srgbClr val="098156"/>
                </a:solidFill>
                <a:latin typeface="Courier New" panose="02070309020205020404" pitchFamily="49" charset="0"/>
              </a:rPr>
              <a:t>2</a:t>
            </a:r>
            <a:r>
              <a:rPr lang="en-US" dirty="0">
                <a:latin typeface="Courier New" panose="02070309020205020404" pitchFamily="49" charset="0"/>
              </a:rPr>
              <a:t>, </a:t>
            </a:r>
            <a:r>
              <a:rPr lang="en-US" dirty="0">
                <a:solidFill>
                  <a:srgbClr val="098156"/>
                </a:solidFill>
                <a:latin typeface="Courier New" panose="02070309020205020404" pitchFamily="49" charset="0"/>
              </a:rPr>
              <a:t>1</a:t>
            </a:r>
            <a:r>
              <a:rPr lang="en-US" dirty="0">
                <a:latin typeface="Courier New" panose="02070309020205020404" pitchFamily="49" charset="0"/>
              </a:rPr>
              <a:t>], </a:t>
            </a:r>
            <a:r>
              <a:rPr lang="en-US" dirty="0" err="1">
                <a:latin typeface="Courier New" panose="02070309020205020404" pitchFamily="49" charset="0"/>
              </a:rPr>
              <a:t>height_ratios</a:t>
            </a:r>
            <a:r>
              <a:rPr lang="en-US" dirty="0">
                <a:latin typeface="Courier New" panose="02070309020205020404" pitchFamily="49" charset="0"/>
              </a:rPr>
              <a:t>=[</a:t>
            </a:r>
            <a:r>
              <a:rPr lang="en-US" dirty="0">
                <a:solidFill>
                  <a:srgbClr val="098156"/>
                </a:solidFill>
                <a:latin typeface="Courier New" panose="02070309020205020404" pitchFamily="49" charset="0"/>
              </a:rPr>
              <a:t>1</a:t>
            </a:r>
            <a:r>
              <a:rPr lang="en-US" dirty="0">
                <a:latin typeface="Courier New" panose="02070309020205020404" pitchFamily="49" charset="0"/>
              </a:rPr>
              <a:t>, </a:t>
            </a:r>
            <a:r>
              <a:rPr lang="en-US" dirty="0">
                <a:solidFill>
                  <a:srgbClr val="098156"/>
                </a:solidFill>
                <a:latin typeface="Courier New" panose="02070309020205020404" pitchFamily="49" charset="0"/>
              </a:rPr>
              <a:t>2</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Create subplots within the </a:t>
            </a:r>
            <a:r>
              <a:rPr lang="en-US" dirty="0" err="1">
                <a:solidFill>
                  <a:srgbClr val="008000"/>
                </a:solidFill>
                <a:latin typeface="Courier New" panose="02070309020205020404" pitchFamily="49" charset="0"/>
              </a:rPr>
              <a:t>GridSpec</a:t>
            </a:r>
            <a:endParaRPr lang="en-US" dirty="0">
              <a:latin typeface="Courier New" panose="02070309020205020404" pitchFamily="49" charset="0"/>
            </a:endParaRPr>
          </a:p>
          <a:p>
            <a:r>
              <a:rPr lang="en-US" dirty="0">
                <a:latin typeface="Courier New" panose="02070309020205020404" pitchFamily="49" charset="0"/>
              </a:rPr>
              <a:t>ax1 = </a:t>
            </a:r>
            <a:r>
              <a:rPr lang="en-US" dirty="0" err="1">
                <a:latin typeface="Courier New" panose="02070309020205020404" pitchFamily="49" charset="0"/>
              </a:rPr>
              <a:t>plt.subplot</a:t>
            </a:r>
            <a:r>
              <a:rPr lang="en-US" dirty="0">
                <a:latin typeface="Courier New" panose="02070309020205020404" pitchFamily="49" charset="0"/>
              </a:rPr>
              <a:t>(</a:t>
            </a:r>
            <a:r>
              <a:rPr lang="en-US" dirty="0" err="1">
                <a:latin typeface="Courier New" panose="02070309020205020404" pitchFamily="49" charset="0"/>
              </a:rPr>
              <a:t>gs</a:t>
            </a:r>
            <a:r>
              <a:rPr lang="en-US" dirty="0">
                <a:latin typeface="Courier New" panose="02070309020205020404" pitchFamily="49" charset="0"/>
              </a:rPr>
              <a:t>[</a:t>
            </a:r>
            <a:r>
              <a:rPr lang="en-US" dirty="0">
                <a:solidFill>
                  <a:srgbClr val="098156"/>
                </a:solidFill>
                <a:latin typeface="Courier New" panose="02070309020205020404" pitchFamily="49" charset="0"/>
              </a:rPr>
              <a:t>0</a:t>
            </a:r>
            <a:r>
              <a:rPr lang="en-US" dirty="0">
                <a:latin typeface="Courier New" panose="02070309020205020404" pitchFamily="49" charset="0"/>
              </a:rPr>
              <a:t>, </a:t>
            </a:r>
            <a:r>
              <a:rPr lang="en-US" dirty="0">
                <a:solidFill>
                  <a:srgbClr val="098156"/>
                </a:solidFill>
                <a:latin typeface="Courier New" panose="02070309020205020404" pitchFamily="49" charset="0"/>
              </a:rPr>
              <a:t>0</a:t>
            </a:r>
            <a:r>
              <a:rPr lang="en-US" dirty="0">
                <a:latin typeface="Courier New" panose="02070309020205020404" pitchFamily="49" charset="0"/>
              </a:rPr>
              <a:t>])  </a:t>
            </a:r>
            <a:r>
              <a:rPr lang="en-US" dirty="0">
                <a:solidFill>
                  <a:srgbClr val="008000"/>
                </a:solidFill>
                <a:latin typeface="Courier New" panose="02070309020205020404" pitchFamily="49" charset="0"/>
              </a:rPr>
              <a:t># Top-left subplot</a:t>
            </a:r>
            <a:endParaRPr lang="en-US" dirty="0">
              <a:latin typeface="Courier New" panose="02070309020205020404" pitchFamily="49" charset="0"/>
            </a:endParaRPr>
          </a:p>
          <a:p>
            <a:r>
              <a:rPr lang="en-US" dirty="0">
                <a:latin typeface="Courier New" panose="02070309020205020404" pitchFamily="49" charset="0"/>
              </a:rPr>
              <a:t>ax2 = </a:t>
            </a:r>
            <a:r>
              <a:rPr lang="en-US" dirty="0" err="1">
                <a:latin typeface="Courier New" panose="02070309020205020404" pitchFamily="49" charset="0"/>
              </a:rPr>
              <a:t>plt.subplot</a:t>
            </a:r>
            <a:r>
              <a:rPr lang="en-US" dirty="0">
                <a:latin typeface="Courier New" panose="02070309020205020404" pitchFamily="49" charset="0"/>
              </a:rPr>
              <a:t>(</a:t>
            </a:r>
            <a:r>
              <a:rPr lang="en-US" dirty="0" err="1">
                <a:latin typeface="Courier New" panose="02070309020205020404" pitchFamily="49" charset="0"/>
              </a:rPr>
              <a:t>gs</a:t>
            </a:r>
            <a:r>
              <a:rPr lang="en-US" dirty="0">
                <a:latin typeface="Courier New" panose="02070309020205020404" pitchFamily="49" charset="0"/>
              </a:rPr>
              <a:t>[</a:t>
            </a:r>
            <a:r>
              <a:rPr lang="en-US" dirty="0">
                <a:solidFill>
                  <a:srgbClr val="098156"/>
                </a:solidFill>
                <a:latin typeface="Courier New" panose="02070309020205020404" pitchFamily="49" charset="0"/>
              </a:rPr>
              <a:t>0</a:t>
            </a:r>
            <a:r>
              <a:rPr lang="en-US" dirty="0">
                <a:latin typeface="Courier New" panose="02070309020205020404" pitchFamily="49" charset="0"/>
              </a:rPr>
              <a:t>, </a:t>
            </a:r>
            <a:r>
              <a:rPr lang="en-US" dirty="0">
                <a:solidFill>
                  <a:srgbClr val="098156"/>
                </a:solidFill>
                <a:latin typeface="Courier New" panose="02070309020205020404" pitchFamily="49" charset="0"/>
              </a:rPr>
              <a:t>1</a:t>
            </a:r>
            <a:r>
              <a:rPr lang="en-US" dirty="0">
                <a:latin typeface="Courier New" panose="02070309020205020404" pitchFamily="49" charset="0"/>
              </a:rPr>
              <a:t>])  </a:t>
            </a:r>
            <a:r>
              <a:rPr lang="en-US" dirty="0">
                <a:solidFill>
                  <a:srgbClr val="008000"/>
                </a:solidFill>
                <a:latin typeface="Courier New" panose="02070309020205020404" pitchFamily="49" charset="0"/>
              </a:rPr>
              <a:t># Top-right subplot</a:t>
            </a:r>
            <a:endParaRPr lang="en-US" dirty="0">
              <a:latin typeface="Courier New" panose="02070309020205020404" pitchFamily="49" charset="0"/>
            </a:endParaRPr>
          </a:p>
          <a:p>
            <a:r>
              <a:rPr lang="en-US" dirty="0">
                <a:latin typeface="Courier New" panose="02070309020205020404" pitchFamily="49" charset="0"/>
              </a:rPr>
              <a:t>ax3 = </a:t>
            </a:r>
            <a:r>
              <a:rPr lang="en-US" dirty="0" err="1">
                <a:latin typeface="Courier New" panose="02070309020205020404" pitchFamily="49" charset="0"/>
              </a:rPr>
              <a:t>plt.subplot</a:t>
            </a:r>
            <a:r>
              <a:rPr lang="en-US" dirty="0">
                <a:latin typeface="Courier New" panose="02070309020205020404" pitchFamily="49" charset="0"/>
              </a:rPr>
              <a:t>(</a:t>
            </a:r>
            <a:r>
              <a:rPr lang="en-US" dirty="0" err="1">
                <a:latin typeface="Courier New" panose="02070309020205020404" pitchFamily="49" charset="0"/>
              </a:rPr>
              <a:t>gs</a:t>
            </a:r>
            <a:r>
              <a:rPr lang="en-US" dirty="0">
                <a:latin typeface="Courier New" panose="02070309020205020404" pitchFamily="49" charset="0"/>
              </a:rPr>
              <a:t>[</a:t>
            </a:r>
            <a:r>
              <a:rPr lang="en-US" dirty="0">
                <a:solidFill>
                  <a:srgbClr val="098156"/>
                </a:solidFill>
                <a:latin typeface="Courier New" panose="02070309020205020404" pitchFamily="49" charset="0"/>
              </a:rPr>
              <a:t>1</a:t>
            </a:r>
            <a:r>
              <a:rPr lang="en-US" dirty="0">
                <a:latin typeface="Courier New" panose="02070309020205020404" pitchFamily="49" charset="0"/>
              </a:rPr>
              <a:t>, :])  </a:t>
            </a:r>
            <a:r>
              <a:rPr lang="en-US" dirty="0">
                <a:solidFill>
                  <a:srgbClr val="008000"/>
                </a:solidFill>
                <a:latin typeface="Courier New" panose="02070309020205020404" pitchFamily="49" charset="0"/>
              </a:rPr>
              <a:t># Bottom row, spanning both columns</a:t>
            </a:r>
            <a:endParaRPr lang="en-US" dirty="0">
              <a:latin typeface="Courier New" panose="02070309020205020404" pitchFamily="49" charset="0"/>
            </a:endParaRPr>
          </a:p>
          <a:p>
            <a:r>
              <a:rPr lang="en-US" dirty="0">
                <a:latin typeface="Courier New" panose="02070309020205020404" pitchFamily="49" charset="0"/>
              </a:rPr>
              <a:t/>
            </a:r>
            <a:br>
              <a:rPr lang="en-US" dirty="0">
                <a:latin typeface="Courier New" panose="02070309020205020404" pitchFamily="49" charset="0"/>
              </a:rPr>
            </a:br>
            <a:endParaRPr lang="en-US" dirty="0">
              <a:latin typeface="Courier New" panose="02070309020205020404" pitchFamily="49" charset="0"/>
            </a:endParaRPr>
          </a:p>
        </p:txBody>
      </p:sp>
    </p:spTree>
    <p:extLst>
      <p:ext uri="{BB962C8B-B14F-4D97-AF65-F5344CB8AC3E}">
        <p14:creationId xmlns:p14="http://schemas.microsoft.com/office/powerpoint/2010/main" val="37985478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Panels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2"/>
          <p:cNvSpPr/>
          <p:nvPr/>
        </p:nvSpPr>
        <p:spPr>
          <a:xfrm>
            <a:off x="130553" y="825052"/>
            <a:ext cx="8822253" cy="4185761"/>
          </a:xfrm>
          <a:prstGeom prst="rect">
            <a:avLst/>
          </a:prstGeom>
        </p:spPr>
        <p:txBody>
          <a:bodyPr wrap="square">
            <a:spAutoFit/>
          </a:bodyPr>
          <a:lstStyle/>
          <a:p>
            <a:r>
              <a:rPr lang="en-US" dirty="0" smtClean="0">
                <a:solidFill>
                  <a:srgbClr val="008000"/>
                </a:solidFill>
                <a:latin typeface="Courier New" panose="02070309020205020404" pitchFamily="49" charset="0"/>
              </a:rPr>
              <a:t># </a:t>
            </a:r>
            <a:r>
              <a:rPr lang="en-US" dirty="0">
                <a:solidFill>
                  <a:srgbClr val="008000"/>
                </a:solidFill>
                <a:latin typeface="Courier New" panose="02070309020205020404" pitchFamily="49" charset="0"/>
              </a:rPr>
              <a:t>Plot data on each subplot</a:t>
            </a:r>
            <a:endParaRPr lang="en-US" dirty="0">
              <a:latin typeface="Courier New" panose="02070309020205020404" pitchFamily="49" charset="0"/>
            </a:endParaRPr>
          </a:p>
          <a:p>
            <a:r>
              <a:rPr lang="en-US" dirty="0">
                <a:latin typeface="Courier New" panose="02070309020205020404" pitchFamily="49" charset="0"/>
              </a:rPr>
              <a:t>ax1.plot(x, y1, color=</a:t>
            </a:r>
            <a:r>
              <a:rPr lang="en-US" dirty="0">
                <a:solidFill>
                  <a:srgbClr val="A31515"/>
                </a:solidFill>
                <a:latin typeface="Courier New" panose="02070309020205020404" pitchFamily="49" charset="0"/>
              </a:rPr>
              <a:t>'red'</a:t>
            </a:r>
            <a:r>
              <a:rPr lang="en-US" dirty="0">
                <a:latin typeface="Courier New" panose="02070309020205020404" pitchFamily="49" charset="0"/>
              </a:rPr>
              <a:t>)</a:t>
            </a:r>
          </a:p>
          <a:p>
            <a:r>
              <a:rPr lang="en-US" dirty="0">
                <a:latin typeface="Courier New" panose="02070309020205020404" pitchFamily="49" charset="0"/>
              </a:rPr>
              <a:t>ax1.set_title(</a:t>
            </a:r>
            <a:r>
              <a:rPr lang="en-US" dirty="0">
                <a:solidFill>
                  <a:srgbClr val="A31515"/>
                </a:solidFill>
                <a:latin typeface="Courier New" panose="02070309020205020404" pitchFamily="49" charset="0"/>
              </a:rPr>
              <a:t>'Plot 1: Sin(x)'</a:t>
            </a:r>
            <a:r>
              <a:rPr lang="en-US" dirty="0">
                <a:latin typeface="Courier New" panose="02070309020205020404" pitchFamily="49" charset="0"/>
              </a:rPr>
              <a:t>)</a:t>
            </a:r>
          </a:p>
          <a:p>
            <a:r>
              <a:rPr lang="en-US" dirty="0">
                <a:latin typeface="Courier New" panose="02070309020205020404" pitchFamily="49" charset="0"/>
              </a:rPr>
              <a:t>ax1.set_xlabel(</a:t>
            </a:r>
            <a:r>
              <a:rPr lang="en-US" dirty="0">
                <a:solidFill>
                  <a:srgbClr val="A31515"/>
                </a:solidFill>
                <a:latin typeface="Courier New" panose="02070309020205020404" pitchFamily="49" charset="0"/>
              </a:rPr>
              <a:t>'x'</a:t>
            </a:r>
            <a:r>
              <a:rPr lang="en-US" dirty="0">
                <a:latin typeface="Courier New" panose="02070309020205020404" pitchFamily="49" charset="0"/>
              </a:rPr>
              <a:t>)</a:t>
            </a:r>
          </a:p>
          <a:p>
            <a:r>
              <a:rPr lang="en-US" dirty="0">
                <a:latin typeface="Courier New" panose="02070309020205020404" pitchFamily="49" charset="0"/>
              </a:rPr>
              <a:t>ax1.set_ylabel(</a:t>
            </a:r>
            <a:r>
              <a:rPr lang="en-US" dirty="0">
                <a:solidFill>
                  <a:srgbClr val="A31515"/>
                </a:solidFill>
                <a:latin typeface="Courier New" panose="02070309020205020404" pitchFamily="49" charset="0"/>
              </a:rPr>
              <a:t>'y'</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a:latin typeface="Courier New" panose="02070309020205020404" pitchFamily="49" charset="0"/>
              </a:rPr>
              <a:t>ax2.plot(x, y2, color=</a:t>
            </a:r>
            <a:r>
              <a:rPr lang="en-US" dirty="0">
                <a:solidFill>
                  <a:srgbClr val="A31515"/>
                </a:solidFill>
                <a:latin typeface="Courier New" panose="02070309020205020404" pitchFamily="49" charset="0"/>
              </a:rPr>
              <a:t>'green'</a:t>
            </a:r>
            <a:r>
              <a:rPr lang="en-US" dirty="0">
                <a:latin typeface="Courier New" panose="02070309020205020404" pitchFamily="49" charset="0"/>
              </a:rPr>
              <a:t>)</a:t>
            </a:r>
          </a:p>
          <a:p>
            <a:r>
              <a:rPr lang="en-US" dirty="0">
                <a:latin typeface="Courier New" panose="02070309020205020404" pitchFamily="49" charset="0"/>
              </a:rPr>
              <a:t>ax2.set_title(</a:t>
            </a:r>
            <a:r>
              <a:rPr lang="en-US" dirty="0">
                <a:solidFill>
                  <a:srgbClr val="A31515"/>
                </a:solidFill>
                <a:latin typeface="Courier New" panose="02070309020205020404" pitchFamily="49" charset="0"/>
              </a:rPr>
              <a:t>'Plot 2: Cos(x)'</a:t>
            </a:r>
            <a:r>
              <a:rPr lang="en-US" dirty="0">
                <a:latin typeface="Courier New" panose="02070309020205020404" pitchFamily="49" charset="0"/>
              </a:rPr>
              <a:t>)</a:t>
            </a:r>
          </a:p>
          <a:p>
            <a:r>
              <a:rPr lang="en-US" dirty="0">
                <a:latin typeface="Courier New" panose="02070309020205020404" pitchFamily="49" charset="0"/>
              </a:rPr>
              <a:t>ax2.set_xlabel(</a:t>
            </a:r>
            <a:r>
              <a:rPr lang="en-US" dirty="0">
                <a:solidFill>
                  <a:srgbClr val="A31515"/>
                </a:solidFill>
                <a:latin typeface="Courier New" panose="02070309020205020404" pitchFamily="49" charset="0"/>
              </a:rPr>
              <a:t>'x'</a:t>
            </a:r>
            <a:r>
              <a:rPr lang="en-US" dirty="0">
                <a:latin typeface="Courier New" panose="02070309020205020404" pitchFamily="49" charset="0"/>
              </a:rPr>
              <a:t>)</a:t>
            </a:r>
          </a:p>
          <a:p>
            <a:r>
              <a:rPr lang="en-US" dirty="0">
                <a:latin typeface="Courier New" panose="02070309020205020404" pitchFamily="49" charset="0"/>
              </a:rPr>
              <a:t>ax2.set_ylabel(</a:t>
            </a:r>
            <a:r>
              <a:rPr lang="en-US" dirty="0">
                <a:solidFill>
                  <a:srgbClr val="A31515"/>
                </a:solidFill>
                <a:latin typeface="Courier New" panose="02070309020205020404" pitchFamily="49" charset="0"/>
              </a:rPr>
              <a:t>'y'</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a:latin typeface="Courier New" panose="02070309020205020404" pitchFamily="49" charset="0"/>
              </a:rPr>
              <a:t>ax3.plot(x, y3, color=</a:t>
            </a:r>
            <a:r>
              <a:rPr lang="en-US" dirty="0">
                <a:solidFill>
                  <a:srgbClr val="A31515"/>
                </a:solidFill>
                <a:latin typeface="Courier New" panose="02070309020205020404" pitchFamily="49" charset="0"/>
              </a:rPr>
              <a:t>'blue'</a:t>
            </a:r>
            <a:r>
              <a:rPr lang="en-US" dirty="0">
                <a:latin typeface="Courier New" panose="02070309020205020404" pitchFamily="49" charset="0"/>
              </a:rPr>
              <a:t>)</a:t>
            </a:r>
          </a:p>
          <a:p>
            <a:r>
              <a:rPr lang="en-US" dirty="0">
                <a:latin typeface="Courier New" panose="02070309020205020404" pitchFamily="49" charset="0"/>
              </a:rPr>
              <a:t>ax3.set_title(</a:t>
            </a:r>
            <a:r>
              <a:rPr lang="en-US" dirty="0">
                <a:solidFill>
                  <a:srgbClr val="A31515"/>
                </a:solidFill>
                <a:latin typeface="Courier New" panose="02070309020205020404" pitchFamily="49" charset="0"/>
              </a:rPr>
              <a:t>'Plot 3: Tan(x)'</a:t>
            </a:r>
            <a:r>
              <a:rPr lang="en-US" dirty="0">
                <a:latin typeface="Courier New" panose="02070309020205020404" pitchFamily="49" charset="0"/>
              </a:rPr>
              <a:t>)</a:t>
            </a:r>
          </a:p>
          <a:p>
            <a:r>
              <a:rPr lang="en-US" dirty="0">
                <a:latin typeface="Courier New" panose="02070309020205020404" pitchFamily="49" charset="0"/>
              </a:rPr>
              <a:t>ax3.set_xlabel(</a:t>
            </a:r>
            <a:r>
              <a:rPr lang="en-US" dirty="0">
                <a:solidFill>
                  <a:srgbClr val="A31515"/>
                </a:solidFill>
                <a:latin typeface="Courier New" panose="02070309020205020404" pitchFamily="49" charset="0"/>
              </a:rPr>
              <a:t>'x'</a:t>
            </a:r>
            <a:r>
              <a:rPr lang="en-US" dirty="0">
                <a:latin typeface="Courier New" panose="02070309020205020404" pitchFamily="49" charset="0"/>
              </a:rPr>
              <a:t>)</a:t>
            </a:r>
          </a:p>
          <a:p>
            <a:r>
              <a:rPr lang="en-US" dirty="0">
                <a:latin typeface="Courier New" panose="02070309020205020404" pitchFamily="49" charset="0"/>
              </a:rPr>
              <a:t>ax3.set_ylabel(</a:t>
            </a:r>
            <a:r>
              <a:rPr lang="en-US" dirty="0">
                <a:solidFill>
                  <a:srgbClr val="A31515"/>
                </a:solidFill>
                <a:latin typeface="Courier New" panose="02070309020205020404" pitchFamily="49" charset="0"/>
              </a:rPr>
              <a:t>'y'</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err="1" smtClean="0">
                <a:latin typeface="Courier New" panose="02070309020205020404" pitchFamily="49" charset="0"/>
              </a:rPr>
              <a:t>plt.tight_layout</a:t>
            </a:r>
            <a:r>
              <a:rPr lang="en-US" dirty="0" smtClean="0">
                <a:latin typeface="Courier New" panose="02070309020205020404" pitchFamily="49" charset="0"/>
              </a:rPr>
              <a:t>()</a:t>
            </a:r>
            <a:r>
              <a:rPr lang="en-US" dirty="0">
                <a:solidFill>
                  <a:srgbClr val="008000"/>
                </a:solidFill>
                <a:latin typeface="Courier New" panose="02070309020205020404" pitchFamily="49" charset="0"/>
              </a:rPr>
              <a:t> # Adjust spacing between subplots</a:t>
            </a:r>
            <a:endParaRPr lang="en-US" dirty="0">
              <a:latin typeface="Courier New" panose="02070309020205020404" pitchFamily="49" charset="0"/>
            </a:endParaRPr>
          </a:p>
          <a:p>
            <a:r>
              <a:rPr lang="en-US" dirty="0" err="1" smtClean="0">
                <a:latin typeface="Courier New" panose="02070309020205020404" pitchFamily="49" charset="0"/>
              </a:rPr>
              <a:t>plt.show</a:t>
            </a:r>
            <a:r>
              <a:rPr lang="en-US" dirty="0" smtClean="0">
                <a:latin typeface="Courier New" panose="02070309020205020404" pitchFamily="49" charset="0"/>
              </a:rPr>
              <a:t>()</a:t>
            </a:r>
            <a:r>
              <a:rPr lang="en-US" dirty="0">
                <a:solidFill>
                  <a:srgbClr val="008000"/>
                </a:solidFill>
                <a:latin typeface="Courier New" panose="02070309020205020404" pitchFamily="49" charset="0"/>
              </a:rPr>
              <a:t> # Show the plot</a:t>
            </a:r>
            <a:endParaRPr lang="en-US" dirty="0">
              <a:latin typeface="Courier New" panose="02070309020205020404" pitchFamily="49" charset="0"/>
            </a:endParaRPr>
          </a:p>
          <a:p>
            <a:endParaRPr lang="en-US" dirty="0">
              <a:latin typeface="Courier New" panose="02070309020205020404" pitchFamily="49" charset="0"/>
            </a:endParaRPr>
          </a:p>
        </p:txBody>
      </p:sp>
      <p:pic>
        <p:nvPicPr>
          <p:cNvPr id="2" name="Picture 1"/>
          <p:cNvPicPr>
            <a:picLocks noChangeAspect="1"/>
          </p:cNvPicPr>
          <p:nvPr/>
        </p:nvPicPr>
        <p:blipFill>
          <a:blip r:embed="rId3"/>
          <a:stretch>
            <a:fillRect/>
          </a:stretch>
        </p:blipFill>
        <p:spPr>
          <a:xfrm>
            <a:off x="4104581" y="825052"/>
            <a:ext cx="4848225" cy="3409950"/>
          </a:xfrm>
          <a:prstGeom prst="rect">
            <a:avLst/>
          </a:prstGeom>
        </p:spPr>
      </p:pic>
    </p:spTree>
    <p:extLst>
      <p:ext uri="{BB962C8B-B14F-4D97-AF65-F5344CB8AC3E}">
        <p14:creationId xmlns:p14="http://schemas.microsoft.com/office/powerpoint/2010/main" val="33773486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Group Plots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2"/>
          <p:cNvSpPr/>
          <p:nvPr/>
        </p:nvSpPr>
        <p:spPr>
          <a:xfrm>
            <a:off x="141316" y="922258"/>
            <a:ext cx="4572000" cy="2462213"/>
          </a:xfrm>
          <a:prstGeom prst="rect">
            <a:avLst/>
          </a:prstGeom>
        </p:spPr>
        <p:txBody>
          <a:bodyPr>
            <a:spAutoFit/>
          </a:bodyPr>
          <a:lstStyle/>
          <a:p>
            <a:r>
              <a:rPr lang="en-US" dirty="0">
                <a:solidFill>
                  <a:srgbClr val="374151"/>
                </a:solidFill>
                <a:latin typeface="Söhne"/>
              </a:rPr>
              <a:t/>
            </a:r>
            <a:br>
              <a:rPr lang="en-US" dirty="0">
                <a:solidFill>
                  <a:srgbClr val="374151"/>
                </a:solidFill>
                <a:latin typeface="Söhne"/>
              </a:rPr>
            </a:br>
            <a:r>
              <a:rPr lang="en-US" dirty="0">
                <a:solidFill>
                  <a:srgbClr val="374151"/>
                </a:solidFill>
                <a:latin typeface="Söhne"/>
              </a:rPr>
              <a:t>Advantages of Group Plots:</a:t>
            </a:r>
          </a:p>
          <a:p>
            <a:pPr>
              <a:buFont typeface="+mj-lt"/>
              <a:buAutoNum type="arabicPeriod"/>
            </a:pPr>
            <a:r>
              <a:rPr lang="en-US" dirty="0" smtClean="0">
                <a:solidFill>
                  <a:srgbClr val="374151"/>
                </a:solidFill>
                <a:latin typeface="Söhne"/>
              </a:rPr>
              <a:t>Comparison</a:t>
            </a:r>
          </a:p>
          <a:p>
            <a:pPr>
              <a:buFont typeface="+mj-lt"/>
              <a:buAutoNum type="arabicPeriod"/>
            </a:pPr>
            <a:r>
              <a:rPr lang="en-US" dirty="0" smtClean="0"/>
              <a:t>Storytelling</a:t>
            </a:r>
          </a:p>
          <a:p>
            <a:pPr>
              <a:buFont typeface="+mj-lt"/>
              <a:buAutoNum type="arabicPeriod"/>
            </a:pPr>
            <a:r>
              <a:rPr lang="en-US" dirty="0" smtClean="0"/>
              <a:t>Contextualization</a:t>
            </a:r>
          </a:p>
          <a:p>
            <a:pPr>
              <a:buFont typeface="+mj-lt"/>
              <a:buAutoNum type="arabicPeriod"/>
            </a:pPr>
            <a:endParaRPr lang="en-US" dirty="0" smtClean="0"/>
          </a:p>
          <a:p>
            <a:r>
              <a:rPr lang="en-US" dirty="0"/>
              <a:t>Disadvantages of Group Plots</a:t>
            </a:r>
            <a:r>
              <a:rPr lang="en-US" dirty="0" smtClean="0"/>
              <a:t>:</a:t>
            </a:r>
          </a:p>
          <a:p>
            <a:r>
              <a:rPr lang="en-US" dirty="0" smtClean="0"/>
              <a:t>1.Complexity</a:t>
            </a:r>
          </a:p>
          <a:p>
            <a:r>
              <a:rPr lang="en-US" dirty="0" smtClean="0"/>
              <a:t>2.Space Limitations</a:t>
            </a:r>
          </a:p>
          <a:p>
            <a:r>
              <a:rPr lang="en-US" dirty="0" smtClean="0">
                <a:solidFill>
                  <a:srgbClr val="374151"/>
                </a:solidFill>
                <a:latin typeface="Söhne"/>
              </a:rPr>
              <a:t>3.</a:t>
            </a:r>
            <a:r>
              <a:rPr lang="en-US" dirty="0"/>
              <a:t> Interactivity </a:t>
            </a:r>
            <a:r>
              <a:rPr lang="en-US" dirty="0" smtClean="0"/>
              <a:t>Challenges</a:t>
            </a:r>
          </a:p>
          <a:p>
            <a:r>
              <a:rPr lang="en-US" dirty="0" smtClean="0"/>
              <a:t>4. Plotting Consistency </a:t>
            </a:r>
            <a:endParaRPr lang="en-US" dirty="0">
              <a:solidFill>
                <a:srgbClr val="374151"/>
              </a:solidFill>
              <a:latin typeface="Söhne"/>
            </a:endParaRPr>
          </a:p>
        </p:txBody>
      </p:sp>
    </p:spTree>
    <p:extLst>
      <p:ext uri="{BB962C8B-B14F-4D97-AF65-F5344CB8AC3E}">
        <p14:creationId xmlns:p14="http://schemas.microsoft.com/office/powerpoint/2010/main" val="1269801604"/>
      </p:ext>
    </p:extLst>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2602</TotalTime>
  <Words>4477</Words>
  <Application>Microsoft Office PowerPoint</Application>
  <PresentationFormat>On-screen Show (16:9)</PresentationFormat>
  <Paragraphs>728</Paragraphs>
  <Slides>45</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45</vt:i4>
      </vt:variant>
    </vt:vector>
  </HeadingPairs>
  <TitlesOfParts>
    <vt:vector size="57" baseType="lpstr">
      <vt:lpstr>Open Sans</vt:lpstr>
      <vt:lpstr>Arial</vt:lpstr>
      <vt:lpstr>Roboto</vt:lpstr>
      <vt:lpstr>Lato</vt:lpstr>
      <vt:lpstr>Courier New</vt:lpstr>
      <vt:lpstr>Economica</vt:lpstr>
      <vt:lpstr>Söhne</vt:lpstr>
      <vt:lpstr>Poppins</vt:lpstr>
      <vt:lpstr>Times New Roman</vt:lpstr>
      <vt:lpstr>Nunito</vt:lpstr>
      <vt:lpstr>Söhne Mono</vt:lpstr>
      <vt:lpstr>Luxe</vt:lpstr>
      <vt:lpstr>  Unit V Data Visualizations By Team – Essentials of Data Science School of Computer Engineering, MIT Academy of Engineering, Alandi(D.)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Wangikar</dc:creator>
  <cp:lastModifiedBy>student</cp:lastModifiedBy>
  <cp:revision>157</cp:revision>
  <dcterms:modified xsi:type="dcterms:W3CDTF">2023-06-27T08:32:46Z</dcterms:modified>
</cp:coreProperties>
</file>